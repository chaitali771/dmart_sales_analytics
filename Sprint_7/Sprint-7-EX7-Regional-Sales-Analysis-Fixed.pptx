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8972550"/>
  <p:notesSz cx="11430000" cy="89725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666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006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rgbClr val="006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006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rgbClr val="006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006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006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E5F9F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558800"/>
            <a:ext cx="713613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006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20930" y="2058987"/>
            <a:ext cx="4904740" cy="1503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rgbClr val="006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73625" y="2168525"/>
            <a:ext cx="5241290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170" dirty="0">
                <a:latin typeface="Calibri"/>
                <a:cs typeface="Calibri"/>
              </a:rPr>
              <a:t>Sprint</a:t>
            </a:r>
            <a:r>
              <a:rPr spc="10" dirty="0">
                <a:latin typeface="Calibri"/>
                <a:cs typeface="Calibri"/>
              </a:rPr>
              <a:t xml:space="preserve"> </a:t>
            </a:r>
            <a:r>
              <a:rPr spc="300" dirty="0">
                <a:latin typeface="Calibri"/>
                <a:cs typeface="Calibri"/>
              </a:rPr>
              <a:t>7</a:t>
            </a:r>
            <a:r>
              <a:rPr spc="10" dirty="0">
                <a:latin typeface="Calibri"/>
                <a:cs typeface="Calibri"/>
              </a:rPr>
              <a:t xml:space="preserve"> </a:t>
            </a:r>
            <a:r>
              <a:rPr spc="315" dirty="0">
                <a:latin typeface="Calibri"/>
                <a:cs typeface="Calibri"/>
              </a:rPr>
              <a:t>–</a:t>
            </a:r>
            <a:r>
              <a:rPr spc="15" dirty="0">
                <a:latin typeface="Calibri"/>
                <a:cs typeface="Calibri"/>
              </a:rPr>
              <a:t xml:space="preserve"> </a:t>
            </a:r>
            <a:r>
              <a:rPr spc="70" dirty="0">
                <a:latin typeface="Calibri"/>
                <a:cs typeface="Calibri"/>
              </a:rPr>
              <a:t>EX7:</a:t>
            </a:r>
            <a:r>
              <a:rPr spc="10" dirty="0">
                <a:latin typeface="Calibri"/>
                <a:cs typeface="Calibri"/>
              </a:rPr>
              <a:t xml:space="preserve"> </a:t>
            </a:r>
            <a:r>
              <a:rPr spc="300" dirty="0">
                <a:latin typeface="Calibri"/>
                <a:cs typeface="Calibri"/>
              </a:rPr>
              <a:t>Regional Sales</a:t>
            </a:r>
            <a:r>
              <a:rPr spc="25" dirty="0">
                <a:latin typeface="Calibri"/>
                <a:cs typeface="Calibri"/>
              </a:rPr>
              <a:t xml:space="preserve"> </a:t>
            </a:r>
            <a:r>
              <a:rPr spc="270" dirty="0">
                <a:latin typeface="Calibri"/>
                <a:cs typeface="Calibri"/>
              </a:rPr>
              <a:t>Analysis</a:t>
            </a:r>
          </a:p>
        </p:txBody>
      </p:sp>
      <p:sp>
        <p:nvSpPr>
          <p:cNvPr id="4" name="object 4"/>
          <p:cNvSpPr/>
          <p:nvPr/>
        </p:nvSpPr>
        <p:spPr>
          <a:xfrm>
            <a:off x="4886325" y="3952875"/>
            <a:ext cx="2800350" cy="323850"/>
          </a:xfrm>
          <a:custGeom>
            <a:avLst/>
            <a:gdLst/>
            <a:ahLst/>
            <a:cxnLst/>
            <a:rect l="l" t="t" r="r" b="b"/>
            <a:pathLst>
              <a:path w="2800350" h="323850">
                <a:moveTo>
                  <a:pt x="2704236" y="0"/>
                </a:moveTo>
                <a:lnTo>
                  <a:pt x="96113" y="0"/>
                </a:lnTo>
                <a:lnTo>
                  <a:pt x="89420" y="660"/>
                </a:lnTo>
                <a:lnTo>
                  <a:pt x="51333" y="13589"/>
                </a:lnTo>
                <a:lnTo>
                  <a:pt x="21094" y="40093"/>
                </a:lnTo>
                <a:lnTo>
                  <a:pt x="3289" y="76174"/>
                </a:lnTo>
                <a:lnTo>
                  <a:pt x="0" y="96113"/>
                </a:lnTo>
                <a:lnTo>
                  <a:pt x="0" y="220980"/>
                </a:lnTo>
                <a:lnTo>
                  <a:pt x="0" y="227736"/>
                </a:lnTo>
                <a:lnTo>
                  <a:pt x="10414" y="266585"/>
                </a:lnTo>
                <a:lnTo>
                  <a:pt x="34899" y="298500"/>
                </a:lnTo>
                <a:lnTo>
                  <a:pt x="69735" y="318604"/>
                </a:lnTo>
                <a:lnTo>
                  <a:pt x="96113" y="323850"/>
                </a:lnTo>
                <a:lnTo>
                  <a:pt x="2704236" y="323850"/>
                </a:lnTo>
                <a:lnTo>
                  <a:pt x="2743085" y="313436"/>
                </a:lnTo>
                <a:lnTo>
                  <a:pt x="2770212" y="293712"/>
                </a:lnTo>
                <a:lnTo>
                  <a:pt x="2775000" y="288937"/>
                </a:lnTo>
                <a:lnTo>
                  <a:pt x="2795104" y="254101"/>
                </a:lnTo>
                <a:lnTo>
                  <a:pt x="2800350" y="227736"/>
                </a:lnTo>
                <a:lnTo>
                  <a:pt x="2800350" y="96113"/>
                </a:lnTo>
                <a:lnTo>
                  <a:pt x="2789936" y="57264"/>
                </a:lnTo>
                <a:lnTo>
                  <a:pt x="2765450" y="25349"/>
                </a:lnTo>
                <a:lnTo>
                  <a:pt x="2730601" y="5245"/>
                </a:lnTo>
                <a:lnTo>
                  <a:pt x="2710929" y="660"/>
                </a:lnTo>
                <a:lnTo>
                  <a:pt x="2704236" y="0"/>
                </a:lnTo>
                <a:close/>
              </a:path>
            </a:pathLst>
          </a:custGeom>
          <a:solidFill>
            <a:srgbClr val="CCF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873625" y="3492500"/>
            <a:ext cx="421830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Business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Intelligence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Reporting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using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45" dirty="0">
                <a:solidFill>
                  <a:srgbClr val="4B4A4A"/>
                </a:solidFill>
                <a:latin typeface="Verdana"/>
                <a:cs typeface="Verdana"/>
              </a:rPr>
              <a:t>Microsoft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Excel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350">
              <a:latin typeface="Verdana"/>
              <a:cs typeface="Verdana"/>
            </a:endParaRPr>
          </a:p>
          <a:p>
            <a:pPr marL="114935">
              <a:lnSpc>
                <a:spcPct val="100000"/>
              </a:lnSpc>
              <a:spcBef>
                <a:spcPts val="5"/>
              </a:spcBef>
            </a:pPr>
            <a:r>
              <a:rPr sz="1050" spc="-30" dirty="0">
                <a:solidFill>
                  <a:srgbClr val="4B4A4A"/>
                </a:solidFill>
                <a:latin typeface="Verdana"/>
                <a:cs typeface="Verdana"/>
              </a:rPr>
              <a:t>DMART</a:t>
            </a:r>
            <a:r>
              <a:rPr sz="1050" spc="-5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050" spc="-180" dirty="0">
                <a:solidFill>
                  <a:srgbClr val="4B4A4A"/>
                </a:solidFill>
                <a:latin typeface="Verdana"/>
                <a:cs typeface="Verdana"/>
              </a:rPr>
              <a:t>·</a:t>
            </a:r>
            <a:r>
              <a:rPr sz="1050" spc="-45" dirty="0">
                <a:solidFill>
                  <a:srgbClr val="4B4A4A"/>
                </a:solidFill>
                <a:latin typeface="Verdana"/>
                <a:cs typeface="Verdana"/>
              </a:rPr>
              <a:t xml:space="preserve"> BUSINESS </a:t>
            </a:r>
            <a:r>
              <a:rPr sz="1050" spc="-60" dirty="0">
                <a:solidFill>
                  <a:srgbClr val="4B4A4A"/>
                </a:solidFill>
                <a:latin typeface="Verdana"/>
                <a:cs typeface="Verdana"/>
              </a:rPr>
              <a:t>INTELLIGENCE</a:t>
            </a:r>
            <a:r>
              <a:rPr sz="1050" spc="-4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050" spc="-20" dirty="0">
                <a:solidFill>
                  <a:srgbClr val="4B4A4A"/>
                </a:solidFill>
                <a:latin typeface="Verdana"/>
                <a:cs typeface="Verdana"/>
              </a:rPr>
              <a:t>TEAM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963025"/>
          </a:xfrm>
          <a:custGeom>
            <a:avLst/>
            <a:gdLst/>
            <a:ahLst/>
            <a:cxnLst/>
            <a:rect l="l" t="t" r="r" b="b"/>
            <a:pathLst>
              <a:path w="11430000" h="8963025">
                <a:moveTo>
                  <a:pt x="11430000" y="0"/>
                </a:moveTo>
                <a:lnTo>
                  <a:pt x="0" y="0"/>
                </a:lnTo>
                <a:lnTo>
                  <a:pt x="0" y="8963025"/>
                </a:lnTo>
                <a:lnTo>
                  <a:pt x="11430000" y="89630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E5F9F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0"/>
            <a:ext cx="4286250" cy="896302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87375" y="482600"/>
            <a:ext cx="4383405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340" dirty="0">
                <a:latin typeface="Calibri"/>
                <a:cs typeface="Calibri"/>
              </a:rPr>
              <a:t>Business</a:t>
            </a:r>
            <a:r>
              <a:rPr spc="20" dirty="0">
                <a:latin typeface="Calibri"/>
                <a:cs typeface="Calibri"/>
              </a:rPr>
              <a:t xml:space="preserve"> </a:t>
            </a:r>
            <a:r>
              <a:rPr spc="345" dirty="0">
                <a:latin typeface="Calibri"/>
                <a:cs typeface="Calibri"/>
              </a:rPr>
              <a:t>Problem</a:t>
            </a:r>
            <a:r>
              <a:rPr spc="25" dirty="0">
                <a:latin typeface="Calibri"/>
                <a:cs typeface="Calibri"/>
              </a:rPr>
              <a:t xml:space="preserve"> </a:t>
            </a:r>
            <a:r>
              <a:rPr spc="-50" dirty="0">
                <a:latin typeface="Calibri"/>
                <a:cs typeface="Calibri"/>
              </a:rPr>
              <a:t xml:space="preserve">&amp; </a:t>
            </a:r>
            <a:r>
              <a:rPr spc="240" dirty="0">
                <a:latin typeface="Calibri"/>
                <a:cs typeface="Calibri"/>
              </a:rPr>
              <a:t>Objective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581025" y="1800225"/>
            <a:ext cx="5962650" cy="2028825"/>
            <a:chOff x="581025" y="1800225"/>
            <a:chExt cx="5962650" cy="2028825"/>
          </a:xfrm>
        </p:grpSpPr>
        <p:sp>
          <p:nvSpPr>
            <p:cNvPr id="8" name="object 8"/>
            <p:cNvSpPr/>
            <p:nvPr/>
          </p:nvSpPr>
          <p:spPr>
            <a:xfrm>
              <a:off x="600075" y="1809750"/>
              <a:ext cx="5934075" cy="2009775"/>
            </a:xfrm>
            <a:custGeom>
              <a:avLst/>
              <a:gdLst/>
              <a:ahLst/>
              <a:cxnLst/>
              <a:rect l="l" t="t" r="r" b="b"/>
              <a:pathLst>
                <a:path w="5934075" h="2009775">
                  <a:moveTo>
                    <a:pt x="5822835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943100"/>
                  </a:lnTo>
                  <a:lnTo>
                    <a:pt x="0" y="1947481"/>
                  </a:lnTo>
                  <a:lnTo>
                    <a:pt x="15622" y="1983778"/>
                  </a:lnTo>
                  <a:lnTo>
                    <a:pt x="51663" y="2006371"/>
                  </a:lnTo>
                  <a:lnTo>
                    <a:pt x="71194" y="2009775"/>
                  </a:lnTo>
                  <a:lnTo>
                    <a:pt x="5822835" y="2009775"/>
                  </a:lnTo>
                  <a:lnTo>
                    <a:pt x="5867793" y="1997722"/>
                  </a:lnTo>
                  <a:lnTo>
                    <a:pt x="5904725" y="1969376"/>
                  </a:lnTo>
                  <a:lnTo>
                    <a:pt x="5928004" y="1929053"/>
                  </a:lnTo>
                  <a:lnTo>
                    <a:pt x="5934075" y="1898535"/>
                  </a:lnTo>
                  <a:lnTo>
                    <a:pt x="5934075" y="111239"/>
                  </a:lnTo>
                  <a:lnTo>
                    <a:pt x="5922022" y="66281"/>
                  </a:lnTo>
                  <a:lnTo>
                    <a:pt x="5893676" y="29337"/>
                  </a:lnTo>
                  <a:lnTo>
                    <a:pt x="5853353" y="6070"/>
                  </a:lnTo>
                  <a:lnTo>
                    <a:pt x="5830570" y="762"/>
                  </a:lnTo>
                  <a:lnTo>
                    <a:pt x="5822835" y="0"/>
                  </a:lnTo>
                  <a:close/>
                </a:path>
              </a:pathLst>
            </a:custGeom>
            <a:solidFill>
              <a:srgbClr val="E5F9F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913" y="1800237"/>
              <a:ext cx="5942965" cy="2028825"/>
            </a:xfrm>
            <a:custGeom>
              <a:avLst/>
              <a:gdLst/>
              <a:ahLst/>
              <a:cxnLst/>
              <a:rect l="l" t="t" r="r" b="b"/>
              <a:pathLst>
                <a:path w="5942965" h="2028825">
                  <a:moveTo>
                    <a:pt x="5942749" y="128587"/>
                  </a:moveTo>
                  <a:lnTo>
                    <a:pt x="5932957" y="79375"/>
                  </a:lnTo>
                  <a:lnTo>
                    <a:pt x="5905525" y="38176"/>
                  </a:lnTo>
                  <a:lnTo>
                    <a:pt x="5905081" y="37668"/>
                  </a:lnTo>
                  <a:lnTo>
                    <a:pt x="5895695" y="29133"/>
                  </a:lnTo>
                  <a:lnTo>
                    <a:pt x="5885624" y="21653"/>
                  </a:lnTo>
                  <a:lnTo>
                    <a:pt x="5881268" y="19050"/>
                  </a:lnTo>
                  <a:lnTo>
                    <a:pt x="5874842" y="15201"/>
                  </a:lnTo>
                  <a:lnTo>
                    <a:pt x="5826836" y="609"/>
                  </a:lnTo>
                  <a:lnTo>
                    <a:pt x="58141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53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20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5814161" y="19050"/>
                  </a:lnTo>
                  <a:lnTo>
                    <a:pt x="5856071" y="27393"/>
                  </a:lnTo>
                  <a:lnTo>
                    <a:pt x="5891619" y="51130"/>
                  </a:lnTo>
                  <a:lnTo>
                    <a:pt x="5915355" y="86664"/>
                  </a:lnTo>
                  <a:lnTo>
                    <a:pt x="5923699" y="128587"/>
                  </a:lnTo>
                  <a:lnTo>
                    <a:pt x="5923699" y="1900237"/>
                  </a:lnTo>
                  <a:lnTo>
                    <a:pt x="5915355" y="1942160"/>
                  </a:lnTo>
                  <a:lnTo>
                    <a:pt x="5892076" y="1977186"/>
                  </a:lnTo>
                  <a:lnTo>
                    <a:pt x="5891631" y="1977682"/>
                  </a:lnTo>
                  <a:lnTo>
                    <a:pt x="5856071" y="2001431"/>
                  </a:lnTo>
                  <a:lnTo>
                    <a:pt x="5814161" y="2009775"/>
                  </a:lnTo>
                  <a:lnTo>
                    <a:pt x="75349" y="2009775"/>
                  </a:lnTo>
                  <a:lnTo>
                    <a:pt x="33007" y="2000148"/>
                  </a:lnTo>
                  <a:lnTo>
                    <a:pt x="1092" y="1967496"/>
                  </a:lnTo>
                  <a:lnTo>
                    <a:pt x="0" y="1963381"/>
                  </a:lnTo>
                  <a:lnTo>
                    <a:pt x="609" y="1967496"/>
                  </a:lnTo>
                  <a:lnTo>
                    <a:pt x="2413" y="1974710"/>
                  </a:lnTo>
                  <a:lnTo>
                    <a:pt x="4851" y="1981492"/>
                  </a:lnTo>
                  <a:lnTo>
                    <a:pt x="4953" y="1981784"/>
                  </a:lnTo>
                  <a:lnTo>
                    <a:pt x="33007" y="2015985"/>
                  </a:lnTo>
                  <a:lnTo>
                    <a:pt x="75349" y="2028825"/>
                  </a:lnTo>
                  <a:lnTo>
                    <a:pt x="5814161" y="2028825"/>
                  </a:lnTo>
                  <a:lnTo>
                    <a:pt x="5863374" y="2019033"/>
                  </a:lnTo>
                  <a:lnTo>
                    <a:pt x="5905081" y="1991156"/>
                  </a:lnTo>
                  <a:lnTo>
                    <a:pt x="5905538" y="1990648"/>
                  </a:lnTo>
                  <a:lnTo>
                    <a:pt x="5913602" y="1981784"/>
                  </a:lnTo>
                  <a:lnTo>
                    <a:pt x="5921095" y="1971687"/>
                  </a:lnTo>
                  <a:lnTo>
                    <a:pt x="5940310" y="1925320"/>
                  </a:lnTo>
                  <a:lnTo>
                    <a:pt x="5942749" y="1900237"/>
                  </a:lnTo>
                  <a:lnTo>
                    <a:pt x="5942749" y="128587"/>
                  </a:lnTo>
                  <a:close/>
                </a:path>
              </a:pathLst>
            </a:custGeom>
            <a:solidFill>
              <a:srgbClr val="B6D5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1025" y="1800225"/>
              <a:ext cx="76200" cy="2028825"/>
            </a:xfrm>
            <a:custGeom>
              <a:avLst/>
              <a:gdLst/>
              <a:ahLst/>
              <a:cxnLst/>
              <a:rect l="l" t="t" r="r" b="b"/>
              <a:pathLst>
                <a:path w="76200" h="2028825">
                  <a:moveTo>
                    <a:pt x="76200" y="0"/>
                  </a:moveTo>
                  <a:lnTo>
                    <a:pt x="71194" y="0"/>
                  </a:lnTo>
                  <a:lnTo>
                    <a:pt x="66243" y="495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1952625"/>
                  </a:lnTo>
                  <a:lnTo>
                    <a:pt x="0" y="1957628"/>
                  </a:lnTo>
                  <a:lnTo>
                    <a:pt x="15622" y="1999119"/>
                  </a:lnTo>
                  <a:lnTo>
                    <a:pt x="51663" y="2024938"/>
                  </a:lnTo>
                  <a:lnTo>
                    <a:pt x="71194" y="2028825"/>
                  </a:lnTo>
                  <a:lnTo>
                    <a:pt x="76200" y="20288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6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6300" y="2466975"/>
              <a:ext cx="57150" cy="1057275"/>
            </a:xfrm>
            <a:custGeom>
              <a:avLst/>
              <a:gdLst/>
              <a:ahLst/>
              <a:cxnLst/>
              <a:rect l="l" t="t" r="r" b="b"/>
              <a:pathLst>
                <a:path w="57150" h="1057275">
                  <a:moveTo>
                    <a:pt x="57150" y="1024902"/>
                  </a:moveTo>
                  <a:lnTo>
                    <a:pt x="32359" y="1000125"/>
                  </a:lnTo>
                  <a:lnTo>
                    <a:pt x="24777" y="1000125"/>
                  </a:lnTo>
                  <a:lnTo>
                    <a:pt x="0" y="1024902"/>
                  </a:lnTo>
                  <a:lnTo>
                    <a:pt x="0" y="1032484"/>
                  </a:lnTo>
                  <a:lnTo>
                    <a:pt x="24777" y="1057275"/>
                  </a:lnTo>
                  <a:lnTo>
                    <a:pt x="32359" y="1057275"/>
                  </a:lnTo>
                  <a:lnTo>
                    <a:pt x="57150" y="1032484"/>
                  </a:lnTo>
                  <a:lnTo>
                    <a:pt x="57150" y="1028700"/>
                  </a:lnTo>
                  <a:lnTo>
                    <a:pt x="57150" y="1024902"/>
                  </a:lnTo>
                  <a:close/>
                </a:path>
                <a:path w="57150" h="1057275">
                  <a:moveTo>
                    <a:pt x="57150" y="691527"/>
                  </a:moveTo>
                  <a:lnTo>
                    <a:pt x="32359" y="666750"/>
                  </a:lnTo>
                  <a:lnTo>
                    <a:pt x="24777" y="666750"/>
                  </a:lnTo>
                  <a:lnTo>
                    <a:pt x="0" y="691527"/>
                  </a:lnTo>
                  <a:lnTo>
                    <a:pt x="0" y="699109"/>
                  </a:lnTo>
                  <a:lnTo>
                    <a:pt x="24777" y="723900"/>
                  </a:lnTo>
                  <a:lnTo>
                    <a:pt x="32359" y="723900"/>
                  </a:lnTo>
                  <a:lnTo>
                    <a:pt x="57150" y="699109"/>
                  </a:lnTo>
                  <a:lnTo>
                    <a:pt x="57150" y="695325"/>
                  </a:lnTo>
                  <a:lnTo>
                    <a:pt x="57150" y="691527"/>
                  </a:lnTo>
                  <a:close/>
                </a:path>
                <a:path w="57150" h="1057275">
                  <a:moveTo>
                    <a:pt x="57150" y="358152"/>
                  </a:moveTo>
                  <a:lnTo>
                    <a:pt x="32359" y="333375"/>
                  </a:lnTo>
                  <a:lnTo>
                    <a:pt x="24777" y="333375"/>
                  </a:lnTo>
                  <a:lnTo>
                    <a:pt x="0" y="358152"/>
                  </a:lnTo>
                  <a:lnTo>
                    <a:pt x="0" y="365734"/>
                  </a:lnTo>
                  <a:lnTo>
                    <a:pt x="24777" y="390525"/>
                  </a:lnTo>
                  <a:lnTo>
                    <a:pt x="32359" y="390525"/>
                  </a:lnTo>
                  <a:lnTo>
                    <a:pt x="57150" y="365734"/>
                  </a:lnTo>
                  <a:lnTo>
                    <a:pt x="57150" y="361950"/>
                  </a:lnTo>
                  <a:lnTo>
                    <a:pt x="57150" y="358152"/>
                  </a:lnTo>
                  <a:close/>
                </a:path>
                <a:path w="57150" h="1057275">
                  <a:moveTo>
                    <a:pt x="57150" y="24777"/>
                  </a:moveTo>
                  <a:lnTo>
                    <a:pt x="32359" y="0"/>
                  </a:lnTo>
                  <a:lnTo>
                    <a:pt x="24777" y="0"/>
                  </a:lnTo>
                  <a:lnTo>
                    <a:pt x="0" y="24777"/>
                  </a:lnTo>
                  <a:lnTo>
                    <a:pt x="0" y="32359"/>
                  </a:lnTo>
                  <a:lnTo>
                    <a:pt x="24777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77"/>
                  </a:lnTo>
                  <a:close/>
                </a:path>
              </a:pathLst>
            </a:custGeom>
            <a:solidFill>
              <a:srgbClr val="4B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581025" y="4000500"/>
            <a:ext cx="5962650" cy="1571625"/>
            <a:chOff x="581025" y="4000500"/>
            <a:chExt cx="5962650" cy="1571625"/>
          </a:xfrm>
        </p:grpSpPr>
        <p:sp>
          <p:nvSpPr>
            <p:cNvPr id="13" name="object 13"/>
            <p:cNvSpPr/>
            <p:nvPr/>
          </p:nvSpPr>
          <p:spPr>
            <a:xfrm>
              <a:off x="600075" y="4010025"/>
              <a:ext cx="5934075" cy="1552575"/>
            </a:xfrm>
            <a:custGeom>
              <a:avLst/>
              <a:gdLst/>
              <a:ahLst/>
              <a:cxnLst/>
              <a:rect l="l" t="t" r="r" b="b"/>
              <a:pathLst>
                <a:path w="5934075" h="1552575">
                  <a:moveTo>
                    <a:pt x="5822835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485900"/>
                  </a:lnTo>
                  <a:lnTo>
                    <a:pt x="0" y="1490268"/>
                  </a:lnTo>
                  <a:lnTo>
                    <a:pt x="15622" y="1526578"/>
                  </a:lnTo>
                  <a:lnTo>
                    <a:pt x="51663" y="1549171"/>
                  </a:lnTo>
                  <a:lnTo>
                    <a:pt x="71194" y="1552575"/>
                  </a:lnTo>
                  <a:lnTo>
                    <a:pt x="5822835" y="1552575"/>
                  </a:lnTo>
                  <a:lnTo>
                    <a:pt x="5867793" y="1540522"/>
                  </a:lnTo>
                  <a:lnTo>
                    <a:pt x="5904725" y="1512176"/>
                  </a:lnTo>
                  <a:lnTo>
                    <a:pt x="5928004" y="1471853"/>
                  </a:lnTo>
                  <a:lnTo>
                    <a:pt x="5934075" y="1441335"/>
                  </a:lnTo>
                  <a:lnTo>
                    <a:pt x="5934075" y="111239"/>
                  </a:lnTo>
                  <a:lnTo>
                    <a:pt x="5922022" y="66281"/>
                  </a:lnTo>
                  <a:lnTo>
                    <a:pt x="5893676" y="29337"/>
                  </a:lnTo>
                  <a:lnTo>
                    <a:pt x="5853353" y="6070"/>
                  </a:lnTo>
                  <a:lnTo>
                    <a:pt x="5830570" y="762"/>
                  </a:lnTo>
                  <a:lnTo>
                    <a:pt x="5822835" y="0"/>
                  </a:lnTo>
                  <a:close/>
                </a:path>
              </a:pathLst>
            </a:custGeom>
            <a:solidFill>
              <a:srgbClr val="E5F9F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0913" y="4000512"/>
              <a:ext cx="5942965" cy="1571625"/>
            </a:xfrm>
            <a:custGeom>
              <a:avLst/>
              <a:gdLst/>
              <a:ahLst/>
              <a:cxnLst/>
              <a:rect l="l" t="t" r="r" b="b"/>
              <a:pathLst>
                <a:path w="5942965" h="1571625">
                  <a:moveTo>
                    <a:pt x="5942749" y="128587"/>
                  </a:moveTo>
                  <a:lnTo>
                    <a:pt x="5932957" y="79375"/>
                  </a:lnTo>
                  <a:lnTo>
                    <a:pt x="5905525" y="38176"/>
                  </a:lnTo>
                  <a:lnTo>
                    <a:pt x="5905081" y="37668"/>
                  </a:lnTo>
                  <a:lnTo>
                    <a:pt x="5895695" y="29133"/>
                  </a:lnTo>
                  <a:lnTo>
                    <a:pt x="5885624" y="21640"/>
                  </a:lnTo>
                  <a:lnTo>
                    <a:pt x="5881281" y="19050"/>
                  </a:lnTo>
                  <a:lnTo>
                    <a:pt x="5874842" y="15189"/>
                  </a:lnTo>
                  <a:lnTo>
                    <a:pt x="5826836" y="609"/>
                  </a:lnTo>
                  <a:lnTo>
                    <a:pt x="58141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53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20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5814161" y="19050"/>
                  </a:lnTo>
                  <a:lnTo>
                    <a:pt x="5856071" y="27393"/>
                  </a:lnTo>
                  <a:lnTo>
                    <a:pt x="5891619" y="51130"/>
                  </a:lnTo>
                  <a:lnTo>
                    <a:pt x="5915355" y="86664"/>
                  </a:lnTo>
                  <a:lnTo>
                    <a:pt x="5923699" y="128587"/>
                  </a:lnTo>
                  <a:lnTo>
                    <a:pt x="5923699" y="1443037"/>
                  </a:lnTo>
                  <a:lnTo>
                    <a:pt x="5915355" y="1484960"/>
                  </a:lnTo>
                  <a:lnTo>
                    <a:pt x="5892076" y="1519986"/>
                  </a:lnTo>
                  <a:lnTo>
                    <a:pt x="5891631" y="1520482"/>
                  </a:lnTo>
                  <a:lnTo>
                    <a:pt x="5856071" y="1544231"/>
                  </a:lnTo>
                  <a:lnTo>
                    <a:pt x="5814161" y="1552575"/>
                  </a:lnTo>
                  <a:lnTo>
                    <a:pt x="75349" y="1552575"/>
                  </a:lnTo>
                  <a:lnTo>
                    <a:pt x="33007" y="1542948"/>
                  </a:lnTo>
                  <a:lnTo>
                    <a:pt x="1092" y="1510296"/>
                  </a:lnTo>
                  <a:lnTo>
                    <a:pt x="0" y="1506181"/>
                  </a:lnTo>
                  <a:lnTo>
                    <a:pt x="609" y="1510296"/>
                  </a:lnTo>
                  <a:lnTo>
                    <a:pt x="2413" y="1517510"/>
                  </a:lnTo>
                  <a:lnTo>
                    <a:pt x="4851" y="1524292"/>
                  </a:lnTo>
                  <a:lnTo>
                    <a:pt x="4953" y="1524584"/>
                  </a:lnTo>
                  <a:lnTo>
                    <a:pt x="33007" y="1558785"/>
                  </a:lnTo>
                  <a:lnTo>
                    <a:pt x="75349" y="1571625"/>
                  </a:lnTo>
                  <a:lnTo>
                    <a:pt x="5814161" y="1571625"/>
                  </a:lnTo>
                  <a:lnTo>
                    <a:pt x="5863374" y="1561833"/>
                  </a:lnTo>
                  <a:lnTo>
                    <a:pt x="5905081" y="1533956"/>
                  </a:lnTo>
                  <a:lnTo>
                    <a:pt x="5905538" y="1533448"/>
                  </a:lnTo>
                  <a:lnTo>
                    <a:pt x="5913602" y="1524584"/>
                  </a:lnTo>
                  <a:lnTo>
                    <a:pt x="5921095" y="1514487"/>
                  </a:lnTo>
                  <a:lnTo>
                    <a:pt x="5940310" y="1468120"/>
                  </a:lnTo>
                  <a:lnTo>
                    <a:pt x="5942749" y="1443037"/>
                  </a:lnTo>
                  <a:lnTo>
                    <a:pt x="5942749" y="128587"/>
                  </a:lnTo>
                  <a:close/>
                </a:path>
              </a:pathLst>
            </a:custGeom>
            <a:solidFill>
              <a:srgbClr val="B6D5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1025" y="4000500"/>
              <a:ext cx="76200" cy="1571625"/>
            </a:xfrm>
            <a:custGeom>
              <a:avLst/>
              <a:gdLst/>
              <a:ahLst/>
              <a:cxnLst/>
              <a:rect l="l" t="t" r="r" b="b"/>
              <a:pathLst>
                <a:path w="76200" h="1571625">
                  <a:moveTo>
                    <a:pt x="76200" y="0"/>
                  </a:moveTo>
                  <a:lnTo>
                    <a:pt x="71194" y="0"/>
                  </a:lnTo>
                  <a:lnTo>
                    <a:pt x="66243" y="495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1495425"/>
                  </a:lnTo>
                  <a:lnTo>
                    <a:pt x="0" y="1500428"/>
                  </a:lnTo>
                  <a:lnTo>
                    <a:pt x="15622" y="1541919"/>
                  </a:lnTo>
                  <a:lnTo>
                    <a:pt x="51663" y="1567738"/>
                  </a:lnTo>
                  <a:lnTo>
                    <a:pt x="71194" y="1571625"/>
                  </a:lnTo>
                  <a:lnTo>
                    <a:pt x="76200" y="15716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6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35025" y="1843483"/>
            <a:ext cx="5522595" cy="350901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b="1" spc="170" dirty="0">
                <a:solidFill>
                  <a:srgbClr val="4B4A4A"/>
                </a:solidFill>
                <a:latin typeface="Times New Roman"/>
                <a:cs typeface="Times New Roman"/>
              </a:rPr>
              <a:t>The</a:t>
            </a:r>
            <a:r>
              <a:rPr sz="1650" b="1" spc="15" dirty="0">
                <a:solidFill>
                  <a:srgbClr val="4B4A4A"/>
                </a:solidFill>
                <a:latin typeface="Times New Roman"/>
                <a:cs typeface="Times New Roman"/>
              </a:rPr>
              <a:t xml:space="preserve"> </a:t>
            </a:r>
            <a:r>
              <a:rPr sz="1650" b="1" spc="150" dirty="0">
                <a:solidFill>
                  <a:srgbClr val="4B4A4A"/>
                </a:solidFill>
                <a:latin typeface="Times New Roman"/>
                <a:cs typeface="Times New Roman"/>
              </a:rPr>
              <a:t>Challenge</a:t>
            </a:r>
            <a:endParaRPr sz="1650">
              <a:latin typeface="Times New Roman"/>
              <a:cs typeface="Times New Roman"/>
            </a:endParaRPr>
          </a:p>
          <a:p>
            <a:pPr marL="286385" marR="1322070">
              <a:lnSpc>
                <a:spcPts val="2630"/>
              </a:lnSpc>
              <a:spcBef>
                <a:spcPts val="190"/>
              </a:spcBef>
            </a:pP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Large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regional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datasets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with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no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consolidated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20" dirty="0">
                <a:solidFill>
                  <a:srgbClr val="4B4A4A"/>
                </a:solidFill>
                <a:latin typeface="Verdana"/>
                <a:cs typeface="Verdana"/>
              </a:rPr>
              <a:t xml:space="preserve">view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Difficult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cross-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region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performance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 xml:space="preserve">comparisons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Limited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visibility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into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revenue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contribution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740"/>
              </a:spcBef>
            </a:pP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Need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for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management-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ready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visual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reports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20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50" b="1" spc="114" dirty="0">
                <a:solidFill>
                  <a:srgbClr val="4B4A4A"/>
                </a:solidFill>
                <a:latin typeface="Times New Roman"/>
                <a:cs typeface="Times New Roman"/>
              </a:rPr>
              <a:t>Our</a:t>
            </a:r>
            <a:r>
              <a:rPr sz="1650" b="1" spc="10" dirty="0">
                <a:solidFill>
                  <a:srgbClr val="4B4A4A"/>
                </a:solidFill>
                <a:latin typeface="Times New Roman"/>
                <a:cs typeface="Times New Roman"/>
              </a:rPr>
              <a:t xml:space="preserve"> </a:t>
            </a:r>
            <a:r>
              <a:rPr sz="1650" b="1" spc="125" dirty="0">
                <a:solidFill>
                  <a:srgbClr val="4B4A4A"/>
                </a:solidFill>
                <a:latin typeface="Times New Roman"/>
                <a:cs typeface="Times New Roman"/>
              </a:rPr>
              <a:t>Objective</a:t>
            </a:r>
            <a:endParaRPr sz="1650">
              <a:latin typeface="Times New Roman"/>
              <a:cs typeface="Times New Roman"/>
            </a:endParaRPr>
          </a:p>
          <a:p>
            <a:pPr marL="12700" marR="5080">
              <a:lnSpc>
                <a:spcPct val="134300"/>
              </a:lnSpc>
              <a:spcBef>
                <a:spcPts val="390"/>
              </a:spcBef>
            </a:pP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Transform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raw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regional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40" dirty="0">
                <a:solidFill>
                  <a:srgbClr val="4B4A4A"/>
                </a:solidFill>
                <a:latin typeface="Verdana"/>
                <a:cs typeface="Verdana"/>
              </a:rPr>
              <a:t>sales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data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into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clear,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visual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insights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350" dirty="0">
                <a:solidFill>
                  <a:srgbClr val="4B4A4A"/>
                </a:solidFill>
                <a:latin typeface="Verdana"/>
                <a:cs typeface="Verdana"/>
              </a:rPr>
              <a:t>4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25" dirty="0">
                <a:solidFill>
                  <a:srgbClr val="4B4A4A"/>
                </a:solidFill>
                <a:latin typeface="Verdana"/>
                <a:cs typeface="Verdana"/>
              </a:rPr>
              <a:t xml:space="preserve">enabling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DMart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leadership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to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make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faster,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14" dirty="0">
                <a:solidFill>
                  <a:srgbClr val="4B4A4A"/>
                </a:solidFill>
                <a:latin typeface="Verdana"/>
                <a:cs typeface="Verdana"/>
              </a:rPr>
              <a:t>smarter,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data-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 xml:space="preserve">driven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decisions</a:t>
            </a:r>
            <a:r>
              <a:rPr sz="1350" spc="5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across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all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four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regions.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9106" y="5881092"/>
            <a:ext cx="5725537" cy="151633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218988" y="7841757"/>
            <a:ext cx="980440" cy="2317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110" dirty="0">
                <a:solidFill>
                  <a:srgbClr val="4B4A4A"/>
                </a:solidFill>
                <a:latin typeface="Times New Roman"/>
                <a:cs typeface="Times New Roman"/>
              </a:rPr>
              <a:t>Dashboard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35247" y="7841757"/>
            <a:ext cx="735330" cy="2317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110" dirty="0">
                <a:solidFill>
                  <a:srgbClr val="4B4A4A"/>
                </a:solidFill>
                <a:latin typeface="Times New Roman"/>
                <a:cs typeface="Times New Roman"/>
              </a:rPr>
              <a:t>Insights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24442" y="7841757"/>
            <a:ext cx="759460" cy="2317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95" dirty="0">
                <a:solidFill>
                  <a:srgbClr val="4B4A4A"/>
                </a:solidFill>
                <a:latin typeface="Times New Roman"/>
                <a:cs typeface="Times New Roman"/>
              </a:rPr>
              <a:t>Analysis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51297" y="7841757"/>
            <a:ext cx="847090" cy="2317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105" dirty="0">
                <a:solidFill>
                  <a:srgbClr val="4B4A4A"/>
                </a:solidFill>
                <a:latin typeface="Times New Roman"/>
                <a:cs typeface="Times New Roman"/>
              </a:rPr>
              <a:t>Raw</a:t>
            </a:r>
            <a:r>
              <a:rPr sz="1350" b="1" dirty="0">
                <a:solidFill>
                  <a:srgbClr val="4B4A4A"/>
                </a:solidFill>
                <a:latin typeface="Times New Roman"/>
                <a:cs typeface="Times New Roman"/>
              </a:rPr>
              <a:t xml:space="preserve"> </a:t>
            </a:r>
            <a:r>
              <a:rPr sz="1350" b="1" spc="70" dirty="0">
                <a:solidFill>
                  <a:srgbClr val="4B4A4A"/>
                </a:solidFill>
                <a:latin typeface="Times New Roman"/>
                <a:cs typeface="Times New Roman"/>
              </a:rPr>
              <a:t>Data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7375" y="873125"/>
            <a:ext cx="538226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85" dirty="0">
                <a:latin typeface="Calibri"/>
                <a:cs typeface="Calibri"/>
              </a:rPr>
              <a:t>Dataset</a:t>
            </a:r>
            <a:r>
              <a:rPr spc="-15" dirty="0">
                <a:latin typeface="Calibri"/>
                <a:cs typeface="Calibri"/>
              </a:rPr>
              <a:t xml:space="preserve"> </a:t>
            </a:r>
            <a:r>
              <a:rPr spc="290" dirty="0">
                <a:latin typeface="Calibri"/>
                <a:cs typeface="Calibri"/>
              </a:rPr>
              <a:t>Overview</a:t>
            </a:r>
            <a:r>
              <a:rPr spc="-5" dirty="0">
                <a:latin typeface="Calibri"/>
                <a:cs typeface="Calibri"/>
              </a:rPr>
              <a:t xml:space="preserve"> </a:t>
            </a:r>
            <a:r>
              <a:rPr dirty="0">
                <a:latin typeface="Calibri"/>
                <a:cs typeface="Calibri"/>
              </a:rPr>
              <a:t>&amp;</a:t>
            </a:r>
            <a:r>
              <a:rPr spc="-10" dirty="0">
                <a:latin typeface="Calibri"/>
                <a:cs typeface="Calibri"/>
              </a:rPr>
              <a:t xml:space="preserve"> </a:t>
            </a:r>
            <a:r>
              <a:rPr spc="125" dirty="0">
                <a:latin typeface="Calibri"/>
                <a:cs typeface="Calibri"/>
              </a:rPr>
              <a:t>KPIs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1749425"/>
            <a:ext cx="791210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Four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regions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0" dirty="0">
                <a:solidFill>
                  <a:srgbClr val="4B4A4A"/>
                </a:solidFill>
                <a:latin typeface="Verdana"/>
                <a:cs typeface="Verdana"/>
              </a:rPr>
              <a:t>—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North, South, 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West,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and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East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0" dirty="0">
                <a:solidFill>
                  <a:srgbClr val="4B4A4A"/>
                </a:solidFill>
                <a:latin typeface="Verdana"/>
                <a:cs typeface="Verdana"/>
              </a:rPr>
              <a:t>—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analyzed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across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14" dirty="0">
                <a:solidFill>
                  <a:srgbClr val="4B4A4A"/>
                </a:solidFill>
                <a:latin typeface="Verdana"/>
                <a:cs typeface="Verdana"/>
              </a:rPr>
              <a:t>revenue,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profit,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orders,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and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units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sold.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56114" y="2240914"/>
            <a:ext cx="2895600" cy="1444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450" b="1" spc="0" dirty="0">
                <a:solidFill>
                  <a:srgbClr val="4B4A4A"/>
                </a:solidFill>
                <a:latin typeface="Times New Roman"/>
                <a:cs typeface="Times New Roman"/>
              </a:rPr>
              <a:t>₹39</a:t>
            </a:r>
            <a:r>
              <a:rPr sz="4450" b="1" spc="320" dirty="0">
                <a:solidFill>
                  <a:srgbClr val="4B4A4A"/>
                </a:solidFill>
                <a:latin typeface="Times New Roman"/>
                <a:cs typeface="Times New Roman"/>
              </a:rPr>
              <a:t>.26M</a:t>
            </a:r>
            <a:endParaRPr sz="4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285"/>
              </a:spcBef>
            </a:pPr>
            <a:r>
              <a:rPr sz="1650" b="1" spc="55" dirty="0">
                <a:solidFill>
                  <a:srgbClr val="4B4A4A"/>
                </a:solidFill>
                <a:latin typeface="Times New Roman"/>
                <a:cs typeface="Times New Roman"/>
              </a:rPr>
              <a:t>Total</a:t>
            </a:r>
            <a:r>
              <a:rPr sz="1650" b="1" spc="5" dirty="0">
                <a:solidFill>
                  <a:srgbClr val="4B4A4A"/>
                </a:solidFill>
                <a:latin typeface="Times New Roman"/>
                <a:cs typeface="Times New Roman"/>
              </a:rPr>
              <a:t xml:space="preserve"> </a:t>
            </a:r>
            <a:r>
              <a:rPr sz="1650" b="1" spc="140" dirty="0">
                <a:solidFill>
                  <a:srgbClr val="4B4A4A"/>
                </a:solidFill>
                <a:latin typeface="Times New Roman"/>
                <a:cs typeface="Times New Roman"/>
              </a:rPr>
              <a:t>Sales</a:t>
            </a:r>
            <a:endParaRPr sz="16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Combined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revenue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across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all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25" dirty="0">
                <a:solidFill>
                  <a:srgbClr val="4B4A4A"/>
                </a:solidFill>
                <a:latin typeface="Verdana"/>
                <a:cs typeface="Verdana"/>
              </a:rPr>
              <a:t>regions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7805" y="2240914"/>
            <a:ext cx="2936875" cy="1444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450" b="1" spc="0" dirty="0">
                <a:solidFill>
                  <a:srgbClr val="4B4A4A"/>
                </a:solidFill>
                <a:latin typeface="Times New Roman"/>
                <a:cs typeface="Times New Roman"/>
              </a:rPr>
              <a:t>₹</a:t>
            </a:r>
            <a:r>
              <a:rPr sz="4450" b="1" spc="265" dirty="0">
                <a:solidFill>
                  <a:srgbClr val="4B4A4A"/>
                </a:solidFill>
                <a:latin typeface="Times New Roman"/>
                <a:cs typeface="Times New Roman"/>
              </a:rPr>
              <a:t>6.87M</a:t>
            </a:r>
            <a:endParaRPr sz="4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285"/>
              </a:spcBef>
            </a:pPr>
            <a:r>
              <a:rPr sz="1650" b="1" spc="55" dirty="0">
                <a:solidFill>
                  <a:srgbClr val="4B4A4A"/>
                </a:solidFill>
                <a:latin typeface="Times New Roman"/>
                <a:cs typeface="Times New Roman"/>
              </a:rPr>
              <a:t>Total</a:t>
            </a:r>
            <a:r>
              <a:rPr sz="1650" b="1" spc="5" dirty="0">
                <a:solidFill>
                  <a:srgbClr val="4B4A4A"/>
                </a:solidFill>
                <a:latin typeface="Times New Roman"/>
                <a:cs typeface="Times New Roman"/>
              </a:rPr>
              <a:t xml:space="preserve"> </a:t>
            </a:r>
            <a:r>
              <a:rPr sz="1650" b="1" spc="-10" dirty="0">
                <a:solidFill>
                  <a:srgbClr val="4B4A4A"/>
                </a:solidFill>
                <a:latin typeface="Times New Roman"/>
                <a:cs typeface="Times New Roman"/>
              </a:rPr>
              <a:t>Profit</a:t>
            </a:r>
            <a:endParaRPr sz="16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Net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profit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from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all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regional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45" dirty="0">
                <a:solidFill>
                  <a:srgbClr val="4B4A4A"/>
                </a:solidFill>
                <a:latin typeface="Verdana"/>
                <a:cs typeface="Verdana"/>
              </a:rPr>
              <a:t>operations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77077" y="4098290"/>
            <a:ext cx="3053715" cy="1435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450" b="1" spc="450" dirty="0">
                <a:solidFill>
                  <a:srgbClr val="4B4A4A"/>
                </a:solidFill>
                <a:latin typeface="Times New Roman"/>
                <a:cs typeface="Times New Roman"/>
              </a:rPr>
              <a:t>15,385</a:t>
            </a:r>
            <a:endParaRPr sz="4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285"/>
              </a:spcBef>
            </a:pPr>
            <a:r>
              <a:rPr sz="1650" b="1" spc="55" dirty="0">
                <a:solidFill>
                  <a:srgbClr val="4B4A4A"/>
                </a:solidFill>
                <a:latin typeface="Times New Roman"/>
                <a:cs typeface="Times New Roman"/>
              </a:rPr>
              <a:t>Total</a:t>
            </a:r>
            <a:r>
              <a:rPr sz="1650" b="1" spc="5" dirty="0">
                <a:solidFill>
                  <a:srgbClr val="4B4A4A"/>
                </a:solidFill>
                <a:latin typeface="Times New Roman"/>
                <a:cs typeface="Times New Roman"/>
              </a:rPr>
              <a:t xml:space="preserve"> </a:t>
            </a:r>
            <a:r>
              <a:rPr sz="1650" b="1" spc="125" dirty="0">
                <a:solidFill>
                  <a:srgbClr val="4B4A4A"/>
                </a:solidFill>
                <a:latin typeface="Times New Roman"/>
                <a:cs typeface="Times New Roman"/>
              </a:rPr>
              <a:t>Orders</a:t>
            </a:r>
            <a:endParaRPr sz="16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70"/>
              </a:spcBef>
            </a:pP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 xml:space="preserve">Transactions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processed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across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25" dirty="0">
                <a:solidFill>
                  <a:srgbClr val="4B4A4A"/>
                </a:solidFill>
                <a:latin typeface="Verdana"/>
                <a:cs typeface="Verdana"/>
              </a:rPr>
              <a:t>regions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19876" y="4098290"/>
            <a:ext cx="2612390" cy="1435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450" b="1" spc="450" dirty="0">
                <a:solidFill>
                  <a:srgbClr val="4B4A4A"/>
                </a:solidFill>
                <a:latin typeface="Times New Roman"/>
                <a:cs typeface="Times New Roman"/>
              </a:rPr>
              <a:t>76,531</a:t>
            </a:r>
            <a:endParaRPr sz="4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285"/>
              </a:spcBef>
            </a:pPr>
            <a:r>
              <a:rPr sz="1650" b="1" spc="110" dirty="0">
                <a:solidFill>
                  <a:srgbClr val="4B4A4A"/>
                </a:solidFill>
                <a:latin typeface="Times New Roman"/>
                <a:cs typeface="Times New Roman"/>
              </a:rPr>
              <a:t>Units</a:t>
            </a:r>
            <a:r>
              <a:rPr sz="1650" b="1" spc="5" dirty="0">
                <a:solidFill>
                  <a:srgbClr val="4B4A4A"/>
                </a:solidFill>
                <a:latin typeface="Times New Roman"/>
                <a:cs typeface="Times New Roman"/>
              </a:rPr>
              <a:t xml:space="preserve"> </a:t>
            </a:r>
            <a:r>
              <a:rPr sz="1650" b="1" spc="135" dirty="0">
                <a:solidFill>
                  <a:srgbClr val="4B4A4A"/>
                </a:solidFill>
                <a:latin typeface="Times New Roman"/>
                <a:cs typeface="Times New Roman"/>
              </a:rPr>
              <a:t>Sold</a:t>
            </a:r>
            <a:endParaRPr sz="16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70"/>
              </a:spcBef>
            </a:pP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Individual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product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units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35" dirty="0">
                <a:solidFill>
                  <a:srgbClr val="4B4A4A"/>
                </a:solidFill>
                <a:latin typeface="Verdana"/>
                <a:cs typeface="Verdana"/>
              </a:rPr>
              <a:t>delivered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90" dirty="0">
                <a:latin typeface="Calibri"/>
                <a:cs typeface="Calibri"/>
              </a:rPr>
              <a:t>Region-</a:t>
            </a:r>
            <a:r>
              <a:rPr spc="395" dirty="0">
                <a:latin typeface="Calibri"/>
                <a:cs typeface="Calibri"/>
              </a:rPr>
              <a:t>wise</a:t>
            </a:r>
            <a:r>
              <a:rPr spc="35" dirty="0">
                <a:latin typeface="Calibri"/>
                <a:cs typeface="Calibri"/>
              </a:rPr>
              <a:t xml:space="preserve"> </a:t>
            </a:r>
            <a:r>
              <a:rPr spc="330" dirty="0">
                <a:latin typeface="Calibri"/>
                <a:cs typeface="Calibri"/>
              </a:rPr>
              <a:t>Revenue</a:t>
            </a:r>
            <a:r>
              <a:rPr spc="35" dirty="0">
                <a:latin typeface="Calibri"/>
                <a:cs typeface="Calibri"/>
              </a:rPr>
              <a:t xml:space="preserve"> </a:t>
            </a:r>
            <a:r>
              <a:rPr spc="270" dirty="0">
                <a:latin typeface="Calibri"/>
                <a:cs typeface="Calibri"/>
              </a:rPr>
              <a:t>Analysis</a:t>
            </a:r>
          </a:p>
        </p:txBody>
      </p:sp>
      <p:sp>
        <p:nvSpPr>
          <p:cNvPr id="3" name="object 3"/>
          <p:cNvSpPr/>
          <p:nvPr/>
        </p:nvSpPr>
        <p:spPr>
          <a:xfrm>
            <a:off x="604837" y="1433512"/>
            <a:ext cx="2457450" cy="333375"/>
          </a:xfrm>
          <a:custGeom>
            <a:avLst/>
            <a:gdLst/>
            <a:ahLst/>
            <a:cxnLst/>
            <a:rect l="l" t="t" r="r" b="b"/>
            <a:pathLst>
              <a:path w="2457450" h="333375">
                <a:moveTo>
                  <a:pt x="0" y="235267"/>
                </a:moveTo>
                <a:lnTo>
                  <a:pt x="0" y="98107"/>
                </a:lnTo>
                <a:lnTo>
                  <a:pt x="0" y="91668"/>
                </a:lnTo>
                <a:lnTo>
                  <a:pt x="629" y="85280"/>
                </a:lnTo>
                <a:lnTo>
                  <a:pt x="1884" y="78968"/>
                </a:lnTo>
                <a:lnTo>
                  <a:pt x="3140" y="72644"/>
                </a:lnTo>
                <a:lnTo>
                  <a:pt x="5001" y="66509"/>
                </a:lnTo>
                <a:lnTo>
                  <a:pt x="7466" y="60566"/>
                </a:lnTo>
                <a:lnTo>
                  <a:pt x="9931" y="54610"/>
                </a:lnTo>
                <a:lnTo>
                  <a:pt x="12952" y="48958"/>
                </a:lnTo>
                <a:lnTo>
                  <a:pt x="16535" y="43599"/>
                </a:lnTo>
                <a:lnTo>
                  <a:pt x="20111" y="38239"/>
                </a:lnTo>
                <a:lnTo>
                  <a:pt x="24179" y="33286"/>
                </a:lnTo>
                <a:lnTo>
                  <a:pt x="28733" y="28740"/>
                </a:lnTo>
                <a:lnTo>
                  <a:pt x="33287" y="24180"/>
                </a:lnTo>
                <a:lnTo>
                  <a:pt x="38243" y="20116"/>
                </a:lnTo>
                <a:lnTo>
                  <a:pt x="43601" y="16535"/>
                </a:lnTo>
                <a:lnTo>
                  <a:pt x="48959" y="12954"/>
                </a:lnTo>
                <a:lnTo>
                  <a:pt x="54610" y="9931"/>
                </a:lnTo>
                <a:lnTo>
                  <a:pt x="60563" y="7467"/>
                </a:lnTo>
                <a:lnTo>
                  <a:pt x="66516" y="5003"/>
                </a:lnTo>
                <a:lnTo>
                  <a:pt x="72647" y="3136"/>
                </a:lnTo>
                <a:lnTo>
                  <a:pt x="78968" y="1892"/>
                </a:lnTo>
                <a:lnTo>
                  <a:pt x="85283" y="622"/>
                </a:lnTo>
                <a:lnTo>
                  <a:pt x="91663" y="0"/>
                </a:lnTo>
                <a:lnTo>
                  <a:pt x="98107" y="0"/>
                </a:lnTo>
                <a:lnTo>
                  <a:pt x="2359342" y="0"/>
                </a:lnTo>
                <a:lnTo>
                  <a:pt x="2365781" y="0"/>
                </a:lnTo>
                <a:lnTo>
                  <a:pt x="2372169" y="622"/>
                </a:lnTo>
                <a:lnTo>
                  <a:pt x="2378481" y="1892"/>
                </a:lnTo>
                <a:lnTo>
                  <a:pt x="2384806" y="3136"/>
                </a:lnTo>
                <a:lnTo>
                  <a:pt x="2390940" y="5003"/>
                </a:lnTo>
                <a:lnTo>
                  <a:pt x="2396883" y="7467"/>
                </a:lnTo>
                <a:lnTo>
                  <a:pt x="2402840" y="9931"/>
                </a:lnTo>
                <a:lnTo>
                  <a:pt x="2433269" y="33286"/>
                </a:lnTo>
                <a:lnTo>
                  <a:pt x="2449982" y="60566"/>
                </a:lnTo>
                <a:lnTo>
                  <a:pt x="2452446" y="66509"/>
                </a:lnTo>
                <a:lnTo>
                  <a:pt x="2454313" y="72644"/>
                </a:lnTo>
                <a:lnTo>
                  <a:pt x="2455570" y="78968"/>
                </a:lnTo>
                <a:lnTo>
                  <a:pt x="2456815" y="85280"/>
                </a:lnTo>
                <a:lnTo>
                  <a:pt x="2457450" y="91668"/>
                </a:lnTo>
                <a:lnTo>
                  <a:pt x="2457450" y="98107"/>
                </a:lnTo>
                <a:lnTo>
                  <a:pt x="2457450" y="235267"/>
                </a:lnTo>
                <a:lnTo>
                  <a:pt x="2457450" y="241706"/>
                </a:lnTo>
                <a:lnTo>
                  <a:pt x="2456815" y="248081"/>
                </a:lnTo>
                <a:lnTo>
                  <a:pt x="2455570" y="254406"/>
                </a:lnTo>
                <a:lnTo>
                  <a:pt x="2454313" y="260718"/>
                </a:lnTo>
                <a:lnTo>
                  <a:pt x="2452446" y="266865"/>
                </a:lnTo>
                <a:lnTo>
                  <a:pt x="2449982" y="272808"/>
                </a:lnTo>
                <a:lnTo>
                  <a:pt x="2447518" y="278765"/>
                </a:lnTo>
                <a:lnTo>
                  <a:pt x="2424163" y="309194"/>
                </a:lnTo>
                <a:lnTo>
                  <a:pt x="2396883" y="325907"/>
                </a:lnTo>
                <a:lnTo>
                  <a:pt x="2390940" y="328371"/>
                </a:lnTo>
                <a:lnTo>
                  <a:pt x="2384806" y="330225"/>
                </a:lnTo>
                <a:lnTo>
                  <a:pt x="2378481" y="331495"/>
                </a:lnTo>
                <a:lnTo>
                  <a:pt x="2372169" y="332740"/>
                </a:lnTo>
                <a:lnTo>
                  <a:pt x="2365781" y="333375"/>
                </a:lnTo>
                <a:lnTo>
                  <a:pt x="2359342" y="333375"/>
                </a:lnTo>
                <a:lnTo>
                  <a:pt x="98107" y="333375"/>
                </a:lnTo>
                <a:lnTo>
                  <a:pt x="91663" y="333375"/>
                </a:lnTo>
                <a:lnTo>
                  <a:pt x="85283" y="332740"/>
                </a:lnTo>
                <a:lnTo>
                  <a:pt x="78968" y="331495"/>
                </a:lnTo>
                <a:lnTo>
                  <a:pt x="72647" y="330225"/>
                </a:lnTo>
                <a:lnTo>
                  <a:pt x="66516" y="328371"/>
                </a:lnTo>
                <a:lnTo>
                  <a:pt x="60563" y="325907"/>
                </a:lnTo>
                <a:lnTo>
                  <a:pt x="54610" y="323443"/>
                </a:lnTo>
                <a:lnTo>
                  <a:pt x="28733" y="304634"/>
                </a:lnTo>
                <a:lnTo>
                  <a:pt x="24179" y="300088"/>
                </a:lnTo>
                <a:lnTo>
                  <a:pt x="7466" y="272808"/>
                </a:lnTo>
                <a:lnTo>
                  <a:pt x="5001" y="266865"/>
                </a:lnTo>
                <a:lnTo>
                  <a:pt x="3140" y="260718"/>
                </a:lnTo>
                <a:lnTo>
                  <a:pt x="1884" y="254406"/>
                </a:lnTo>
                <a:lnTo>
                  <a:pt x="629" y="248081"/>
                </a:lnTo>
                <a:lnTo>
                  <a:pt x="0" y="241706"/>
                </a:lnTo>
                <a:lnTo>
                  <a:pt x="0" y="235267"/>
                </a:lnTo>
                <a:close/>
              </a:path>
            </a:pathLst>
          </a:custGeom>
          <a:ln w="9525">
            <a:solidFill>
              <a:srgbClr val="006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9740" y="1497964"/>
            <a:ext cx="226758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30" dirty="0">
                <a:solidFill>
                  <a:srgbClr val="006646"/>
                </a:solidFill>
                <a:latin typeface="Verdana"/>
                <a:cs typeface="Verdana"/>
              </a:rPr>
              <a:t>EXCEL</a:t>
            </a:r>
            <a:r>
              <a:rPr sz="1050" spc="-65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050" spc="-75" dirty="0">
                <a:solidFill>
                  <a:srgbClr val="006646"/>
                </a:solidFill>
                <a:latin typeface="Verdana"/>
                <a:cs typeface="Verdana"/>
              </a:rPr>
              <a:t>TOOL:</a:t>
            </a:r>
            <a:r>
              <a:rPr sz="1050" spc="-65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050" spc="-35" dirty="0">
                <a:solidFill>
                  <a:srgbClr val="006646"/>
                </a:solidFill>
                <a:latin typeface="Verdana"/>
                <a:cs typeface="Verdana"/>
              </a:rPr>
              <a:t>SUMIF</a:t>
            </a:r>
            <a:r>
              <a:rPr sz="1050" spc="-60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050" dirty="0">
                <a:solidFill>
                  <a:srgbClr val="006646"/>
                </a:solidFill>
                <a:latin typeface="Verdana"/>
                <a:cs typeface="Verdana"/>
              </a:rPr>
              <a:t>/</a:t>
            </a:r>
            <a:r>
              <a:rPr sz="1050" spc="-65" dirty="0">
                <a:solidFill>
                  <a:srgbClr val="006646"/>
                </a:solidFill>
                <a:latin typeface="Verdana"/>
                <a:cs typeface="Verdana"/>
              </a:rPr>
              <a:t xml:space="preserve"> PIVOT </a:t>
            </a:r>
            <a:r>
              <a:rPr sz="1050" spc="-20" dirty="0">
                <a:solidFill>
                  <a:srgbClr val="006646"/>
                </a:solidFill>
                <a:latin typeface="Verdana"/>
                <a:cs typeface="Verdana"/>
              </a:rPr>
              <a:t>TABLE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1520" y="5310983"/>
            <a:ext cx="10033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45" dirty="0">
                <a:solidFill>
                  <a:srgbClr val="4B4A4A"/>
                </a:solidFill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0645" y="5310983"/>
            <a:ext cx="9652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15" dirty="0">
                <a:solidFill>
                  <a:srgbClr val="4B4A4A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5757" y="5310983"/>
            <a:ext cx="10160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0" dirty="0">
                <a:solidFill>
                  <a:srgbClr val="4B4A4A"/>
                </a:solidFill>
                <a:latin typeface="Tahoma"/>
                <a:cs typeface="Tahoma"/>
              </a:rPr>
              <a:t>—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62380" y="5310983"/>
            <a:ext cx="9842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30" dirty="0">
                <a:solidFill>
                  <a:srgbClr val="4B4A4A"/>
                </a:solidFill>
                <a:latin typeface="Tahoma"/>
                <a:cs typeface="Tahoma"/>
              </a:rPr>
              <a:t>8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15019" y="5310983"/>
            <a:ext cx="14795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25" dirty="0">
                <a:solidFill>
                  <a:srgbClr val="4B4A4A"/>
                </a:solidFill>
                <a:latin typeface="Tahoma"/>
                <a:cs typeface="Tahoma"/>
              </a:rPr>
              <a:t>10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52037" y="5257332"/>
            <a:ext cx="785495" cy="4095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545465">
              <a:lnSpc>
                <a:spcPct val="100000"/>
              </a:lnSpc>
              <a:spcBef>
                <a:spcPts val="530"/>
              </a:spcBef>
            </a:pPr>
            <a:r>
              <a:rPr sz="900" spc="30" dirty="0">
                <a:solidFill>
                  <a:srgbClr val="4B4A4A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10" dirty="0">
                <a:solidFill>
                  <a:srgbClr val="4B4A4A"/>
                </a:solidFill>
                <a:latin typeface="Tahoma"/>
                <a:cs typeface="Tahoma"/>
              </a:rPr>
              <a:t>Revenue</a:t>
            </a:r>
            <a:r>
              <a:rPr sz="900" spc="165" dirty="0">
                <a:solidFill>
                  <a:srgbClr val="4B4A4A"/>
                </a:solidFill>
                <a:latin typeface="Tahoma"/>
                <a:cs typeface="Tahoma"/>
              </a:rPr>
              <a:t xml:space="preserve"> </a:t>
            </a:r>
            <a:r>
              <a:rPr sz="900" spc="-25" dirty="0">
                <a:solidFill>
                  <a:srgbClr val="4B4A4A"/>
                </a:solidFill>
                <a:latin typeface="Tahoma"/>
                <a:cs typeface="Tahoma"/>
              </a:rPr>
              <a:t>(₹M)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6651" y="2707500"/>
            <a:ext cx="85725" cy="10795"/>
          </a:xfrm>
          <a:custGeom>
            <a:avLst/>
            <a:gdLst/>
            <a:ahLst/>
            <a:cxnLst/>
            <a:rect l="l" t="t" r="r" b="b"/>
            <a:pathLst>
              <a:path w="85725" h="10794">
                <a:moveTo>
                  <a:pt x="28133" y="0"/>
                </a:moveTo>
                <a:lnTo>
                  <a:pt x="3859" y="0"/>
                </a:lnTo>
                <a:lnTo>
                  <a:pt x="2603" y="520"/>
                </a:lnTo>
                <a:lnTo>
                  <a:pt x="520" y="2603"/>
                </a:lnTo>
                <a:lnTo>
                  <a:pt x="0" y="3860"/>
                </a:lnTo>
                <a:lnTo>
                  <a:pt x="0" y="6807"/>
                </a:lnTo>
                <a:lnTo>
                  <a:pt x="520" y="8064"/>
                </a:lnTo>
                <a:lnTo>
                  <a:pt x="2603" y="10147"/>
                </a:lnTo>
                <a:lnTo>
                  <a:pt x="3859" y="10668"/>
                </a:lnTo>
                <a:lnTo>
                  <a:pt x="28133" y="10668"/>
                </a:lnTo>
                <a:lnTo>
                  <a:pt x="29387" y="10147"/>
                </a:lnTo>
                <a:lnTo>
                  <a:pt x="31471" y="8064"/>
                </a:lnTo>
                <a:lnTo>
                  <a:pt x="31992" y="6807"/>
                </a:lnTo>
                <a:lnTo>
                  <a:pt x="31992" y="3860"/>
                </a:lnTo>
                <a:lnTo>
                  <a:pt x="31471" y="2603"/>
                </a:lnTo>
                <a:lnTo>
                  <a:pt x="29387" y="520"/>
                </a:lnTo>
                <a:lnTo>
                  <a:pt x="28133" y="0"/>
                </a:lnTo>
                <a:close/>
              </a:path>
              <a:path w="85725" h="10794">
                <a:moveTo>
                  <a:pt x="81447" y="0"/>
                </a:moveTo>
                <a:lnTo>
                  <a:pt x="57179" y="0"/>
                </a:lnTo>
                <a:lnTo>
                  <a:pt x="55919" y="520"/>
                </a:lnTo>
                <a:lnTo>
                  <a:pt x="53840" y="2603"/>
                </a:lnTo>
                <a:lnTo>
                  <a:pt x="53319" y="3860"/>
                </a:lnTo>
                <a:lnTo>
                  <a:pt x="53319" y="6807"/>
                </a:lnTo>
                <a:lnTo>
                  <a:pt x="53840" y="8064"/>
                </a:lnTo>
                <a:lnTo>
                  <a:pt x="55919" y="10147"/>
                </a:lnTo>
                <a:lnTo>
                  <a:pt x="57179" y="10668"/>
                </a:lnTo>
                <a:lnTo>
                  <a:pt x="81447" y="10668"/>
                </a:lnTo>
                <a:lnTo>
                  <a:pt x="82708" y="10147"/>
                </a:lnTo>
                <a:lnTo>
                  <a:pt x="84786" y="8064"/>
                </a:lnTo>
                <a:lnTo>
                  <a:pt x="85307" y="6807"/>
                </a:lnTo>
                <a:lnTo>
                  <a:pt x="85307" y="3860"/>
                </a:lnTo>
                <a:lnTo>
                  <a:pt x="84786" y="2603"/>
                </a:lnTo>
                <a:lnTo>
                  <a:pt x="82708" y="520"/>
                </a:lnTo>
                <a:lnTo>
                  <a:pt x="81447" y="0"/>
                </a:lnTo>
                <a:close/>
              </a:path>
            </a:pathLst>
          </a:custGeom>
          <a:solidFill>
            <a:srgbClr val="DFDF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95710" y="2651283"/>
            <a:ext cx="33718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solidFill>
                  <a:srgbClr val="4B4A4A"/>
                </a:solidFill>
                <a:latin typeface="Tahoma"/>
                <a:cs typeface="Tahoma"/>
              </a:rPr>
              <a:t>North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6651" y="3453701"/>
            <a:ext cx="85725" cy="10795"/>
          </a:xfrm>
          <a:custGeom>
            <a:avLst/>
            <a:gdLst/>
            <a:ahLst/>
            <a:cxnLst/>
            <a:rect l="l" t="t" r="r" b="b"/>
            <a:pathLst>
              <a:path w="85725" h="10795">
                <a:moveTo>
                  <a:pt x="28133" y="0"/>
                </a:moveTo>
                <a:lnTo>
                  <a:pt x="3859" y="0"/>
                </a:lnTo>
                <a:lnTo>
                  <a:pt x="2603" y="520"/>
                </a:lnTo>
                <a:lnTo>
                  <a:pt x="520" y="2603"/>
                </a:lnTo>
                <a:lnTo>
                  <a:pt x="0" y="3860"/>
                </a:lnTo>
                <a:lnTo>
                  <a:pt x="0" y="6807"/>
                </a:lnTo>
                <a:lnTo>
                  <a:pt x="520" y="8064"/>
                </a:lnTo>
                <a:lnTo>
                  <a:pt x="2603" y="10147"/>
                </a:lnTo>
                <a:lnTo>
                  <a:pt x="3859" y="10655"/>
                </a:lnTo>
                <a:lnTo>
                  <a:pt x="28133" y="10655"/>
                </a:lnTo>
                <a:lnTo>
                  <a:pt x="29387" y="10147"/>
                </a:lnTo>
                <a:lnTo>
                  <a:pt x="31471" y="8064"/>
                </a:lnTo>
                <a:lnTo>
                  <a:pt x="31992" y="6807"/>
                </a:lnTo>
                <a:lnTo>
                  <a:pt x="31992" y="3860"/>
                </a:lnTo>
                <a:lnTo>
                  <a:pt x="31471" y="2603"/>
                </a:lnTo>
                <a:lnTo>
                  <a:pt x="29387" y="520"/>
                </a:lnTo>
                <a:lnTo>
                  <a:pt x="28133" y="0"/>
                </a:lnTo>
                <a:close/>
              </a:path>
              <a:path w="85725" h="10795">
                <a:moveTo>
                  <a:pt x="81447" y="0"/>
                </a:moveTo>
                <a:lnTo>
                  <a:pt x="57179" y="0"/>
                </a:lnTo>
                <a:lnTo>
                  <a:pt x="55919" y="520"/>
                </a:lnTo>
                <a:lnTo>
                  <a:pt x="53840" y="2603"/>
                </a:lnTo>
                <a:lnTo>
                  <a:pt x="53319" y="3860"/>
                </a:lnTo>
                <a:lnTo>
                  <a:pt x="53319" y="6807"/>
                </a:lnTo>
                <a:lnTo>
                  <a:pt x="53840" y="8064"/>
                </a:lnTo>
                <a:lnTo>
                  <a:pt x="55919" y="10147"/>
                </a:lnTo>
                <a:lnTo>
                  <a:pt x="57179" y="10655"/>
                </a:lnTo>
                <a:lnTo>
                  <a:pt x="81447" y="10655"/>
                </a:lnTo>
                <a:lnTo>
                  <a:pt x="82708" y="10147"/>
                </a:lnTo>
                <a:lnTo>
                  <a:pt x="84786" y="8064"/>
                </a:lnTo>
                <a:lnTo>
                  <a:pt x="85307" y="6807"/>
                </a:lnTo>
                <a:lnTo>
                  <a:pt x="85307" y="3860"/>
                </a:lnTo>
                <a:lnTo>
                  <a:pt x="84786" y="2603"/>
                </a:lnTo>
                <a:lnTo>
                  <a:pt x="82708" y="520"/>
                </a:lnTo>
                <a:lnTo>
                  <a:pt x="81447" y="0"/>
                </a:lnTo>
                <a:close/>
              </a:path>
            </a:pathLst>
          </a:custGeom>
          <a:solidFill>
            <a:srgbClr val="DFDF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5737" y="3397484"/>
            <a:ext cx="34734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solidFill>
                  <a:srgbClr val="4B4A4A"/>
                </a:solidFill>
                <a:latin typeface="Tahoma"/>
                <a:cs typeface="Tahoma"/>
              </a:rPr>
              <a:t>South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6651" y="4199902"/>
            <a:ext cx="85725" cy="10795"/>
          </a:xfrm>
          <a:custGeom>
            <a:avLst/>
            <a:gdLst/>
            <a:ahLst/>
            <a:cxnLst/>
            <a:rect l="l" t="t" r="r" b="b"/>
            <a:pathLst>
              <a:path w="85725" h="10795">
                <a:moveTo>
                  <a:pt x="28133" y="0"/>
                </a:moveTo>
                <a:lnTo>
                  <a:pt x="3859" y="0"/>
                </a:lnTo>
                <a:lnTo>
                  <a:pt x="2603" y="520"/>
                </a:lnTo>
                <a:lnTo>
                  <a:pt x="520" y="2603"/>
                </a:lnTo>
                <a:lnTo>
                  <a:pt x="0" y="3860"/>
                </a:lnTo>
                <a:lnTo>
                  <a:pt x="0" y="6807"/>
                </a:lnTo>
                <a:lnTo>
                  <a:pt x="520" y="8064"/>
                </a:lnTo>
                <a:lnTo>
                  <a:pt x="2603" y="10147"/>
                </a:lnTo>
                <a:lnTo>
                  <a:pt x="3859" y="10668"/>
                </a:lnTo>
                <a:lnTo>
                  <a:pt x="28133" y="10668"/>
                </a:lnTo>
                <a:lnTo>
                  <a:pt x="29387" y="10147"/>
                </a:lnTo>
                <a:lnTo>
                  <a:pt x="31471" y="8064"/>
                </a:lnTo>
                <a:lnTo>
                  <a:pt x="31992" y="6807"/>
                </a:lnTo>
                <a:lnTo>
                  <a:pt x="31992" y="3860"/>
                </a:lnTo>
                <a:lnTo>
                  <a:pt x="31471" y="2603"/>
                </a:lnTo>
                <a:lnTo>
                  <a:pt x="29387" y="520"/>
                </a:lnTo>
                <a:lnTo>
                  <a:pt x="28133" y="0"/>
                </a:lnTo>
                <a:close/>
              </a:path>
              <a:path w="85725" h="10795">
                <a:moveTo>
                  <a:pt x="81447" y="0"/>
                </a:moveTo>
                <a:lnTo>
                  <a:pt x="57179" y="0"/>
                </a:lnTo>
                <a:lnTo>
                  <a:pt x="55919" y="520"/>
                </a:lnTo>
                <a:lnTo>
                  <a:pt x="53840" y="2603"/>
                </a:lnTo>
                <a:lnTo>
                  <a:pt x="53319" y="3860"/>
                </a:lnTo>
                <a:lnTo>
                  <a:pt x="53319" y="6807"/>
                </a:lnTo>
                <a:lnTo>
                  <a:pt x="53840" y="8064"/>
                </a:lnTo>
                <a:lnTo>
                  <a:pt x="55919" y="10147"/>
                </a:lnTo>
                <a:lnTo>
                  <a:pt x="57179" y="10668"/>
                </a:lnTo>
                <a:lnTo>
                  <a:pt x="81447" y="10668"/>
                </a:lnTo>
                <a:lnTo>
                  <a:pt x="82708" y="10147"/>
                </a:lnTo>
                <a:lnTo>
                  <a:pt x="84786" y="8064"/>
                </a:lnTo>
                <a:lnTo>
                  <a:pt x="85307" y="6807"/>
                </a:lnTo>
                <a:lnTo>
                  <a:pt x="85307" y="3860"/>
                </a:lnTo>
                <a:lnTo>
                  <a:pt x="84786" y="2603"/>
                </a:lnTo>
                <a:lnTo>
                  <a:pt x="82708" y="520"/>
                </a:lnTo>
                <a:lnTo>
                  <a:pt x="81447" y="0"/>
                </a:lnTo>
                <a:close/>
              </a:path>
            </a:pathLst>
          </a:custGeom>
          <a:solidFill>
            <a:srgbClr val="DFDF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28897" y="4143686"/>
            <a:ext cx="30416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20" dirty="0">
                <a:solidFill>
                  <a:srgbClr val="4B4A4A"/>
                </a:solidFill>
                <a:latin typeface="Tahoma"/>
                <a:cs typeface="Tahoma"/>
              </a:rPr>
              <a:t>West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6651" y="4946103"/>
            <a:ext cx="85725" cy="10795"/>
          </a:xfrm>
          <a:custGeom>
            <a:avLst/>
            <a:gdLst/>
            <a:ahLst/>
            <a:cxnLst/>
            <a:rect l="l" t="t" r="r" b="b"/>
            <a:pathLst>
              <a:path w="85725" h="10795">
                <a:moveTo>
                  <a:pt x="28133" y="0"/>
                </a:moveTo>
                <a:lnTo>
                  <a:pt x="3859" y="0"/>
                </a:lnTo>
                <a:lnTo>
                  <a:pt x="2603" y="520"/>
                </a:lnTo>
                <a:lnTo>
                  <a:pt x="520" y="2603"/>
                </a:lnTo>
                <a:lnTo>
                  <a:pt x="0" y="3860"/>
                </a:lnTo>
                <a:lnTo>
                  <a:pt x="0" y="6807"/>
                </a:lnTo>
                <a:lnTo>
                  <a:pt x="520" y="8064"/>
                </a:lnTo>
                <a:lnTo>
                  <a:pt x="2603" y="10147"/>
                </a:lnTo>
                <a:lnTo>
                  <a:pt x="3859" y="10668"/>
                </a:lnTo>
                <a:lnTo>
                  <a:pt x="28133" y="10668"/>
                </a:lnTo>
                <a:lnTo>
                  <a:pt x="29387" y="10147"/>
                </a:lnTo>
                <a:lnTo>
                  <a:pt x="31471" y="8064"/>
                </a:lnTo>
                <a:lnTo>
                  <a:pt x="31992" y="6807"/>
                </a:lnTo>
                <a:lnTo>
                  <a:pt x="31992" y="3860"/>
                </a:lnTo>
                <a:lnTo>
                  <a:pt x="31471" y="2603"/>
                </a:lnTo>
                <a:lnTo>
                  <a:pt x="29387" y="520"/>
                </a:lnTo>
                <a:lnTo>
                  <a:pt x="28133" y="0"/>
                </a:lnTo>
                <a:close/>
              </a:path>
              <a:path w="85725" h="10795">
                <a:moveTo>
                  <a:pt x="81447" y="0"/>
                </a:moveTo>
                <a:lnTo>
                  <a:pt x="57179" y="0"/>
                </a:lnTo>
                <a:lnTo>
                  <a:pt x="55919" y="520"/>
                </a:lnTo>
                <a:lnTo>
                  <a:pt x="53840" y="2603"/>
                </a:lnTo>
                <a:lnTo>
                  <a:pt x="53319" y="3860"/>
                </a:lnTo>
                <a:lnTo>
                  <a:pt x="53319" y="6807"/>
                </a:lnTo>
                <a:lnTo>
                  <a:pt x="53840" y="8064"/>
                </a:lnTo>
                <a:lnTo>
                  <a:pt x="55919" y="10147"/>
                </a:lnTo>
                <a:lnTo>
                  <a:pt x="57179" y="10668"/>
                </a:lnTo>
                <a:lnTo>
                  <a:pt x="81447" y="10668"/>
                </a:lnTo>
                <a:lnTo>
                  <a:pt x="82708" y="10147"/>
                </a:lnTo>
                <a:lnTo>
                  <a:pt x="84786" y="8064"/>
                </a:lnTo>
                <a:lnTo>
                  <a:pt x="85307" y="6807"/>
                </a:lnTo>
                <a:lnTo>
                  <a:pt x="85307" y="3860"/>
                </a:lnTo>
                <a:lnTo>
                  <a:pt x="84786" y="2603"/>
                </a:lnTo>
                <a:lnTo>
                  <a:pt x="82708" y="520"/>
                </a:lnTo>
                <a:lnTo>
                  <a:pt x="81447" y="0"/>
                </a:lnTo>
                <a:close/>
              </a:path>
            </a:pathLst>
          </a:custGeom>
          <a:solidFill>
            <a:srgbClr val="DFDF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71314" y="4889899"/>
            <a:ext cx="26162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20" dirty="0">
                <a:solidFill>
                  <a:srgbClr val="4B4A4A"/>
                </a:solidFill>
                <a:latin typeface="Tahoma"/>
                <a:cs typeface="Tahoma"/>
              </a:rPr>
              <a:t>East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7375" y="2125706"/>
            <a:ext cx="40513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solidFill>
                  <a:srgbClr val="4B4A4A"/>
                </a:solidFill>
                <a:latin typeface="Tahoma"/>
                <a:cs typeface="Tahoma"/>
              </a:rPr>
              <a:t>Region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5945" y="2334399"/>
            <a:ext cx="4286873" cy="299547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5920930" y="2144712"/>
            <a:ext cx="4927600" cy="14935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05" dirty="0">
                <a:solidFill>
                  <a:srgbClr val="006646"/>
                </a:solidFill>
                <a:latin typeface="Times New Roman"/>
                <a:cs typeface="Times New Roman"/>
              </a:rPr>
              <a:t>Key</a:t>
            </a:r>
            <a:r>
              <a:rPr sz="1650" b="1" spc="10" dirty="0">
                <a:solidFill>
                  <a:srgbClr val="006646"/>
                </a:solidFill>
                <a:latin typeface="Times New Roman"/>
                <a:cs typeface="Times New Roman"/>
              </a:rPr>
              <a:t xml:space="preserve"> </a:t>
            </a:r>
            <a:r>
              <a:rPr sz="1650" b="1" spc="150" dirty="0">
                <a:solidFill>
                  <a:srgbClr val="006646"/>
                </a:solidFill>
                <a:latin typeface="Times New Roman"/>
                <a:cs typeface="Times New Roman"/>
              </a:rPr>
              <a:t>Insight</a:t>
            </a:r>
            <a:endParaRPr sz="1650">
              <a:latin typeface="Times New Roman"/>
              <a:cs typeface="Times New Roman"/>
            </a:endParaRPr>
          </a:p>
          <a:p>
            <a:pPr marL="12700" marR="5080">
              <a:lnSpc>
                <a:spcPct val="132700"/>
              </a:lnSpc>
              <a:spcBef>
                <a:spcPts val="940"/>
              </a:spcBef>
            </a:pPr>
            <a:r>
              <a:rPr sz="1350" b="1" dirty="0">
                <a:solidFill>
                  <a:srgbClr val="4B4A4A"/>
                </a:solidFill>
                <a:latin typeface="Arial"/>
                <a:cs typeface="Arial"/>
              </a:rPr>
              <a:t>North</a:t>
            </a:r>
            <a:r>
              <a:rPr sz="1350" b="1" spc="-10" dirty="0">
                <a:solidFill>
                  <a:srgbClr val="4B4A4A"/>
                </a:solidFill>
                <a:latin typeface="Arial"/>
                <a:cs typeface="Arial"/>
              </a:rPr>
              <a:t xml:space="preserve"> Region </a:t>
            </a:r>
            <a:r>
              <a:rPr sz="1350" b="1" dirty="0">
                <a:solidFill>
                  <a:srgbClr val="4B4A4A"/>
                </a:solidFill>
                <a:latin typeface="Arial"/>
                <a:cs typeface="Arial"/>
              </a:rPr>
              <a:t>leads</a:t>
            </a:r>
            <a:r>
              <a:rPr sz="1350" b="1" spc="-10" dirty="0">
                <a:solidFill>
                  <a:srgbClr val="4B4A4A"/>
                </a:solidFill>
                <a:latin typeface="Arial"/>
                <a:cs typeface="Arial"/>
              </a:rPr>
              <a:t xml:space="preserve"> </a:t>
            </a:r>
            <a:r>
              <a:rPr sz="1350" b="1" dirty="0">
                <a:solidFill>
                  <a:srgbClr val="4B4A4A"/>
                </a:solidFill>
                <a:latin typeface="Arial"/>
                <a:cs typeface="Arial"/>
              </a:rPr>
              <a:t>with</a:t>
            </a:r>
            <a:r>
              <a:rPr sz="1350" b="1" spc="-5" dirty="0">
                <a:solidFill>
                  <a:srgbClr val="4B4A4A"/>
                </a:solidFill>
                <a:latin typeface="Arial"/>
                <a:cs typeface="Arial"/>
              </a:rPr>
              <a:t xml:space="preserve"> </a:t>
            </a:r>
            <a:r>
              <a:rPr sz="1350" b="1" spc="-20" dirty="0">
                <a:solidFill>
                  <a:srgbClr val="4B4A4A"/>
                </a:solidFill>
                <a:latin typeface="Arial"/>
                <a:cs typeface="Arial"/>
              </a:rPr>
              <a:t>₹10.1M</a:t>
            </a:r>
            <a:r>
              <a:rPr sz="1350" b="1" spc="25" dirty="0">
                <a:solidFill>
                  <a:srgbClr val="4B4A4A"/>
                </a:solidFill>
                <a:latin typeface="Arial"/>
                <a:cs typeface="Arial"/>
              </a:rPr>
              <a:t xml:space="preserve"> </a:t>
            </a:r>
            <a:r>
              <a:rPr sz="1350" spc="605" dirty="0">
                <a:solidFill>
                  <a:srgbClr val="4B4A4A"/>
                </a:solidFill>
                <a:latin typeface="Verdana"/>
                <a:cs typeface="Verdana"/>
              </a:rPr>
              <a:t>—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the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highest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 xml:space="preserve">revenue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contributor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among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all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four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regions.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The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gap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between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North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25" dirty="0">
                <a:solidFill>
                  <a:srgbClr val="4B4A4A"/>
                </a:solidFill>
                <a:latin typeface="Verdana"/>
                <a:cs typeface="Verdana"/>
              </a:rPr>
              <a:t xml:space="preserve">and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East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40" dirty="0">
                <a:solidFill>
                  <a:srgbClr val="4B4A4A"/>
                </a:solidFill>
                <a:latin typeface="Verdana"/>
                <a:cs typeface="Verdana"/>
              </a:rPr>
              <a:t>is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just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210" dirty="0">
                <a:solidFill>
                  <a:srgbClr val="4B4A4A"/>
                </a:solidFill>
                <a:latin typeface="Verdana"/>
                <a:cs typeface="Verdana"/>
              </a:rPr>
              <a:t>₹0.6M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indicating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45" dirty="0">
                <a:solidFill>
                  <a:srgbClr val="006646"/>
                </a:solidFill>
                <a:latin typeface="Verdana"/>
                <a:cs typeface="Verdana"/>
              </a:rPr>
              <a:t>well-</a:t>
            </a:r>
            <a:r>
              <a:rPr sz="1350" spc="-70" dirty="0">
                <a:solidFill>
                  <a:srgbClr val="006646"/>
                </a:solidFill>
                <a:latin typeface="Verdana"/>
                <a:cs typeface="Verdana"/>
              </a:rPr>
              <a:t>distributed</a:t>
            </a:r>
            <a:r>
              <a:rPr sz="1350" spc="-100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350" spc="-95" dirty="0">
                <a:solidFill>
                  <a:srgbClr val="006646"/>
                </a:solidFill>
                <a:latin typeface="Verdana"/>
                <a:cs typeface="Verdana"/>
              </a:rPr>
              <a:t xml:space="preserve">revenue </a:t>
            </a:r>
            <a:r>
              <a:rPr sz="1350" spc="-20" dirty="0">
                <a:solidFill>
                  <a:srgbClr val="006646"/>
                </a:solidFill>
                <a:latin typeface="Verdana"/>
                <a:cs typeface="Verdana"/>
              </a:rPr>
              <a:t xml:space="preserve">base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with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minimal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regional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disparity.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934075" y="3867150"/>
            <a:ext cx="4905375" cy="942975"/>
            <a:chOff x="5934075" y="3867150"/>
            <a:chExt cx="4905375" cy="942975"/>
          </a:xfrm>
        </p:grpSpPr>
        <p:sp>
          <p:nvSpPr>
            <p:cNvPr id="23" name="object 23"/>
            <p:cNvSpPr/>
            <p:nvPr/>
          </p:nvSpPr>
          <p:spPr>
            <a:xfrm>
              <a:off x="5934075" y="3867150"/>
              <a:ext cx="4905375" cy="942975"/>
            </a:xfrm>
            <a:custGeom>
              <a:avLst/>
              <a:gdLst/>
              <a:ahLst/>
              <a:cxnLst/>
              <a:rect l="l" t="t" r="r" b="b"/>
              <a:pathLst>
                <a:path w="4905375" h="942975">
                  <a:moveTo>
                    <a:pt x="4785233" y="0"/>
                  </a:moveTo>
                  <a:lnTo>
                    <a:pt x="120142" y="0"/>
                  </a:lnTo>
                  <a:lnTo>
                    <a:pt x="111785" y="825"/>
                  </a:lnTo>
                  <a:lnTo>
                    <a:pt x="71577" y="13017"/>
                  </a:lnTo>
                  <a:lnTo>
                    <a:pt x="31686" y="43637"/>
                  </a:lnTo>
                  <a:lnTo>
                    <a:pt x="6553" y="87185"/>
                  </a:lnTo>
                  <a:lnTo>
                    <a:pt x="0" y="120142"/>
                  </a:lnTo>
                  <a:lnTo>
                    <a:pt x="0" y="814387"/>
                  </a:lnTo>
                  <a:lnTo>
                    <a:pt x="0" y="822833"/>
                  </a:lnTo>
                  <a:lnTo>
                    <a:pt x="13017" y="871397"/>
                  </a:lnTo>
                  <a:lnTo>
                    <a:pt x="43637" y="911275"/>
                  </a:lnTo>
                  <a:lnTo>
                    <a:pt x="87172" y="936421"/>
                  </a:lnTo>
                  <a:lnTo>
                    <a:pt x="120142" y="942975"/>
                  </a:lnTo>
                  <a:lnTo>
                    <a:pt x="4785233" y="942975"/>
                  </a:lnTo>
                  <a:lnTo>
                    <a:pt x="4833797" y="929957"/>
                  </a:lnTo>
                  <a:lnTo>
                    <a:pt x="4873688" y="899337"/>
                  </a:lnTo>
                  <a:lnTo>
                    <a:pt x="4898821" y="855789"/>
                  </a:lnTo>
                  <a:lnTo>
                    <a:pt x="4905375" y="822833"/>
                  </a:lnTo>
                  <a:lnTo>
                    <a:pt x="4905375" y="120142"/>
                  </a:lnTo>
                  <a:lnTo>
                    <a:pt x="4892357" y="71577"/>
                  </a:lnTo>
                  <a:lnTo>
                    <a:pt x="4861737" y="31686"/>
                  </a:lnTo>
                  <a:lnTo>
                    <a:pt x="4818202" y="6553"/>
                  </a:lnTo>
                  <a:lnTo>
                    <a:pt x="4793589" y="825"/>
                  </a:lnTo>
                  <a:lnTo>
                    <a:pt x="4785233" y="0"/>
                  </a:lnTo>
                  <a:close/>
                </a:path>
              </a:pathLst>
            </a:custGeom>
            <a:solidFill>
              <a:srgbClr val="B5D6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6962" y="4124324"/>
              <a:ext cx="171450" cy="17145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478142" y="4003040"/>
            <a:ext cx="368300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75" dirty="0">
                <a:latin typeface="Verdana"/>
                <a:cs typeface="Verdana"/>
              </a:rPr>
              <a:t>North</a:t>
            </a:r>
            <a:r>
              <a:rPr sz="1350" spc="-110" dirty="0">
                <a:latin typeface="Verdana"/>
                <a:cs typeface="Verdana"/>
              </a:rPr>
              <a:t xml:space="preserve"> </a:t>
            </a:r>
            <a:r>
              <a:rPr sz="1350" spc="-65" dirty="0">
                <a:latin typeface="Verdana"/>
                <a:cs typeface="Verdana"/>
              </a:rPr>
              <a:t>contributes</a:t>
            </a:r>
            <a:r>
              <a:rPr sz="1350" spc="-110" dirty="0">
                <a:latin typeface="Verdana"/>
                <a:cs typeface="Verdana"/>
              </a:rPr>
              <a:t xml:space="preserve"> </a:t>
            </a:r>
            <a:r>
              <a:rPr sz="1350" spc="-180" dirty="0">
                <a:latin typeface="Verdana"/>
                <a:cs typeface="Verdana"/>
              </a:rPr>
              <a:t>25.7%</a:t>
            </a:r>
            <a:r>
              <a:rPr sz="1350" spc="-105" dirty="0">
                <a:latin typeface="Verdana"/>
                <a:cs typeface="Verdana"/>
              </a:rPr>
              <a:t xml:space="preserve"> </a:t>
            </a:r>
            <a:r>
              <a:rPr sz="1350" spc="-30" dirty="0">
                <a:latin typeface="Verdana"/>
                <a:cs typeface="Verdana"/>
              </a:rPr>
              <a:t>of</a:t>
            </a:r>
            <a:r>
              <a:rPr sz="1350" spc="-110" dirty="0">
                <a:latin typeface="Verdana"/>
                <a:cs typeface="Verdana"/>
              </a:rPr>
              <a:t xml:space="preserve"> </a:t>
            </a:r>
            <a:r>
              <a:rPr sz="1350" spc="-60" dirty="0">
                <a:latin typeface="Verdana"/>
                <a:cs typeface="Verdana"/>
              </a:rPr>
              <a:t>total</a:t>
            </a:r>
            <a:r>
              <a:rPr sz="1350" spc="-110" dirty="0">
                <a:latin typeface="Verdana"/>
                <a:cs typeface="Verdana"/>
              </a:rPr>
              <a:t xml:space="preserve"> </a:t>
            </a:r>
            <a:r>
              <a:rPr sz="1350" spc="-95" dirty="0">
                <a:latin typeface="Verdana"/>
                <a:cs typeface="Verdana"/>
              </a:rPr>
              <a:t>revenue</a:t>
            </a:r>
            <a:r>
              <a:rPr sz="1350" spc="-105" dirty="0">
                <a:latin typeface="Verdana"/>
                <a:cs typeface="Verdana"/>
              </a:rPr>
              <a:t xml:space="preserve"> </a:t>
            </a:r>
            <a:r>
              <a:rPr sz="1350" spc="0" dirty="0">
                <a:latin typeface="Verdana"/>
                <a:cs typeface="Verdana"/>
              </a:rPr>
              <a:t>—</a:t>
            </a:r>
            <a:r>
              <a:rPr sz="1350" spc="-110" dirty="0">
                <a:latin typeface="Verdana"/>
                <a:cs typeface="Verdana"/>
              </a:rPr>
              <a:t xml:space="preserve"> </a:t>
            </a:r>
            <a:r>
              <a:rPr sz="1350" spc="-25" dirty="0">
                <a:latin typeface="Verdana"/>
                <a:cs typeface="Verdana"/>
              </a:rPr>
              <a:t xml:space="preserve">the </a:t>
            </a:r>
            <a:r>
              <a:rPr sz="1350" spc="-65" dirty="0">
                <a:latin typeface="Verdana"/>
                <a:cs typeface="Verdana"/>
              </a:rPr>
              <a:t>strongest</a:t>
            </a:r>
            <a:r>
              <a:rPr sz="1350" spc="-55" dirty="0">
                <a:latin typeface="Verdana"/>
                <a:cs typeface="Verdana"/>
              </a:rPr>
              <a:t xml:space="preserve"> single-</a:t>
            </a:r>
            <a:r>
              <a:rPr sz="1350" spc="-80" dirty="0">
                <a:latin typeface="Verdana"/>
                <a:cs typeface="Verdana"/>
              </a:rPr>
              <a:t>region</a:t>
            </a:r>
            <a:r>
              <a:rPr sz="1350" spc="-55" dirty="0">
                <a:latin typeface="Verdana"/>
                <a:cs typeface="Verdana"/>
              </a:rPr>
              <a:t xml:space="preserve"> </a:t>
            </a:r>
            <a:r>
              <a:rPr sz="1350" spc="-10" dirty="0">
                <a:latin typeface="Verdana"/>
                <a:cs typeface="Verdana"/>
              </a:rPr>
              <a:t>share.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11430000" cy="7477125"/>
          </a:xfrm>
          <a:custGeom>
            <a:avLst/>
            <a:gdLst/>
            <a:ahLst/>
            <a:cxnLst/>
            <a:rect l="l" t="t" r="r" b="b"/>
            <a:pathLst>
              <a:path w="11430000" h="7477125">
                <a:moveTo>
                  <a:pt x="11430000" y="0"/>
                </a:moveTo>
                <a:lnTo>
                  <a:pt x="0" y="0"/>
                </a:lnTo>
                <a:lnTo>
                  <a:pt x="0" y="7477125"/>
                </a:lnTo>
                <a:lnTo>
                  <a:pt x="11430000" y="74771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E5F9F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7375" y="482600"/>
            <a:ext cx="712470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330" dirty="0">
                <a:latin typeface="Calibri"/>
                <a:cs typeface="Calibri"/>
              </a:rPr>
              <a:t>Revenue</a:t>
            </a:r>
            <a:r>
              <a:rPr spc="15" dirty="0">
                <a:latin typeface="Calibri"/>
                <a:cs typeface="Calibri"/>
              </a:rPr>
              <a:t xml:space="preserve"> </a:t>
            </a:r>
            <a:r>
              <a:rPr spc="290" dirty="0">
                <a:latin typeface="Calibri"/>
                <a:cs typeface="Calibri"/>
              </a:rPr>
              <a:t>Contribution</a:t>
            </a:r>
            <a:r>
              <a:rPr spc="20" dirty="0">
                <a:latin typeface="Calibri"/>
                <a:cs typeface="Calibri"/>
              </a:rPr>
              <a:t xml:space="preserve"> </a:t>
            </a:r>
            <a:r>
              <a:rPr spc="315" dirty="0">
                <a:latin typeface="Calibri"/>
                <a:cs typeface="Calibri"/>
              </a:rPr>
              <a:t>by</a:t>
            </a:r>
            <a:r>
              <a:rPr spc="20" dirty="0">
                <a:latin typeface="Calibri"/>
                <a:cs typeface="Calibri"/>
              </a:rPr>
              <a:t xml:space="preserve"> </a:t>
            </a:r>
            <a:r>
              <a:rPr spc="310" dirty="0">
                <a:latin typeface="Calibri"/>
                <a:cs typeface="Calibri"/>
              </a:rPr>
              <a:t>Region</a:t>
            </a:r>
          </a:p>
        </p:txBody>
      </p:sp>
      <p:sp>
        <p:nvSpPr>
          <p:cNvPr id="4" name="object 4"/>
          <p:cNvSpPr/>
          <p:nvPr/>
        </p:nvSpPr>
        <p:spPr>
          <a:xfrm>
            <a:off x="604837" y="1357312"/>
            <a:ext cx="3695700" cy="333375"/>
          </a:xfrm>
          <a:custGeom>
            <a:avLst/>
            <a:gdLst/>
            <a:ahLst/>
            <a:cxnLst/>
            <a:rect l="l" t="t" r="r" b="b"/>
            <a:pathLst>
              <a:path w="3695700" h="333375">
                <a:moveTo>
                  <a:pt x="0" y="235267"/>
                </a:moveTo>
                <a:lnTo>
                  <a:pt x="0" y="98107"/>
                </a:lnTo>
                <a:lnTo>
                  <a:pt x="0" y="91668"/>
                </a:lnTo>
                <a:lnTo>
                  <a:pt x="629" y="85280"/>
                </a:lnTo>
                <a:lnTo>
                  <a:pt x="1884" y="78968"/>
                </a:lnTo>
                <a:lnTo>
                  <a:pt x="3140" y="72656"/>
                </a:lnTo>
                <a:lnTo>
                  <a:pt x="5001" y="66509"/>
                </a:lnTo>
                <a:lnTo>
                  <a:pt x="7466" y="60566"/>
                </a:lnTo>
                <a:lnTo>
                  <a:pt x="9931" y="54610"/>
                </a:lnTo>
                <a:lnTo>
                  <a:pt x="28733" y="28740"/>
                </a:lnTo>
                <a:lnTo>
                  <a:pt x="33287" y="24180"/>
                </a:lnTo>
                <a:lnTo>
                  <a:pt x="38243" y="20116"/>
                </a:lnTo>
                <a:lnTo>
                  <a:pt x="43601" y="16535"/>
                </a:lnTo>
                <a:lnTo>
                  <a:pt x="48959" y="12954"/>
                </a:lnTo>
                <a:lnTo>
                  <a:pt x="54610" y="9931"/>
                </a:lnTo>
                <a:lnTo>
                  <a:pt x="60563" y="7467"/>
                </a:lnTo>
                <a:lnTo>
                  <a:pt x="66516" y="5003"/>
                </a:lnTo>
                <a:lnTo>
                  <a:pt x="72647" y="3136"/>
                </a:lnTo>
                <a:lnTo>
                  <a:pt x="78968" y="1879"/>
                </a:lnTo>
                <a:lnTo>
                  <a:pt x="85283" y="622"/>
                </a:lnTo>
                <a:lnTo>
                  <a:pt x="91663" y="0"/>
                </a:lnTo>
                <a:lnTo>
                  <a:pt x="98107" y="0"/>
                </a:lnTo>
                <a:lnTo>
                  <a:pt x="3597592" y="0"/>
                </a:lnTo>
                <a:lnTo>
                  <a:pt x="3604031" y="0"/>
                </a:lnTo>
                <a:lnTo>
                  <a:pt x="3610419" y="622"/>
                </a:lnTo>
                <a:lnTo>
                  <a:pt x="3616731" y="1879"/>
                </a:lnTo>
                <a:lnTo>
                  <a:pt x="3623056" y="3136"/>
                </a:lnTo>
                <a:lnTo>
                  <a:pt x="3629190" y="5003"/>
                </a:lnTo>
                <a:lnTo>
                  <a:pt x="3635133" y="7467"/>
                </a:lnTo>
                <a:lnTo>
                  <a:pt x="3641090" y="9931"/>
                </a:lnTo>
                <a:lnTo>
                  <a:pt x="3646741" y="12954"/>
                </a:lnTo>
                <a:lnTo>
                  <a:pt x="3652100" y="16535"/>
                </a:lnTo>
                <a:lnTo>
                  <a:pt x="3657460" y="20116"/>
                </a:lnTo>
                <a:lnTo>
                  <a:pt x="3662413" y="24180"/>
                </a:lnTo>
                <a:lnTo>
                  <a:pt x="3666972" y="28740"/>
                </a:lnTo>
                <a:lnTo>
                  <a:pt x="3671519" y="33286"/>
                </a:lnTo>
                <a:lnTo>
                  <a:pt x="3688232" y="60566"/>
                </a:lnTo>
                <a:lnTo>
                  <a:pt x="3690696" y="66509"/>
                </a:lnTo>
                <a:lnTo>
                  <a:pt x="3692563" y="72656"/>
                </a:lnTo>
                <a:lnTo>
                  <a:pt x="3693820" y="78968"/>
                </a:lnTo>
                <a:lnTo>
                  <a:pt x="3695065" y="85280"/>
                </a:lnTo>
                <a:lnTo>
                  <a:pt x="3695700" y="91668"/>
                </a:lnTo>
                <a:lnTo>
                  <a:pt x="3695700" y="98107"/>
                </a:lnTo>
                <a:lnTo>
                  <a:pt x="3695700" y="235267"/>
                </a:lnTo>
                <a:lnTo>
                  <a:pt x="3695700" y="241706"/>
                </a:lnTo>
                <a:lnTo>
                  <a:pt x="3695065" y="248094"/>
                </a:lnTo>
                <a:lnTo>
                  <a:pt x="3693820" y="254406"/>
                </a:lnTo>
                <a:lnTo>
                  <a:pt x="3692563" y="260731"/>
                </a:lnTo>
                <a:lnTo>
                  <a:pt x="3690696" y="266865"/>
                </a:lnTo>
                <a:lnTo>
                  <a:pt x="3688232" y="272808"/>
                </a:lnTo>
                <a:lnTo>
                  <a:pt x="3685768" y="278765"/>
                </a:lnTo>
                <a:lnTo>
                  <a:pt x="3682746" y="284416"/>
                </a:lnTo>
                <a:lnTo>
                  <a:pt x="3679164" y="289775"/>
                </a:lnTo>
                <a:lnTo>
                  <a:pt x="3675583" y="295135"/>
                </a:lnTo>
                <a:lnTo>
                  <a:pt x="3646741" y="320421"/>
                </a:lnTo>
                <a:lnTo>
                  <a:pt x="3635133" y="325907"/>
                </a:lnTo>
                <a:lnTo>
                  <a:pt x="3629190" y="328371"/>
                </a:lnTo>
                <a:lnTo>
                  <a:pt x="3623056" y="330238"/>
                </a:lnTo>
                <a:lnTo>
                  <a:pt x="3616731" y="331482"/>
                </a:lnTo>
                <a:lnTo>
                  <a:pt x="3610419" y="332752"/>
                </a:lnTo>
                <a:lnTo>
                  <a:pt x="3604031" y="333375"/>
                </a:lnTo>
                <a:lnTo>
                  <a:pt x="3597592" y="333375"/>
                </a:lnTo>
                <a:lnTo>
                  <a:pt x="98107" y="333375"/>
                </a:lnTo>
                <a:lnTo>
                  <a:pt x="91663" y="333375"/>
                </a:lnTo>
                <a:lnTo>
                  <a:pt x="85283" y="332752"/>
                </a:lnTo>
                <a:lnTo>
                  <a:pt x="78968" y="331482"/>
                </a:lnTo>
                <a:lnTo>
                  <a:pt x="72647" y="330238"/>
                </a:lnTo>
                <a:lnTo>
                  <a:pt x="66516" y="328371"/>
                </a:lnTo>
                <a:lnTo>
                  <a:pt x="60563" y="325907"/>
                </a:lnTo>
                <a:lnTo>
                  <a:pt x="54610" y="323443"/>
                </a:lnTo>
                <a:lnTo>
                  <a:pt x="48959" y="320421"/>
                </a:lnTo>
                <a:lnTo>
                  <a:pt x="43601" y="316839"/>
                </a:lnTo>
                <a:lnTo>
                  <a:pt x="38243" y="313258"/>
                </a:lnTo>
                <a:lnTo>
                  <a:pt x="33287" y="309194"/>
                </a:lnTo>
                <a:lnTo>
                  <a:pt x="28733" y="304634"/>
                </a:lnTo>
                <a:lnTo>
                  <a:pt x="24179" y="300088"/>
                </a:lnTo>
                <a:lnTo>
                  <a:pt x="20111" y="295135"/>
                </a:lnTo>
                <a:lnTo>
                  <a:pt x="16535" y="289775"/>
                </a:lnTo>
                <a:lnTo>
                  <a:pt x="12952" y="284416"/>
                </a:lnTo>
                <a:lnTo>
                  <a:pt x="9931" y="278765"/>
                </a:lnTo>
                <a:lnTo>
                  <a:pt x="7466" y="272808"/>
                </a:lnTo>
                <a:lnTo>
                  <a:pt x="5001" y="266865"/>
                </a:lnTo>
                <a:lnTo>
                  <a:pt x="3140" y="260731"/>
                </a:lnTo>
                <a:lnTo>
                  <a:pt x="1884" y="254406"/>
                </a:lnTo>
                <a:lnTo>
                  <a:pt x="629" y="248094"/>
                </a:lnTo>
                <a:lnTo>
                  <a:pt x="0" y="241706"/>
                </a:lnTo>
                <a:lnTo>
                  <a:pt x="0" y="235267"/>
                </a:lnTo>
                <a:close/>
              </a:path>
            </a:pathLst>
          </a:custGeom>
          <a:ln w="9525">
            <a:solidFill>
              <a:srgbClr val="006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9740" y="1412240"/>
            <a:ext cx="350964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25" dirty="0">
                <a:solidFill>
                  <a:srgbClr val="006646"/>
                </a:solidFill>
                <a:latin typeface="Verdana"/>
                <a:cs typeface="Verdana"/>
              </a:rPr>
              <a:t>FORMULA:</a:t>
            </a:r>
            <a:r>
              <a:rPr sz="1050" spc="-75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050" spc="-50" dirty="0">
                <a:solidFill>
                  <a:srgbClr val="006646"/>
                </a:solidFill>
                <a:latin typeface="Verdana"/>
                <a:cs typeface="Verdana"/>
              </a:rPr>
              <a:t>REGION</a:t>
            </a:r>
            <a:r>
              <a:rPr sz="1050" spc="-75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050" spc="-10" dirty="0">
                <a:solidFill>
                  <a:srgbClr val="006646"/>
                </a:solidFill>
                <a:latin typeface="Verdana"/>
                <a:cs typeface="Verdana"/>
              </a:rPr>
              <a:t>REVENUE</a:t>
            </a:r>
            <a:r>
              <a:rPr sz="1050" spc="-70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050" spc="-285" dirty="0">
                <a:solidFill>
                  <a:srgbClr val="006646"/>
                </a:solidFill>
                <a:latin typeface="Verdana"/>
                <a:cs typeface="Verdana"/>
              </a:rPr>
              <a:t>÷</a:t>
            </a:r>
            <a:r>
              <a:rPr sz="1050" spc="-75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050" spc="-70" dirty="0">
                <a:solidFill>
                  <a:srgbClr val="006646"/>
                </a:solidFill>
                <a:latin typeface="Verdana"/>
                <a:cs typeface="Verdana"/>
              </a:rPr>
              <a:t xml:space="preserve">TOTAL </a:t>
            </a:r>
            <a:r>
              <a:rPr sz="1050" spc="-10" dirty="0">
                <a:solidFill>
                  <a:srgbClr val="006646"/>
                </a:solidFill>
                <a:latin typeface="Verdana"/>
                <a:cs typeface="Verdana"/>
              </a:rPr>
              <a:t>REVENUE</a:t>
            </a:r>
            <a:r>
              <a:rPr sz="1050" spc="-75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050" spc="-330" dirty="0">
                <a:solidFill>
                  <a:srgbClr val="006646"/>
                </a:solidFill>
                <a:latin typeface="Verdana"/>
                <a:cs typeface="Verdana"/>
              </a:rPr>
              <a:t>×</a:t>
            </a:r>
            <a:r>
              <a:rPr sz="1050" spc="-75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050" spc="-25" dirty="0">
                <a:solidFill>
                  <a:srgbClr val="006646"/>
                </a:solidFill>
                <a:latin typeface="Verdana"/>
                <a:cs typeface="Verdana"/>
              </a:rPr>
              <a:t>100</a:t>
            </a:r>
            <a:endParaRPr sz="105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6720" y="2172678"/>
            <a:ext cx="3359103" cy="335883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236453" y="3260141"/>
            <a:ext cx="1151890" cy="213360"/>
            <a:chOff x="4236453" y="3260141"/>
            <a:chExt cx="1151890" cy="213360"/>
          </a:xfrm>
        </p:grpSpPr>
        <p:sp>
          <p:nvSpPr>
            <p:cNvPr id="8" name="object 8"/>
            <p:cNvSpPr/>
            <p:nvPr/>
          </p:nvSpPr>
          <p:spPr>
            <a:xfrm>
              <a:off x="4236453" y="3260141"/>
              <a:ext cx="1151890" cy="213360"/>
            </a:xfrm>
            <a:custGeom>
              <a:avLst/>
              <a:gdLst/>
              <a:ahLst/>
              <a:cxnLst/>
              <a:rect l="l" t="t" r="r" b="b"/>
              <a:pathLst>
                <a:path w="1151889" h="213360">
                  <a:moveTo>
                    <a:pt x="1045057" y="0"/>
                  </a:moveTo>
                  <a:lnTo>
                    <a:pt x="106629" y="0"/>
                  </a:lnTo>
                  <a:lnTo>
                    <a:pt x="96127" y="507"/>
                  </a:lnTo>
                  <a:lnTo>
                    <a:pt x="56316" y="12603"/>
                  </a:lnTo>
                  <a:lnTo>
                    <a:pt x="24161" y="39018"/>
                  </a:lnTo>
                  <a:lnTo>
                    <a:pt x="4564" y="75725"/>
                  </a:lnTo>
                  <a:lnTo>
                    <a:pt x="0" y="106641"/>
                  </a:lnTo>
                  <a:lnTo>
                    <a:pt x="507" y="117143"/>
                  </a:lnTo>
                  <a:lnTo>
                    <a:pt x="12603" y="156954"/>
                  </a:lnTo>
                  <a:lnTo>
                    <a:pt x="39015" y="189109"/>
                  </a:lnTo>
                  <a:lnTo>
                    <a:pt x="75725" y="208706"/>
                  </a:lnTo>
                  <a:lnTo>
                    <a:pt x="106629" y="213271"/>
                  </a:lnTo>
                  <a:lnTo>
                    <a:pt x="1045057" y="213271"/>
                  </a:lnTo>
                  <a:lnTo>
                    <a:pt x="1085862" y="205155"/>
                  </a:lnTo>
                  <a:lnTo>
                    <a:pt x="1120457" y="182041"/>
                  </a:lnTo>
                  <a:lnTo>
                    <a:pt x="1143571" y="147446"/>
                  </a:lnTo>
                  <a:lnTo>
                    <a:pt x="1151699" y="106641"/>
                  </a:lnTo>
                  <a:lnTo>
                    <a:pt x="1151190" y="96133"/>
                  </a:lnTo>
                  <a:lnTo>
                    <a:pt x="1139082" y="56312"/>
                  </a:lnTo>
                  <a:lnTo>
                    <a:pt x="1112673" y="24161"/>
                  </a:lnTo>
                  <a:lnTo>
                    <a:pt x="1075966" y="4564"/>
                  </a:lnTo>
                  <a:lnTo>
                    <a:pt x="104505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36453" y="3260141"/>
              <a:ext cx="1151890" cy="213360"/>
            </a:xfrm>
            <a:custGeom>
              <a:avLst/>
              <a:gdLst/>
              <a:ahLst/>
              <a:cxnLst/>
              <a:rect l="l" t="t" r="r" b="b"/>
              <a:pathLst>
                <a:path w="1151889" h="213360">
                  <a:moveTo>
                    <a:pt x="1045057" y="0"/>
                  </a:moveTo>
                  <a:lnTo>
                    <a:pt x="106629" y="0"/>
                  </a:lnTo>
                  <a:lnTo>
                    <a:pt x="96127" y="507"/>
                  </a:lnTo>
                  <a:lnTo>
                    <a:pt x="56316" y="12603"/>
                  </a:lnTo>
                  <a:lnTo>
                    <a:pt x="24161" y="39018"/>
                  </a:lnTo>
                  <a:lnTo>
                    <a:pt x="4563" y="75730"/>
                  </a:lnTo>
                  <a:lnTo>
                    <a:pt x="0" y="106641"/>
                  </a:lnTo>
                  <a:lnTo>
                    <a:pt x="507" y="117143"/>
                  </a:lnTo>
                  <a:lnTo>
                    <a:pt x="12603" y="156954"/>
                  </a:lnTo>
                  <a:lnTo>
                    <a:pt x="39015" y="189109"/>
                  </a:lnTo>
                  <a:lnTo>
                    <a:pt x="75725" y="208706"/>
                  </a:lnTo>
                  <a:lnTo>
                    <a:pt x="106629" y="213271"/>
                  </a:lnTo>
                  <a:lnTo>
                    <a:pt x="1045057" y="213271"/>
                  </a:lnTo>
                  <a:lnTo>
                    <a:pt x="1085862" y="205155"/>
                  </a:lnTo>
                  <a:lnTo>
                    <a:pt x="1091246" y="202615"/>
                  </a:lnTo>
                  <a:lnTo>
                    <a:pt x="100329" y="202615"/>
                  </a:lnTo>
                  <a:lnTo>
                    <a:pt x="94094" y="201993"/>
                  </a:lnTo>
                  <a:lnTo>
                    <a:pt x="48069" y="182930"/>
                  </a:lnTo>
                  <a:lnTo>
                    <a:pt x="20383" y="149186"/>
                  </a:lnTo>
                  <a:lnTo>
                    <a:pt x="10655" y="112941"/>
                  </a:lnTo>
                  <a:lnTo>
                    <a:pt x="10655" y="100342"/>
                  </a:lnTo>
                  <a:lnTo>
                    <a:pt x="23329" y="58559"/>
                  </a:lnTo>
                  <a:lnTo>
                    <a:pt x="58546" y="23329"/>
                  </a:lnTo>
                  <a:lnTo>
                    <a:pt x="100329" y="10667"/>
                  </a:lnTo>
                  <a:lnTo>
                    <a:pt x="1091272" y="10667"/>
                  </a:lnTo>
                  <a:lnTo>
                    <a:pt x="1085862" y="8115"/>
                  </a:lnTo>
                  <a:lnTo>
                    <a:pt x="1075966" y="4564"/>
                  </a:lnTo>
                  <a:lnTo>
                    <a:pt x="1065864" y="2028"/>
                  </a:lnTo>
                  <a:lnTo>
                    <a:pt x="1055560" y="507"/>
                  </a:lnTo>
                  <a:lnTo>
                    <a:pt x="1045057" y="0"/>
                  </a:lnTo>
                  <a:close/>
                </a:path>
                <a:path w="1151889" h="213360">
                  <a:moveTo>
                    <a:pt x="1091272" y="10667"/>
                  </a:moveTo>
                  <a:lnTo>
                    <a:pt x="1051356" y="10667"/>
                  </a:lnTo>
                  <a:lnTo>
                    <a:pt x="1057605" y="11277"/>
                  </a:lnTo>
                  <a:lnTo>
                    <a:pt x="1069962" y="13728"/>
                  </a:lnTo>
                  <a:lnTo>
                    <a:pt x="1108468" y="34315"/>
                  </a:lnTo>
                  <a:lnTo>
                    <a:pt x="1136141" y="75730"/>
                  </a:lnTo>
                  <a:lnTo>
                    <a:pt x="1141031" y="100342"/>
                  </a:lnTo>
                  <a:lnTo>
                    <a:pt x="1141031" y="112941"/>
                  </a:lnTo>
                  <a:lnTo>
                    <a:pt x="1128356" y="154724"/>
                  </a:lnTo>
                  <a:lnTo>
                    <a:pt x="1093139" y="189941"/>
                  </a:lnTo>
                  <a:lnTo>
                    <a:pt x="1051356" y="202615"/>
                  </a:lnTo>
                  <a:lnTo>
                    <a:pt x="1091246" y="202615"/>
                  </a:lnTo>
                  <a:lnTo>
                    <a:pt x="1127524" y="174255"/>
                  </a:lnTo>
                  <a:lnTo>
                    <a:pt x="1147123" y="137545"/>
                  </a:lnTo>
                  <a:lnTo>
                    <a:pt x="1151699" y="106641"/>
                  </a:lnTo>
                  <a:lnTo>
                    <a:pt x="1151190" y="96133"/>
                  </a:lnTo>
                  <a:lnTo>
                    <a:pt x="1139082" y="56312"/>
                  </a:lnTo>
                  <a:lnTo>
                    <a:pt x="1112673" y="24161"/>
                  </a:lnTo>
                  <a:lnTo>
                    <a:pt x="1095375" y="12603"/>
                  </a:lnTo>
                  <a:lnTo>
                    <a:pt x="1091272" y="10667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445355" y="3270904"/>
            <a:ext cx="88328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solidFill>
                  <a:srgbClr val="4B4A4A"/>
                </a:solidFill>
                <a:latin typeface="Tahoma"/>
                <a:cs typeface="Tahoma"/>
              </a:rPr>
              <a:t>North</a:t>
            </a:r>
            <a:r>
              <a:rPr sz="900" spc="170" dirty="0">
                <a:solidFill>
                  <a:srgbClr val="4B4A4A"/>
                </a:solidFill>
                <a:latin typeface="Tahoma"/>
                <a:cs typeface="Tahoma"/>
              </a:rPr>
              <a:t xml:space="preserve"> </a:t>
            </a:r>
            <a:r>
              <a:rPr sz="900" dirty="0">
                <a:solidFill>
                  <a:srgbClr val="4B4A4A"/>
                </a:solidFill>
                <a:latin typeface="Tahoma"/>
                <a:cs typeface="Tahoma"/>
              </a:rPr>
              <a:t>·</a:t>
            </a:r>
            <a:r>
              <a:rPr sz="900" spc="170" dirty="0">
                <a:solidFill>
                  <a:srgbClr val="4B4A4A"/>
                </a:solidFill>
                <a:latin typeface="Tahoma"/>
                <a:cs typeface="Tahoma"/>
              </a:rPr>
              <a:t xml:space="preserve"> </a:t>
            </a:r>
            <a:r>
              <a:rPr sz="900" spc="-10" dirty="0">
                <a:solidFill>
                  <a:srgbClr val="4B4A4A"/>
                </a:solidFill>
                <a:latin typeface="Tahoma"/>
                <a:cs typeface="Tahoma"/>
              </a:rPr>
              <a:t>25.75%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36453" y="3558730"/>
            <a:ext cx="1162685" cy="203200"/>
            <a:chOff x="4236453" y="3558730"/>
            <a:chExt cx="1162685" cy="203200"/>
          </a:xfrm>
        </p:grpSpPr>
        <p:sp>
          <p:nvSpPr>
            <p:cNvPr id="12" name="object 12"/>
            <p:cNvSpPr/>
            <p:nvPr/>
          </p:nvSpPr>
          <p:spPr>
            <a:xfrm>
              <a:off x="4236453" y="3558730"/>
              <a:ext cx="1162685" cy="203200"/>
            </a:xfrm>
            <a:custGeom>
              <a:avLst/>
              <a:gdLst/>
              <a:ahLst/>
              <a:cxnLst/>
              <a:rect l="l" t="t" r="r" b="b"/>
              <a:pathLst>
                <a:path w="1162685" h="203200">
                  <a:moveTo>
                    <a:pt x="1061059" y="0"/>
                  </a:moveTo>
                  <a:lnTo>
                    <a:pt x="101307" y="0"/>
                  </a:lnTo>
                  <a:lnTo>
                    <a:pt x="91325" y="481"/>
                  </a:lnTo>
                  <a:lnTo>
                    <a:pt x="53500" y="11973"/>
                  </a:lnTo>
                  <a:lnTo>
                    <a:pt x="22951" y="37065"/>
                  </a:lnTo>
                  <a:lnTo>
                    <a:pt x="4334" y="71938"/>
                  </a:lnTo>
                  <a:lnTo>
                    <a:pt x="0" y="101307"/>
                  </a:lnTo>
                  <a:lnTo>
                    <a:pt x="481" y="111282"/>
                  </a:lnTo>
                  <a:lnTo>
                    <a:pt x="11973" y="149102"/>
                  </a:lnTo>
                  <a:lnTo>
                    <a:pt x="37065" y="179651"/>
                  </a:lnTo>
                  <a:lnTo>
                    <a:pt x="71938" y="198270"/>
                  </a:lnTo>
                  <a:lnTo>
                    <a:pt x="101307" y="202615"/>
                  </a:lnTo>
                  <a:lnTo>
                    <a:pt x="1061059" y="202615"/>
                  </a:lnTo>
                  <a:lnTo>
                    <a:pt x="1099819" y="194894"/>
                  </a:lnTo>
                  <a:lnTo>
                    <a:pt x="1132687" y="172935"/>
                  </a:lnTo>
                  <a:lnTo>
                    <a:pt x="1154645" y="140068"/>
                  </a:lnTo>
                  <a:lnTo>
                    <a:pt x="1162354" y="101307"/>
                  </a:lnTo>
                  <a:lnTo>
                    <a:pt x="1161873" y="91325"/>
                  </a:lnTo>
                  <a:lnTo>
                    <a:pt x="1150380" y="53500"/>
                  </a:lnTo>
                  <a:lnTo>
                    <a:pt x="1125289" y="22951"/>
                  </a:lnTo>
                  <a:lnTo>
                    <a:pt x="1090416" y="4334"/>
                  </a:lnTo>
                  <a:lnTo>
                    <a:pt x="1061059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36453" y="3558730"/>
              <a:ext cx="1162685" cy="203200"/>
            </a:xfrm>
            <a:custGeom>
              <a:avLst/>
              <a:gdLst/>
              <a:ahLst/>
              <a:cxnLst/>
              <a:rect l="l" t="t" r="r" b="b"/>
              <a:pathLst>
                <a:path w="1162685" h="203200">
                  <a:moveTo>
                    <a:pt x="1061059" y="0"/>
                  </a:moveTo>
                  <a:lnTo>
                    <a:pt x="101307" y="0"/>
                  </a:lnTo>
                  <a:lnTo>
                    <a:pt x="91325" y="481"/>
                  </a:lnTo>
                  <a:lnTo>
                    <a:pt x="53500" y="11973"/>
                  </a:lnTo>
                  <a:lnTo>
                    <a:pt x="22951" y="37065"/>
                  </a:lnTo>
                  <a:lnTo>
                    <a:pt x="4334" y="71938"/>
                  </a:lnTo>
                  <a:lnTo>
                    <a:pt x="0" y="101307"/>
                  </a:lnTo>
                  <a:lnTo>
                    <a:pt x="481" y="111282"/>
                  </a:lnTo>
                  <a:lnTo>
                    <a:pt x="1925" y="121069"/>
                  </a:lnTo>
                  <a:lnTo>
                    <a:pt x="4291" y="130492"/>
                  </a:lnTo>
                  <a:lnTo>
                    <a:pt x="4334" y="130665"/>
                  </a:lnTo>
                  <a:lnTo>
                    <a:pt x="22951" y="165537"/>
                  </a:lnTo>
                  <a:lnTo>
                    <a:pt x="53500" y="190629"/>
                  </a:lnTo>
                  <a:lnTo>
                    <a:pt x="91325" y="202132"/>
                  </a:lnTo>
                  <a:lnTo>
                    <a:pt x="101307" y="202615"/>
                  </a:lnTo>
                  <a:lnTo>
                    <a:pt x="1061059" y="202615"/>
                  </a:lnTo>
                  <a:lnTo>
                    <a:pt x="1099819" y="194894"/>
                  </a:lnTo>
                  <a:lnTo>
                    <a:pt x="1106061" y="191947"/>
                  </a:lnTo>
                  <a:lnTo>
                    <a:pt x="95351" y="191947"/>
                  </a:lnTo>
                  <a:lnTo>
                    <a:pt x="89458" y="191363"/>
                  </a:lnTo>
                  <a:lnTo>
                    <a:pt x="45999" y="173354"/>
                  </a:lnTo>
                  <a:lnTo>
                    <a:pt x="19837" y="141490"/>
                  </a:lnTo>
                  <a:lnTo>
                    <a:pt x="10655" y="107251"/>
                  </a:lnTo>
                  <a:lnTo>
                    <a:pt x="10655" y="95351"/>
                  </a:lnTo>
                  <a:lnTo>
                    <a:pt x="22631" y="55892"/>
                  </a:lnTo>
                  <a:lnTo>
                    <a:pt x="55892" y="22631"/>
                  </a:lnTo>
                  <a:lnTo>
                    <a:pt x="95351" y="10667"/>
                  </a:lnTo>
                  <a:lnTo>
                    <a:pt x="1106087" y="10667"/>
                  </a:lnTo>
                  <a:lnTo>
                    <a:pt x="1099819" y="7708"/>
                  </a:lnTo>
                  <a:lnTo>
                    <a:pt x="1090416" y="4334"/>
                  </a:lnTo>
                  <a:lnTo>
                    <a:pt x="1080820" y="1925"/>
                  </a:lnTo>
                  <a:lnTo>
                    <a:pt x="1071034" y="481"/>
                  </a:lnTo>
                  <a:lnTo>
                    <a:pt x="1061059" y="0"/>
                  </a:lnTo>
                  <a:close/>
                </a:path>
                <a:path w="1162685" h="203200">
                  <a:moveTo>
                    <a:pt x="1106087" y="10667"/>
                  </a:moveTo>
                  <a:lnTo>
                    <a:pt x="1067003" y="10667"/>
                  </a:lnTo>
                  <a:lnTo>
                    <a:pt x="1072895" y="11239"/>
                  </a:lnTo>
                  <a:lnTo>
                    <a:pt x="1084579" y="13563"/>
                  </a:lnTo>
                  <a:lnTo>
                    <a:pt x="1120940" y="33007"/>
                  </a:lnTo>
                  <a:lnTo>
                    <a:pt x="1147005" y="71938"/>
                  </a:lnTo>
                  <a:lnTo>
                    <a:pt x="1147076" y="72110"/>
                  </a:lnTo>
                  <a:lnTo>
                    <a:pt x="1148791" y="77787"/>
                  </a:lnTo>
                  <a:lnTo>
                    <a:pt x="1151115" y="89458"/>
                  </a:lnTo>
                  <a:lnTo>
                    <a:pt x="1151699" y="95351"/>
                  </a:lnTo>
                  <a:lnTo>
                    <a:pt x="1151699" y="107251"/>
                  </a:lnTo>
                  <a:lnTo>
                    <a:pt x="1139723" y="146710"/>
                  </a:lnTo>
                  <a:lnTo>
                    <a:pt x="1106462" y="179971"/>
                  </a:lnTo>
                  <a:lnTo>
                    <a:pt x="1067003" y="191947"/>
                  </a:lnTo>
                  <a:lnTo>
                    <a:pt x="1106061" y="191947"/>
                  </a:lnTo>
                  <a:lnTo>
                    <a:pt x="1139402" y="165537"/>
                  </a:lnTo>
                  <a:lnTo>
                    <a:pt x="1158020" y="130665"/>
                  </a:lnTo>
                  <a:lnTo>
                    <a:pt x="1162354" y="101307"/>
                  </a:lnTo>
                  <a:lnTo>
                    <a:pt x="1161873" y="91325"/>
                  </a:lnTo>
                  <a:lnTo>
                    <a:pt x="1150380" y="53500"/>
                  </a:lnTo>
                  <a:lnTo>
                    <a:pt x="1125289" y="22951"/>
                  </a:lnTo>
                  <a:lnTo>
                    <a:pt x="1108854" y="11973"/>
                  </a:lnTo>
                  <a:lnTo>
                    <a:pt x="1106087" y="10667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236453" y="3846652"/>
            <a:ext cx="1120140" cy="213360"/>
            <a:chOff x="4236453" y="3846652"/>
            <a:chExt cx="1120140" cy="213360"/>
          </a:xfrm>
        </p:grpSpPr>
        <p:sp>
          <p:nvSpPr>
            <p:cNvPr id="15" name="object 15"/>
            <p:cNvSpPr/>
            <p:nvPr/>
          </p:nvSpPr>
          <p:spPr>
            <a:xfrm>
              <a:off x="4236453" y="3846652"/>
              <a:ext cx="1120140" cy="213360"/>
            </a:xfrm>
            <a:custGeom>
              <a:avLst/>
              <a:gdLst/>
              <a:ahLst/>
              <a:cxnLst/>
              <a:rect l="l" t="t" r="r" b="b"/>
              <a:pathLst>
                <a:path w="1120139" h="213360">
                  <a:moveTo>
                    <a:pt x="1013066" y="0"/>
                  </a:moveTo>
                  <a:lnTo>
                    <a:pt x="106629" y="0"/>
                  </a:lnTo>
                  <a:lnTo>
                    <a:pt x="96127" y="507"/>
                  </a:lnTo>
                  <a:lnTo>
                    <a:pt x="56316" y="12603"/>
                  </a:lnTo>
                  <a:lnTo>
                    <a:pt x="24161" y="39018"/>
                  </a:lnTo>
                  <a:lnTo>
                    <a:pt x="4564" y="75725"/>
                  </a:lnTo>
                  <a:lnTo>
                    <a:pt x="0" y="106641"/>
                  </a:lnTo>
                  <a:lnTo>
                    <a:pt x="507" y="117143"/>
                  </a:lnTo>
                  <a:lnTo>
                    <a:pt x="12603" y="156954"/>
                  </a:lnTo>
                  <a:lnTo>
                    <a:pt x="39015" y="189109"/>
                  </a:lnTo>
                  <a:lnTo>
                    <a:pt x="75725" y="208708"/>
                  </a:lnTo>
                  <a:lnTo>
                    <a:pt x="106629" y="213283"/>
                  </a:lnTo>
                  <a:lnTo>
                    <a:pt x="1013066" y="213283"/>
                  </a:lnTo>
                  <a:lnTo>
                    <a:pt x="1053871" y="205155"/>
                  </a:lnTo>
                  <a:lnTo>
                    <a:pt x="1088466" y="182041"/>
                  </a:lnTo>
                  <a:lnTo>
                    <a:pt x="1111580" y="147446"/>
                  </a:lnTo>
                  <a:lnTo>
                    <a:pt x="1119708" y="106641"/>
                  </a:lnTo>
                  <a:lnTo>
                    <a:pt x="1119200" y="96133"/>
                  </a:lnTo>
                  <a:lnTo>
                    <a:pt x="1107093" y="56312"/>
                  </a:lnTo>
                  <a:lnTo>
                    <a:pt x="1080681" y="24161"/>
                  </a:lnTo>
                  <a:lnTo>
                    <a:pt x="1043970" y="4564"/>
                  </a:lnTo>
                  <a:lnTo>
                    <a:pt x="1013066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36453" y="3846652"/>
              <a:ext cx="1120140" cy="213360"/>
            </a:xfrm>
            <a:custGeom>
              <a:avLst/>
              <a:gdLst/>
              <a:ahLst/>
              <a:cxnLst/>
              <a:rect l="l" t="t" r="r" b="b"/>
              <a:pathLst>
                <a:path w="1120139" h="213360">
                  <a:moveTo>
                    <a:pt x="1013066" y="0"/>
                  </a:moveTo>
                  <a:lnTo>
                    <a:pt x="106629" y="0"/>
                  </a:lnTo>
                  <a:lnTo>
                    <a:pt x="96127" y="507"/>
                  </a:lnTo>
                  <a:lnTo>
                    <a:pt x="56316" y="12603"/>
                  </a:lnTo>
                  <a:lnTo>
                    <a:pt x="24161" y="39018"/>
                  </a:lnTo>
                  <a:lnTo>
                    <a:pt x="4563" y="75730"/>
                  </a:lnTo>
                  <a:lnTo>
                    <a:pt x="0" y="106641"/>
                  </a:lnTo>
                  <a:lnTo>
                    <a:pt x="507" y="117143"/>
                  </a:lnTo>
                  <a:lnTo>
                    <a:pt x="12603" y="156954"/>
                  </a:lnTo>
                  <a:lnTo>
                    <a:pt x="39015" y="189109"/>
                  </a:lnTo>
                  <a:lnTo>
                    <a:pt x="75725" y="208708"/>
                  </a:lnTo>
                  <a:lnTo>
                    <a:pt x="106629" y="213283"/>
                  </a:lnTo>
                  <a:lnTo>
                    <a:pt x="1013066" y="213283"/>
                  </a:lnTo>
                  <a:lnTo>
                    <a:pt x="1053871" y="205155"/>
                  </a:lnTo>
                  <a:lnTo>
                    <a:pt x="1059254" y="202615"/>
                  </a:lnTo>
                  <a:lnTo>
                    <a:pt x="100329" y="202615"/>
                  </a:lnTo>
                  <a:lnTo>
                    <a:pt x="94094" y="201993"/>
                  </a:lnTo>
                  <a:lnTo>
                    <a:pt x="48069" y="182930"/>
                  </a:lnTo>
                  <a:lnTo>
                    <a:pt x="20383" y="149186"/>
                  </a:lnTo>
                  <a:lnTo>
                    <a:pt x="10655" y="112941"/>
                  </a:lnTo>
                  <a:lnTo>
                    <a:pt x="10655" y="100342"/>
                  </a:lnTo>
                  <a:lnTo>
                    <a:pt x="23329" y="58559"/>
                  </a:lnTo>
                  <a:lnTo>
                    <a:pt x="58546" y="23329"/>
                  </a:lnTo>
                  <a:lnTo>
                    <a:pt x="100329" y="10667"/>
                  </a:lnTo>
                  <a:lnTo>
                    <a:pt x="1059281" y="10667"/>
                  </a:lnTo>
                  <a:lnTo>
                    <a:pt x="1053871" y="8115"/>
                  </a:lnTo>
                  <a:lnTo>
                    <a:pt x="1043970" y="4564"/>
                  </a:lnTo>
                  <a:lnTo>
                    <a:pt x="1033868" y="2028"/>
                  </a:lnTo>
                  <a:lnTo>
                    <a:pt x="1023567" y="507"/>
                  </a:lnTo>
                  <a:lnTo>
                    <a:pt x="1013066" y="0"/>
                  </a:lnTo>
                  <a:close/>
                </a:path>
                <a:path w="1120139" h="213360">
                  <a:moveTo>
                    <a:pt x="1059281" y="10667"/>
                  </a:moveTo>
                  <a:lnTo>
                    <a:pt x="1019365" y="10667"/>
                  </a:lnTo>
                  <a:lnTo>
                    <a:pt x="1025613" y="11277"/>
                  </a:lnTo>
                  <a:lnTo>
                    <a:pt x="1037970" y="13728"/>
                  </a:lnTo>
                  <a:lnTo>
                    <a:pt x="1076477" y="34315"/>
                  </a:lnTo>
                  <a:lnTo>
                    <a:pt x="1104150" y="75730"/>
                  </a:lnTo>
                  <a:lnTo>
                    <a:pt x="1109040" y="100342"/>
                  </a:lnTo>
                  <a:lnTo>
                    <a:pt x="1109040" y="112941"/>
                  </a:lnTo>
                  <a:lnTo>
                    <a:pt x="1096365" y="154724"/>
                  </a:lnTo>
                  <a:lnTo>
                    <a:pt x="1061148" y="189941"/>
                  </a:lnTo>
                  <a:lnTo>
                    <a:pt x="1019365" y="202615"/>
                  </a:lnTo>
                  <a:lnTo>
                    <a:pt x="1059254" y="202615"/>
                  </a:lnTo>
                  <a:lnTo>
                    <a:pt x="1095538" y="174255"/>
                  </a:lnTo>
                  <a:lnTo>
                    <a:pt x="1115137" y="137545"/>
                  </a:lnTo>
                  <a:lnTo>
                    <a:pt x="1119708" y="106641"/>
                  </a:lnTo>
                  <a:lnTo>
                    <a:pt x="1119200" y="96133"/>
                  </a:lnTo>
                  <a:lnTo>
                    <a:pt x="1107093" y="56312"/>
                  </a:lnTo>
                  <a:lnTo>
                    <a:pt x="1080681" y="24161"/>
                  </a:lnTo>
                  <a:lnTo>
                    <a:pt x="1063384" y="12603"/>
                  </a:lnTo>
                  <a:lnTo>
                    <a:pt x="1059281" y="10667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236453" y="4145242"/>
            <a:ext cx="1087755" cy="213360"/>
            <a:chOff x="4236453" y="4145242"/>
            <a:chExt cx="1087755" cy="213360"/>
          </a:xfrm>
        </p:grpSpPr>
        <p:sp>
          <p:nvSpPr>
            <p:cNvPr id="18" name="object 18"/>
            <p:cNvSpPr/>
            <p:nvPr/>
          </p:nvSpPr>
          <p:spPr>
            <a:xfrm>
              <a:off x="4236453" y="4145242"/>
              <a:ext cx="1087755" cy="213360"/>
            </a:xfrm>
            <a:custGeom>
              <a:avLst/>
              <a:gdLst/>
              <a:ahLst/>
              <a:cxnLst/>
              <a:rect l="l" t="t" r="r" b="b"/>
              <a:pathLst>
                <a:path w="1087754" h="213360">
                  <a:moveTo>
                    <a:pt x="981074" y="0"/>
                  </a:moveTo>
                  <a:lnTo>
                    <a:pt x="106629" y="0"/>
                  </a:lnTo>
                  <a:lnTo>
                    <a:pt x="96127" y="507"/>
                  </a:lnTo>
                  <a:lnTo>
                    <a:pt x="56316" y="12603"/>
                  </a:lnTo>
                  <a:lnTo>
                    <a:pt x="24161" y="39018"/>
                  </a:lnTo>
                  <a:lnTo>
                    <a:pt x="4564" y="75725"/>
                  </a:lnTo>
                  <a:lnTo>
                    <a:pt x="0" y="106641"/>
                  </a:lnTo>
                  <a:lnTo>
                    <a:pt x="507" y="117143"/>
                  </a:lnTo>
                  <a:lnTo>
                    <a:pt x="12603" y="156954"/>
                  </a:lnTo>
                  <a:lnTo>
                    <a:pt x="39015" y="189109"/>
                  </a:lnTo>
                  <a:lnTo>
                    <a:pt x="75725" y="208706"/>
                  </a:lnTo>
                  <a:lnTo>
                    <a:pt x="106629" y="213271"/>
                  </a:lnTo>
                  <a:lnTo>
                    <a:pt x="981074" y="213271"/>
                  </a:lnTo>
                  <a:lnTo>
                    <a:pt x="1021880" y="205155"/>
                  </a:lnTo>
                  <a:lnTo>
                    <a:pt x="1056474" y="182041"/>
                  </a:lnTo>
                  <a:lnTo>
                    <a:pt x="1079588" y="147446"/>
                  </a:lnTo>
                  <a:lnTo>
                    <a:pt x="1087704" y="106641"/>
                  </a:lnTo>
                  <a:lnTo>
                    <a:pt x="1087198" y="96133"/>
                  </a:lnTo>
                  <a:lnTo>
                    <a:pt x="1075102" y="56312"/>
                  </a:lnTo>
                  <a:lnTo>
                    <a:pt x="1048690" y="24161"/>
                  </a:lnTo>
                  <a:lnTo>
                    <a:pt x="1011978" y="4564"/>
                  </a:lnTo>
                  <a:lnTo>
                    <a:pt x="981074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36453" y="4145242"/>
              <a:ext cx="1087755" cy="213360"/>
            </a:xfrm>
            <a:custGeom>
              <a:avLst/>
              <a:gdLst/>
              <a:ahLst/>
              <a:cxnLst/>
              <a:rect l="l" t="t" r="r" b="b"/>
              <a:pathLst>
                <a:path w="1087754" h="213360">
                  <a:moveTo>
                    <a:pt x="981074" y="0"/>
                  </a:moveTo>
                  <a:lnTo>
                    <a:pt x="106629" y="0"/>
                  </a:lnTo>
                  <a:lnTo>
                    <a:pt x="96127" y="507"/>
                  </a:lnTo>
                  <a:lnTo>
                    <a:pt x="56316" y="12603"/>
                  </a:lnTo>
                  <a:lnTo>
                    <a:pt x="24161" y="39018"/>
                  </a:lnTo>
                  <a:lnTo>
                    <a:pt x="4563" y="75730"/>
                  </a:lnTo>
                  <a:lnTo>
                    <a:pt x="0" y="106641"/>
                  </a:lnTo>
                  <a:lnTo>
                    <a:pt x="507" y="117143"/>
                  </a:lnTo>
                  <a:lnTo>
                    <a:pt x="12603" y="156954"/>
                  </a:lnTo>
                  <a:lnTo>
                    <a:pt x="39015" y="189109"/>
                  </a:lnTo>
                  <a:lnTo>
                    <a:pt x="75725" y="208706"/>
                  </a:lnTo>
                  <a:lnTo>
                    <a:pt x="106629" y="213271"/>
                  </a:lnTo>
                  <a:lnTo>
                    <a:pt x="981074" y="213271"/>
                  </a:lnTo>
                  <a:lnTo>
                    <a:pt x="1021880" y="205155"/>
                  </a:lnTo>
                  <a:lnTo>
                    <a:pt x="1027263" y="202615"/>
                  </a:lnTo>
                  <a:lnTo>
                    <a:pt x="100329" y="202615"/>
                  </a:lnTo>
                  <a:lnTo>
                    <a:pt x="94094" y="201993"/>
                  </a:lnTo>
                  <a:lnTo>
                    <a:pt x="48069" y="182930"/>
                  </a:lnTo>
                  <a:lnTo>
                    <a:pt x="20383" y="149186"/>
                  </a:lnTo>
                  <a:lnTo>
                    <a:pt x="10655" y="112941"/>
                  </a:lnTo>
                  <a:lnTo>
                    <a:pt x="10655" y="100329"/>
                  </a:lnTo>
                  <a:lnTo>
                    <a:pt x="23329" y="58559"/>
                  </a:lnTo>
                  <a:lnTo>
                    <a:pt x="58546" y="23329"/>
                  </a:lnTo>
                  <a:lnTo>
                    <a:pt x="100329" y="10667"/>
                  </a:lnTo>
                  <a:lnTo>
                    <a:pt x="1027290" y="10667"/>
                  </a:lnTo>
                  <a:lnTo>
                    <a:pt x="1021880" y="8115"/>
                  </a:lnTo>
                  <a:lnTo>
                    <a:pt x="1011978" y="4564"/>
                  </a:lnTo>
                  <a:lnTo>
                    <a:pt x="1001877" y="2028"/>
                  </a:lnTo>
                  <a:lnTo>
                    <a:pt x="991576" y="507"/>
                  </a:lnTo>
                  <a:lnTo>
                    <a:pt x="981074" y="0"/>
                  </a:lnTo>
                  <a:close/>
                </a:path>
                <a:path w="1087754" h="213360">
                  <a:moveTo>
                    <a:pt x="1027290" y="10667"/>
                  </a:moveTo>
                  <a:lnTo>
                    <a:pt x="987374" y="10667"/>
                  </a:lnTo>
                  <a:lnTo>
                    <a:pt x="993609" y="11277"/>
                  </a:lnTo>
                  <a:lnTo>
                    <a:pt x="1005979" y="13728"/>
                  </a:lnTo>
                  <a:lnTo>
                    <a:pt x="1044473" y="34315"/>
                  </a:lnTo>
                  <a:lnTo>
                    <a:pt x="1072146" y="75730"/>
                  </a:lnTo>
                  <a:lnTo>
                    <a:pt x="1077048" y="100329"/>
                  </a:lnTo>
                  <a:lnTo>
                    <a:pt x="1077048" y="112941"/>
                  </a:lnTo>
                  <a:lnTo>
                    <a:pt x="1064374" y="154724"/>
                  </a:lnTo>
                  <a:lnTo>
                    <a:pt x="1029157" y="189941"/>
                  </a:lnTo>
                  <a:lnTo>
                    <a:pt x="987374" y="202615"/>
                  </a:lnTo>
                  <a:lnTo>
                    <a:pt x="1027263" y="202615"/>
                  </a:lnTo>
                  <a:lnTo>
                    <a:pt x="1063547" y="174255"/>
                  </a:lnTo>
                  <a:lnTo>
                    <a:pt x="1083144" y="137545"/>
                  </a:lnTo>
                  <a:lnTo>
                    <a:pt x="1087704" y="106641"/>
                  </a:lnTo>
                  <a:lnTo>
                    <a:pt x="1087198" y="96133"/>
                  </a:lnTo>
                  <a:lnTo>
                    <a:pt x="1075102" y="56312"/>
                  </a:lnTo>
                  <a:lnTo>
                    <a:pt x="1048690" y="24161"/>
                  </a:lnTo>
                  <a:lnTo>
                    <a:pt x="1031393" y="12603"/>
                  </a:lnTo>
                  <a:lnTo>
                    <a:pt x="1027290" y="10667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445355" y="3569481"/>
            <a:ext cx="901700" cy="750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solidFill>
                  <a:srgbClr val="4B4A4A"/>
                </a:solidFill>
                <a:latin typeface="Tahoma"/>
                <a:cs typeface="Tahoma"/>
              </a:rPr>
              <a:t>South</a:t>
            </a:r>
            <a:r>
              <a:rPr sz="900" spc="170" dirty="0">
                <a:solidFill>
                  <a:srgbClr val="4B4A4A"/>
                </a:solidFill>
                <a:latin typeface="Tahoma"/>
                <a:cs typeface="Tahoma"/>
              </a:rPr>
              <a:t xml:space="preserve"> </a:t>
            </a:r>
            <a:r>
              <a:rPr sz="900" dirty="0">
                <a:solidFill>
                  <a:srgbClr val="4B4A4A"/>
                </a:solidFill>
                <a:latin typeface="Tahoma"/>
                <a:cs typeface="Tahoma"/>
              </a:rPr>
              <a:t>·</a:t>
            </a:r>
            <a:r>
              <a:rPr sz="900" spc="170" dirty="0">
                <a:solidFill>
                  <a:srgbClr val="4B4A4A"/>
                </a:solidFill>
                <a:latin typeface="Tahoma"/>
                <a:cs typeface="Tahoma"/>
              </a:rPr>
              <a:t xml:space="preserve"> </a:t>
            </a:r>
            <a:r>
              <a:rPr sz="900" spc="-10" dirty="0">
                <a:solidFill>
                  <a:srgbClr val="4B4A4A"/>
                </a:solidFill>
                <a:latin typeface="Tahoma"/>
                <a:cs typeface="Tahoma"/>
              </a:rPr>
              <a:t>25.25%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4B4A4A"/>
                </a:solidFill>
                <a:latin typeface="Tahoma"/>
                <a:cs typeface="Tahoma"/>
              </a:rPr>
              <a:t>West</a:t>
            </a:r>
            <a:r>
              <a:rPr sz="900" spc="145" dirty="0">
                <a:solidFill>
                  <a:srgbClr val="4B4A4A"/>
                </a:solidFill>
                <a:latin typeface="Tahoma"/>
                <a:cs typeface="Tahoma"/>
              </a:rPr>
              <a:t xml:space="preserve"> </a:t>
            </a:r>
            <a:r>
              <a:rPr sz="900" dirty="0">
                <a:solidFill>
                  <a:srgbClr val="4B4A4A"/>
                </a:solidFill>
                <a:latin typeface="Tahoma"/>
                <a:cs typeface="Tahoma"/>
              </a:rPr>
              <a:t>·</a:t>
            </a:r>
            <a:r>
              <a:rPr sz="900" spc="150" dirty="0">
                <a:solidFill>
                  <a:srgbClr val="4B4A4A"/>
                </a:solidFill>
                <a:latin typeface="Tahoma"/>
                <a:cs typeface="Tahoma"/>
              </a:rPr>
              <a:t xml:space="preserve"> </a:t>
            </a:r>
            <a:r>
              <a:rPr sz="900" spc="-10" dirty="0">
                <a:solidFill>
                  <a:srgbClr val="4B4A4A"/>
                </a:solidFill>
                <a:latin typeface="Tahoma"/>
                <a:cs typeface="Tahoma"/>
              </a:rPr>
              <a:t>24.75%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4B4A4A"/>
                </a:solidFill>
                <a:latin typeface="Tahoma"/>
                <a:cs typeface="Tahoma"/>
              </a:rPr>
              <a:t>East</a:t>
            </a:r>
            <a:r>
              <a:rPr sz="900" spc="140" dirty="0">
                <a:solidFill>
                  <a:srgbClr val="4B4A4A"/>
                </a:solidFill>
                <a:latin typeface="Tahoma"/>
                <a:cs typeface="Tahoma"/>
              </a:rPr>
              <a:t xml:space="preserve"> </a:t>
            </a:r>
            <a:r>
              <a:rPr sz="900" dirty="0">
                <a:solidFill>
                  <a:srgbClr val="4B4A4A"/>
                </a:solidFill>
                <a:latin typeface="Tahoma"/>
                <a:cs typeface="Tahoma"/>
              </a:rPr>
              <a:t>·</a:t>
            </a:r>
            <a:r>
              <a:rPr sz="900" spc="140" dirty="0">
                <a:solidFill>
                  <a:srgbClr val="4B4A4A"/>
                </a:solidFill>
                <a:latin typeface="Tahoma"/>
                <a:cs typeface="Tahoma"/>
              </a:rPr>
              <a:t xml:space="preserve"> </a:t>
            </a:r>
            <a:r>
              <a:rPr sz="900" spc="-10" dirty="0">
                <a:solidFill>
                  <a:srgbClr val="4B4A4A"/>
                </a:solidFill>
                <a:latin typeface="Tahoma"/>
                <a:cs typeface="Tahoma"/>
              </a:rPr>
              <a:t>24.25%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15066" y="3327552"/>
            <a:ext cx="86410" cy="8641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15066" y="3615474"/>
            <a:ext cx="86410" cy="8641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15066" y="3914064"/>
            <a:ext cx="86410" cy="8641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15066" y="4201985"/>
            <a:ext cx="86410" cy="86410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70" dirty="0">
                <a:latin typeface="Calibri"/>
                <a:cs typeface="Calibri"/>
              </a:rPr>
              <a:t>Balanced</a:t>
            </a:r>
            <a:r>
              <a:rPr spc="35" dirty="0">
                <a:latin typeface="Calibri"/>
                <a:cs typeface="Calibri"/>
              </a:rPr>
              <a:t xml:space="preserve"> </a:t>
            </a:r>
            <a:r>
              <a:rPr spc="175" dirty="0">
                <a:latin typeface="Calibri"/>
                <a:cs typeface="Calibri"/>
              </a:rPr>
              <a:t>Revenue</a:t>
            </a:r>
            <a:r>
              <a:rPr spc="35" dirty="0">
                <a:latin typeface="Calibri"/>
                <a:cs typeface="Calibri"/>
              </a:rPr>
              <a:t xml:space="preserve"> </a:t>
            </a:r>
            <a:r>
              <a:rPr spc="150" dirty="0">
                <a:latin typeface="Calibri"/>
                <a:cs typeface="Calibri"/>
              </a:rPr>
              <a:t>Distribution</a:t>
            </a:r>
          </a:p>
          <a:p>
            <a:pPr marL="12700" marR="5080">
              <a:lnSpc>
                <a:spcPct val="134300"/>
              </a:lnSpc>
              <a:spcBef>
                <a:spcPts val="915"/>
              </a:spcBef>
            </a:pPr>
            <a:r>
              <a:rPr sz="1350" b="0" spc="-40" dirty="0">
                <a:solidFill>
                  <a:srgbClr val="4B4A4A"/>
                </a:solidFill>
                <a:latin typeface="Verdana"/>
                <a:cs typeface="Verdana"/>
              </a:rPr>
              <a:t>All</a:t>
            </a:r>
            <a:r>
              <a:rPr sz="1350" b="0" spc="-8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60" dirty="0">
                <a:solidFill>
                  <a:srgbClr val="4B4A4A"/>
                </a:solidFill>
                <a:latin typeface="Verdana"/>
                <a:cs typeface="Verdana"/>
              </a:rPr>
              <a:t>four</a:t>
            </a:r>
            <a:r>
              <a:rPr sz="1350" b="0" spc="-75" dirty="0">
                <a:solidFill>
                  <a:srgbClr val="4B4A4A"/>
                </a:solidFill>
                <a:latin typeface="Verdana"/>
                <a:cs typeface="Verdana"/>
              </a:rPr>
              <a:t xml:space="preserve"> regions</a:t>
            </a:r>
            <a:r>
              <a:rPr sz="1350" b="0" spc="-8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70" dirty="0">
                <a:solidFill>
                  <a:srgbClr val="4B4A4A"/>
                </a:solidFill>
                <a:latin typeface="Verdana"/>
                <a:cs typeface="Verdana"/>
              </a:rPr>
              <a:t>contribute</a:t>
            </a:r>
            <a:r>
              <a:rPr sz="1350" b="0" spc="-7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dirty="0">
                <a:solidFill>
                  <a:srgbClr val="4B4A4A"/>
                </a:solidFill>
                <a:latin typeface="Arial"/>
                <a:cs typeface="Arial"/>
              </a:rPr>
              <a:t>nearly</a:t>
            </a:r>
            <a:r>
              <a:rPr sz="1350" spc="-15" dirty="0">
                <a:solidFill>
                  <a:srgbClr val="4B4A4A"/>
                </a:solidFill>
                <a:latin typeface="Arial"/>
                <a:cs typeface="Arial"/>
              </a:rPr>
              <a:t xml:space="preserve"> </a:t>
            </a:r>
            <a:r>
              <a:rPr sz="1350" dirty="0">
                <a:solidFill>
                  <a:srgbClr val="4B4A4A"/>
                </a:solidFill>
                <a:latin typeface="Arial"/>
                <a:cs typeface="Arial"/>
              </a:rPr>
              <a:t>equal</a:t>
            </a:r>
            <a:r>
              <a:rPr sz="1350" spc="-10" dirty="0">
                <a:solidFill>
                  <a:srgbClr val="4B4A4A"/>
                </a:solidFill>
                <a:latin typeface="Arial"/>
                <a:cs typeface="Arial"/>
              </a:rPr>
              <a:t xml:space="preserve"> </a:t>
            </a:r>
            <a:r>
              <a:rPr sz="1350" dirty="0">
                <a:solidFill>
                  <a:srgbClr val="4B4A4A"/>
                </a:solidFill>
                <a:latin typeface="Arial"/>
                <a:cs typeface="Arial"/>
              </a:rPr>
              <a:t>shares</a:t>
            </a:r>
            <a:r>
              <a:rPr sz="1350" spc="20" dirty="0">
                <a:solidFill>
                  <a:srgbClr val="4B4A4A"/>
                </a:solidFill>
                <a:latin typeface="Arial"/>
                <a:cs typeface="Arial"/>
              </a:rPr>
              <a:t xml:space="preserve"> </a:t>
            </a:r>
            <a:r>
              <a:rPr sz="1350" b="0" spc="-55" dirty="0">
                <a:solidFill>
                  <a:srgbClr val="4B4A4A"/>
                </a:solidFill>
                <a:latin typeface="Verdana"/>
                <a:cs typeface="Verdana"/>
              </a:rPr>
              <a:t>to</a:t>
            </a:r>
            <a:r>
              <a:rPr sz="1350" b="0" spc="-7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10" dirty="0">
                <a:solidFill>
                  <a:srgbClr val="4B4A4A"/>
                </a:solidFill>
                <a:latin typeface="Verdana"/>
                <a:cs typeface="Verdana"/>
              </a:rPr>
              <a:t xml:space="preserve">total </a:t>
            </a:r>
            <a:r>
              <a:rPr sz="1350" b="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revenue </a:t>
            </a:r>
            <a:r>
              <a:rPr sz="1350" b="0" spc="605" dirty="0">
                <a:solidFill>
                  <a:srgbClr val="4B4A4A"/>
                </a:solidFill>
                <a:latin typeface="Verdana"/>
                <a:cs typeface="Verdana"/>
              </a:rPr>
              <a:t>—</a:t>
            </a:r>
            <a:r>
              <a:rPr sz="1350" b="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50" dirty="0">
                <a:solidFill>
                  <a:srgbClr val="4B4A4A"/>
                </a:solidFill>
                <a:latin typeface="Verdana"/>
                <a:cs typeface="Verdana"/>
              </a:rPr>
              <a:t>each</a:t>
            </a:r>
            <a:r>
              <a:rPr sz="1350" b="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80" dirty="0">
                <a:solidFill>
                  <a:srgbClr val="4B4A4A"/>
                </a:solidFill>
                <a:latin typeface="Verdana"/>
                <a:cs typeface="Verdana"/>
              </a:rPr>
              <a:t>representing</a:t>
            </a:r>
            <a:r>
              <a:rPr sz="1350" b="0" spc="-90" dirty="0">
                <a:solidFill>
                  <a:srgbClr val="4B4A4A"/>
                </a:solidFill>
                <a:latin typeface="Verdana"/>
                <a:cs typeface="Verdana"/>
              </a:rPr>
              <a:t xml:space="preserve"> approximately</a:t>
            </a:r>
            <a:r>
              <a:rPr sz="1350" b="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30" dirty="0">
                <a:solidFill>
                  <a:srgbClr val="4B4A4A"/>
                </a:solidFill>
                <a:latin typeface="Verdana"/>
                <a:cs typeface="Verdana"/>
              </a:rPr>
              <a:t>24–</a:t>
            </a:r>
            <a:r>
              <a:rPr sz="1350" b="0" dirty="0">
                <a:solidFill>
                  <a:srgbClr val="4B4A4A"/>
                </a:solidFill>
                <a:latin typeface="Verdana"/>
                <a:cs typeface="Verdana"/>
              </a:rPr>
              <a:t>26%</a:t>
            </a:r>
            <a:r>
              <a:rPr sz="1350" b="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30" dirty="0">
                <a:solidFill>
                  <a:srgbClr val="4B4A4A"/>
                </a:solidFill>
                <a:latin typeface="Verdana"/>
                <a:cs typeface="Verdana"/>
              </a:rPr>
              <a:t>of</a:t>
            </a:r>
            <a:r>
              <a:rPr sz="1350" b="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25" dirty="0">
                <a:solidFill>
                  <a:srgbClr val="4B4A4A"/>
                </a:solidFill>
                <a:latin typeface="Verdana"/>
                <a:cs typeface="Verdana"/>
              </a:rPr>
              <a:t xml:space="preserve">the </a:t>
            </a:r>
            <a:r>
              <a:rPr sz="1350" b="0" spc="-50" dirty="0">
                <a:solidFill>
                  <a:srgbClr val="4B4A4A"/>
                </a:solidFill>
                <a:latin typeface="Verdana"/>
                <a:cs typeface="Verdana"/>
              </a:rPr>
              <a:t>₹39.26M</a:t>
            </a:r>
            <a:r>
              <a:rPr sz="1350" b="0" spc="-8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85" dirty="0">
                <a:solidFill>
                  <a:srgbClr val="4B4A4A"/>
                </a:solidFill>
                <a:latin typeface="Verdana"/>
                <a:cs typeface="Verdana"/>
              </a:rPr>
              <a:t>total.</a:t>
            </a:r>
            <a:r>
              <a:rPr sz="1350" b="0" spc="-7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80" dirty="0">
                <a:solidFill>
                  <a:srgbClr val="4B4A4A"/>
                </a:solidFill>
                <a:latin typeface="Verdana"/>
                <a:cs typeface="Verdana"/>
              </a:rPr>
              <a:t>This</a:t>
            </a:r>
            <a:r>
              <a:rPr sz="1350" b="0" spc="-7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60" dirty="0">
                <a:solidFill>
                  <a:srgbClr val="4B4A4A"/>
                </a:solidFill>
                <a:latin typeface="Verdana"/>
                <a:cs typeface="Verdana"/>
              </a:rPr>
              <a:t>balanced</a:t>
            </a:r>
            <a:r>
              <a:rPr sz="1350" b="0" spc="-8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75" dirty="0">
                <a:solidFill>
                  <a:srgbClr val="4B4A4A"/>
                </a:solidFill>
                <a:latin typeface="Verdana"/>
                <a:cs typeface="Verdana"/>
              </a:rPr>
              <a:t xml:space="preserve">distribution </a:t>
            </a:r>
            <a:r>
              <a:rPr sz="1350" b="0" spc="-65" dirty="0">
                <a:solidFill>
                  <a:srgbClr val="4B4A4A"/>
                </a:solidFill>
                <a:latin typeface="Verdana"/>
                <a:cs typeface="Verdana"/>
              </a:rPr>
              <a:t>reduces</a:t>
            </a:r>
            <a:r>
              <a:rPr sz="1350" b="0" spc="-7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40" dirty="0">
                <a:solidFill>
                  <a:srgbClr val="4B4A4A"/>
                </a:solidFill>
                <a:latin typeface="Verdana"/>
                <a:cs typeface="Verdana"/>
              </a:rPr>
              <a:t xml:space="preserve">dependency </a:t>
            </a:r>
            <a:r>
              <a:rPr sz="1350" b="0" spc="-80" dirty="0">
                <a:solidFill>
                  <a:srgbClr val="4B4A4A"/>
                </a:solidFill>
                <a:latin typeface="Verdana"/>
                <a:cs typeface="Verdana"/>
              </a:rPr>
              <a:t>on</a:t>
            </a:r>
            <a:r>
              <a:rPr sz="1350" b="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any</a:t>
            </a:r>
            <a:r>
              <a:rPr sz="1350" b="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50" dirty="0">
                <a:solidFill>
                  <a:srgbClr val="4B4A4A"/>
                </a:solidFill>
                <a:latin typeface="Verdana"/>
                <a:cs typeface="Verdana"/>
              </a:rPr>
              <a:t>single</a:t>
            </a:r>
            <a:r>
              <a:rPr sz="1350" b="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market </a:t>
            </a:r>
            <a:r>
              <a:rPr sz="1350" b="0" spc="-80" dirty="0">
                <a:solidFill>
                  <a:srgbClr val="4B4A4A"/>
                </a:solidFill>
                <a:latin typeface="Verdana"/>
                <a:cs typeface="Verdana"/>
              </a:rPr>
              <a:t>and</a:t>
            </a:r>
            <a:r>
              <a:rPr sz="1350" b="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65" dirty="0">
                <a:solidFill>
                  <a:srgbClr val="4B4A4A"/>
                </a:solidFill>
                <a:latin typeface="Verdana"/>
                <a:cs typeface="Verdana"/>
              </a:rPr>
              <a:t>supports</a:t>
            </a:r>
            <a:r>
              <a:rPr sz="1350" b="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204" dirty="0">
                <a:solidFill>
                  <a:srgbClr val="4B4A4A"/>
                </a:solidFill>
                <a:latin typeface="Verdana"/>
                <a:cs typeface="Verdana"/>
              </a:rPr>
              <a:t>stable</a:t>
            </a:r>
            <a:r>
              <a:rPr sz="1350" b="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75" dirty="0">
                <a:solidFill>
                  <a:srgbClr val="4B4A4A"/>
                </a:solidFill>
                <a:latin typeface="Verdana"/>
                <a:cs typeface="Verdana"/>
              </a:rPr>
              <a:t>diversified</a:t>
            </a:r>
            <a:r>
              <a:rPr sz="1350" b="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10" dirty="0">
                <a:solidFill>
                  <a:srgbClr val="4B4A4A"/>
                </a:solidFill>
                <a:latin typeface="Verdana"/>
                <a:cs typeface="Verdana"/>
              </a:rPr>
              <a:t>growth.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00075" y="6000750"/>
            <a:ext cx="2428875" cy="1000125"/>
            <a:chOff x="600075" y="6000750"/>
            <a:chExt cx="2428875" cy="1000125"/>
          </a:xfrm>
        </p:grpSpPr>
        <p:sp>
          <p:nvSpPr>
            <p:cNvPr id="27" name="object 27"/>
            <p:cNvSpPr/>
            <p:nvPr/>
          </p:nvSpPr>
          <p:spPr>
            <a:xfrm>
              <a:off x="604837" y="6005512"/>
              <a:ext cx="2419350" cy="990600"/>
            </a:xfrm>
            <a:custGeom>
              <a:avLst/>
              <a:gdLst/>
              <a:ahLst/>
              <a:cxnLst/>
              <a:rect l="l" t="t" r="r" b="b"/>
              <a:pathLst>
                <a:path w="2419350" h="990600">
                  <a:moveTo>
                    <a:pt x="2303653" y="0"/>
                  </a:moveTo>
                  <a:lnTo>
                    <a:pt x="115694" y="0"/>
                  </a:lnTo>
                  <a:lnTo>
                    <a:pt x="107642" y="787"/>
                  </a:lnTo>
                  <a:lnTo>
                    <a:pt x="68926" y="12534"/>
                  </a:lnTo>
                  <a:lnTo>
                    <a:pt x="30519" y="42011"/>
                  </a:lnTo>
                  <a:lnTo>
                    <a:pt x="6315" y="83947"/>
                  </a:lnTo>
                  <a:lnTo>
                    <a:pt x="0" y="115697"/>
                  </a:lnTo>
                  <a:lnTo>
                    <a:pt x="0" y="866772"/>
                  </a:lnTo>
                  <a:lnTo>
                    <a:pt x="0" y="874904"/>
                  </a:lnTo>
                  <a:lnTo>
                    <a:pt x="12536" y="921670"/>
                  </a:lnTo>
                  <a:lnTo>
                    <a:pt x="42014" y="960078"/>
                  </a:lnTo>
                  <a:lnTo>
                    <a:pt x="83949" y="984288"/>
                  </a:lnTo>
                  <a:lnTo>
                    <a:pt x="115694" y="990597"/>
                  </a:lnTo>
                  <a:lnTo>
                    <a:pt x="2303653" y="990597"/>
                  </a:lnTo>
                  <a:lnTo>
                    <a:pt x="2350427" y="978061"/>
                  </a:lnTo>
                  <a:lnTo>
                    <a:pt x="2388831" y="948583"/>
                  </a:lnTo>
                  <a:lnTo>
                    <a:pt x="2413038" y="906649"/>
                  </a:lnTo>
                  <a:lnTo>
                    <a:pt x="2419350" y="874904"/>
                  </a:lnTo>
                  <a:lnTo>
                    <a:pt x="2419350" y="115697"/>
                  </a:lnTo>
                  <a:lnTo>
                    <a:pt x="2406815" y="68922"/>
                  </a:lnTo>
                  <a:lnTo>
                    <a:pt x="2377338" y="30518"/>
                  </a:lnTo>
                  <a:lnTo>
                    <a:pt x="2335403" y="6311"/>
                  </a:lnTo>
                  <a:lnTo>
                    <a:pt x="2311704" y="787"/>
                  </a:lnTo>
                  <a:lnTo>
                    <a:pt x="2303653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4837" y="6005512"/>
              <a:ext cx="2419350" cy="990600"/>
            </a:xfrm>
            <a:custGeom>
              <a:avLst/>
              <a:gdLst/>
              <a:ahLst/>
              <a:cxnLst/>
              <a:rect l="l" t="t" r="r" b="b"/>
              <a:pathLst>
                <a:path w="2419350" h="990600">
                  <a:moveTo>
                    <a:pt x="0" y="866772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793" y="107645"/>
                  </a:lnTo>
                  <a:lnTo>
                    <a:pt x="2381" y="99669"/>
                  </a:lnTo>
                  <a:lnTo>
                    <a:pt x="3963" y="91694"/>
                  </a:lnTo>
                  <a:lnTo>
                    <a:pt x="6315" y="83947"/>
                  </a:lnTo>
                  <a:lnTo>
                    <a:pt x="9425" y="76441"/>
                  </a:lnTo>
                  <a:lnTo>
                    <a:pt x="12536" y="68922"/>
                  </a:lnTo>
                  <a:lnTo>
                    <a:pt x="16351" y="61785"/>
                  </a:lnTo>
                  <a:lnTo>
                    <a:pt x="20866" y="55029"/>
                  </a:lnTo>
                  <a:lnTo>
                    <a:pt x="25384" y="48272"/>
                  </a:lnTo>
                  <a:lnTo>
                    <a:pt x="30519" y="42011"/>
                  </a:lnTo>
                  <a:lnTo>
                    <a:pt x="36269" y="36271"/>
                  </a:lnTo>
                  <a:lnTo>
                    <a:pt x="42014" y="30518"/>
                  </a:lnTo>
                  <a:lnTo>
                    <a:pt x="76438" y="9423"/>
                  </a:lnTo>
                  <a:lnTo>
                    <a:pt x="83949" y="6311"/>
                  </a:lnTo>
                  <a:lnTo>
                    <a:pt x="91692" y="3962"/>
                  </a:lnTo>
                  <a:lnTo>
                    <a:pt x="99669" y="2374"/>
                  </a:lnTo>
                  <a:lnTo>
                    <a:pt x="107642" y="787"/>
                  </a:lnTo>
                  <a:lnTo>
                    <a:pt x="115694" y="0"/>
                  </a:lnTo>
                  <a:lnTo>
                    <a:pt x="123825" y="0"/>
                  </a:lnTo>
                  <a:lnTo>
                    <a:pt x="2295525" y="0"/>
                  </a:lnTo>
                  <a:lnTo>
                    <a:pt x="2303653" y="0"/>
                  </a:lnTo>
                  <a:lnTo>
                    <a:pt x="2311704" y="787"/>
                  </a:lnTo>
                  <a:lnTo>
                    <a:pt x="2319680" y="2374"/>
                  </a:lnTo>
                  <a:lnTo>
                    <a:pt x="2327656" y="3962"/>
                  </a:lnTo>
                  <a:lnTo>
                    <a:pt x="2335403" y="6311"/>
                  </a:lnTo>
                  <a:lnTo>
                    <a:pt x="2342908" y="9423"/>
                  </a:lnTo>
                  <a:lnTo>
                    <a:pt x="2350427" y="12534"/>
                  </a:lnTo>
                  <a:lnTo>
                    <a:pt x="2383078" y="36271"/>
                  </a:lnTo>
                  <a:lnTo>
                    <a:pt x="2388831" y="42011"/>
                  </a:lnTo>
                  <a:lnTo>
                    <a:pt x="2393962" y="48272"/>
                  </a:lnTo>
                  <a:lnTo>
                    <a:pt x="2398483" y="55029"/>
                  </a:lnTo>
                  <a:lnTo>
                    <a:pt x="2403005" y="61785"/>
                  </a:lnTo>
                  <a:lnTo>
                    <a:pt x="2406815" y="68922"/>
                  </a:lnTo>
                  <a:lnTo>
                    <a:pt x="2409926" y="76441"/>
                  </a:lnTo>
                  <a:lnTo>
                    <a:pt x="2413038" y="83947"/>
                  </a:lnTo>
                  <a:lnTo>
                    <a:pt x="2415387" y="91694"/>
                  </a:lnTo>
                  <a:lnTo>
                    <a:pt x="2416975" y="99669"/>
                  </a:lnTo>
                  <a:lnTo>
                    <a:pt x="2418562" y="107645"/>
                  </a:lnTo>
                  <a:lnTo>
                    <a:pt x="2419350" y="115697"/>
                  </a:lnTo>
                  <a:lnTo>
                    <a:pt x="2419350" y="123825"/>
                  </a:lnTo>
                  <a:lnTo>
                    <a:pt x="2419350" y="866772"/>
                  </a:lnTo>
                  <a:lnTo>
                    <a:pt x="2419350" y="874904"/>
                  </a:lnTo>
                  <a:lnTo>
                    <a:pt x="2418562" y="882956"/>
                  </a:lnTo>
                  <a:lnTo>
                    <a:pt x="2416975" y="890932"/>
                  </a:lnTo>
                  <a:lnTo>
                    <a:pt x="2415387" y="898904"/>
                  </a:lnTo>
                  <a:lnTo>
                    <a:pt x="2413038" y="906649"/>
                  </a:lnTo>
                  <a:lnTo>
                    <a:pt x="2409926" y="914159"/>
                  </a:lnTo>
                  <a:lnTo>
                    <a:pt x="2406815" y="921670"/>
                  </a:lnTo>
                  <a:lnTo>
                    <a:pt x="2403005" y="928804"/>
                  </a:lnTo>
                  <a:lnTo>
                    <a:pt x="2398483" y="935565"/>
                  </a:lnTo>
                  <a:lnTo>
                    <a:pt x="2393962" y="942328"/>
                  </a:lnTo>
                  <a:lnTo>
                    <a:pt x="2388831" y="948583"/>
                  </a:lnTo>
                  <a:lnTo>
                    <a:pt x="2383078" y="954333"/>
                  </a:lnTo>
                  <a:lnTo>
                    <a:pt x="2377338" y="960078"/>
                  </a:lnTo>
                  <a:lnTo>
                    <a:pt x="2342908" y="981172"/>
                  </a:lnTo>
                  <a:lnTo>
                    <a:pt x="2335403" y="984288"/>
                  </a:lnTo>
                  <a:lnTo>
                    <a:pt x="2327656" y="986633"/>
                  </a:lnTo>
                  <a:lnTo>
                    <a:pt x="2319680" y="988221"/>
                  </a:lnTo>
                  <a:lnTo>
                    <a:pt x="2311704" y="989803"/>
                  </a:lnTo>
                  <a:lnTo>
                    <a:pt x="2303653" y="990597"/>
                  </a:lnTo>
                  <a:lnTo>
                    <a:pt x="2295525" y="990597"/>
                  </a:lnTo>
                  <a:lnTo>
                    <a:pt x="123825" y="990597"/>
                  </a:lnTo>
                  <a:lnTo>
                    <a:pt x="115694" y="990597"/>
                  </a:lnTo>
                  <a:lnTo>
                    <a:pt x="107642" y="989803"/>
                  </a:lnTo>
                  <a:lnTo>
                    <a:pt x="99669" y="988221"/>
                  </a:lnTo>
                  <a:lnTo>
                    <a:pt x="91692" y="986633"/>
                  </a:lnTo>
                  <a:lnTo>
                    <a:pt x="83949" y="984288"/>
                  </a:lnTo>
                  <a:lnTo>
                    <a:pt x="76438" y="981172"/>
                  </a:lnTo>
                  <a:lnTo>
                    <a:pt x="68926" y="978061"/>
                  </a:lnTo>
                  <a:lnTo>
                    <a:pt x="36269" y="954333"/>
                  </a:lnTo>
                  <a:lnTo>
                    <a:pt x="30519" y="948583"/>
                  </a:lnTo>
                  <a:lnTo>
                    <a:pt x="9425" y="914159"/>
                  </a:lnTo>
                  <a:lnTo>
                    <a:pt x="6315" y="906649"/>
                  </a:lnTo>
                  <a:lnTo>
                    <a:pt x="3963" y="898904"/>
                  </a:lnTo>
                  <a:lnTo>
                    <a:pt x="2381" y="890932"/>
                  </a:lnTo>
                  <a:lnTo>
                    <a:pt x="793" y="882956"/>
                  </a:lnTo>
                  <a:lnTo>
                    <a:pt x="0" y="874904"/>
                  </a:lnTo>
                  <a:lnTo>
                    <a:pt x="0" y="866772"/>
                  </a:lnTo>
                  <a:close/>
                </a:path>
              </a:pathLst>
            </a:custGeom>
            <a:ln w="9525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68350" y="6046388"/>
            <a:ext cx="666750" cy="735330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650" b="1" spc="150" dirty="0">
                <a:solidFill>
                  <a:srgbClr val="4B4A4A"/>
                </a:solidFill>
                <a:latin typeface="Times New Roman"/>
                <a:cs typeface="Times New Roman"/>
              </a:rPr>
              <a:t>North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25.7%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200400" y="6000750"/>
            <a:ext cx="2428875" cy="1000125"/>
            <a:chOff x="3200400" y="6000750"/>
            <a:chExt cx="2428875" cy="1000125"/>
          </a:xfrm>
        </p:grpSpPr>
        <p:sp>
          <p:nvSpPr>
            <p:cNvPr id="31" name="object 31"/>
            <p:cNvSpPr/>
            <p:nvPr/>
          </p:nvSpPr>
          <p:spPr>
            <a:xfrm>
              <a:off x="3205162" y="6005512"/>
              <a:ext cx="2419350" cy="990600"/>
            </a:xfrm>
            <a:custGeom>
              <a:avLst/>
              <a:gdLst/>
              <a:ahLst/>
              <a:cxnLst/>
              <a:rect l="l" t="t" r="r" b="b"/>
              <a:pathLst>
                <a:path w="2419350" h="990600">
                  <a:moveTo>
                    <a:pt x="2303653" y="0"/>
                  </a:moveTo>
                  <a:lnTo>
                    <a:pt x="115697" y="0"/>
                  </a:lnTo>
                  <a:lnTo>
                    <a:pt x="107645" y="787"/>
                  </a:lnTo>
                  <a:lnTo>
                    <a:pt x="68922" y="12534"/>
                  </a:lnTo>
                  <a:lnTo>
                    <a:pt x="30518" y="42011"/>
                  </a:lnTo>
                  <a:lnTo>
                    <a:pt x="6311" y="83947"/>
                  </a:lnTo>
                  <a:lnTo>
                    <a:pt x="0" y="115697"/>
                  </a:lnTo>
                  <a:lnTo>
                    <a:pt x="0" y="866772"/>
                  </a:lnTo>
                  <a:lnTo>
                    <a:pt x="0" y="874904"/>
                  </a:lnTo>
                  <a:lnTo>
                    <a:pt x="12534" y="921670"/>
                  </a:lnTo>
                  <a:lnTo>
                    <a:pt x="42011" y="960078"/>
                  </a:lnTo>
                  <a:lnTo>
                    <a:pt x="83947" y="984288"/>
                  </a:lnTo>
                  <a:lnTo>
                    <a:pt x="115697" y="990597"/>
                  </a:lnTo>
                  <a:lnTo>
                    <a:pt x="2303653" y="990597"/>
                  </a:lnTo>
                  <a:lnTo>
                    <a:pt x="2350427" y="978061"/>
                  </a:lnTo>
                  <a:lnTo>
                    <a:pt x="2388831" y="948583"/>
                  </a:lnTo>
                  <a:lnTo>
                    <a:pt x="2413038" y="906649"/>
                  </a:lnTo>
                  <a:lnTo>
                    <a:pt x="2419350" y="874904"/>
                  </a:lnTo>
                  <a:lnTo>
                    <a:pt x="2419350" y="115697"/>
                  </a:lnTo>
                  <a:lnTo>
                    <a:pt x="2406815" y="68922"/>
                  </a:lnTo>
                  <a:lnTo>
                    <a:pt x="2377325" y="30518"/>
                  </a:lnTo>
                  <a:lnTo>
                    <a:pt x="2335390" y="6311"/>
                  </a:lnTo>
                  <a:lnTo>
                    <a:pt x="2311704" y="787"/>
                  </a:lnTo>
                  <a:lnTo>
                    <a:pt x="2303653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05162" y="6005512"/>
              <a:ext cx="2419350" cy="990600"/>
            </a:xfrm>
            <a:custGeom>
              <a:avLst/>
              <a:gdLst/>
              <a:ahLst/>
              <a:cxnLst/>
              <a:rect l="l" t="t" r="r" b="b"/>
              <a:pathLst>
                <a:path w="2419350" h="990600">
                  <a:moveTo>
                    <a:pt x="0" y="866772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800" y="107645"/>
                  </a:lnTo>
                  <a:lnTo>
                    <a:pt x="2387" y="99669"/>
                  </a:lnTo>
                  <a:lnTo>
                    <a:pt x="3962" y="91694"/>
                  </a:lnTo>
                  <a:lnTo>
                    <a:pt x="6311" y="83947"/>
                  </a:lnTo>
                  <a:lnTo>
                    <a:pt x="9423" y="76441"/>
                  </a:lnTo>
                  <a:lnTo>
                    <a:pt x="12534" y="68922"/>
                  </a:lnTo>
                  <a:lnTo>
                    <a:pt x="16357" y="61785"/>
                  </a:lnTo>
                  <a:lnTo>
                    <a:pt x="20866" y="55029"/>
                  </a:lnTo>
                  <a:lnTo>
                    <a:pt x="25387" y="48272"/>
                  </a:lnTo>
                  <a:lnTo>
                    <a:pt x="30518" y="42011"/>
                  </a:lnTo>
                  <a:lnTo>
                    <a:pt x="36271" y="36271"/>
                  </a:lnTo>
                  <a:lnTo>
                    <a:pt x="42011" y="30518"/>
                  </a:lnTo>
                  <a:lnTo>
                    <a:pt x="76441" y="9423"/>
                  </a:lnTo>
                  <a:lnTo>
                    <a:pt x="83947" y="6311"/>
                  </a:lnTo>
                  <a:lnTo>
                    <a:pt x="91694" y="3962"/>
                  </a:lnTo>
                  <a:lnTo>
                    <a:pt x="99669" y="2374"/>
                  </a:lnTo>
                  <a:lnTo>
                    <a:pt x="107645" y="787"/>
                  </a:lnTo>
                  <a:lnTo>
                    <a:pt x="115697" y="0"/>
                  </a:lnTo>
                  <a:lnTo>
                    <a:pt x="123825" y="0"/>
                  </a:lnTo>
                  <a:lnTo>
                    <a:pt x="2295525" y="0"/>
                  </a:lnTo>
                  <a:lnTo>
                    <a:pt x="2303653" y="0"/>
                  </a:lnTo>
                  <a:lnTo>
                    <a:pt x="2311704" y="787"/>
                  </a:lnTo>
                  <a:lnTo>
                    <a:pt x="2350427" y="12534"/>
                  </a:lnTo>
                  <a:lnTo>
                    <a:pt x="2383078" y="36271"/>
                  </a:lnTo>
                  <a:lnTo>
                    <a:pt x="2388831" y="42011"/>
                  </a:lnTo>
                  <a:lnTo>
                    <a:pt x="2393962" y="48272"/>
                  </a:lnTo>
                  <a:lnTo>
                    <a:pt x="2398483" y="55029"/>
                  </a:lnTo>
                  <a:lnTo>
                    <a:pt x="2403005" y="61785"/>
                  </a:lnTo>
                  <a:lnTo>
                    <a:pt x="2406815" y="68922"/>
                  </a:lnTo>
                  <a:lnTo>
                    <a:pt x="2409926" y="76441"/>
                  </a:lnTo>
                  <a:lnTo>
                    <a:pt x="2413038" y="83947"/>
                  </a:lnTo>
                  <a:lnTo>
                    <a:pt x="2415387" y="91694"/>
                  </a:lnTo>
                  <a:lnTo>
                    <a:pt x="2416975" y="99669"/>
                  </a:lnTo>
                  <a:lnTo>
                    <a:pt x="2418562" y="107645"/>
                  </a:lnTo>
                  <a:lnTo>
                    <a:pt x="2419350" y="115697"/>
                  </a:lnTo>
                  <a:lnTo>
                    <a:pt x="2419350" y="123825"/>
                  </a:lnTo>
                  <a:lnTo>
                    <a:pt x="2419350" y="866772"/>
                  </a:lnTo>
                  <a:lnTo>
                    <a:pt x="2419350" y="874904"/>
                  </a:lnTo>
                  <a:lnTo>
                    <a:pt x="2418562" y="882956"/>
                  </a:lnTo>
                  <a:lnTo>
                    <a:pt x="2416975" y="890932"/>
                  </a:lnTo>
                  <a:lnTo>
                    <a:pt x="2415387" y="898904"/>
                  </a:lnTo>
                  <a:lnTo>
                    <a:pt x="2413038" y="906649"/>
                  </a:lnTo>
                  <a:lnTo>
                    <a:pt x="2409926" y="914159"/>
                  </a:lnTo>
                  <a:lnTo>
                    <a:pt x="2406815" y="921670"/>
                  </a:lnTo>
                  <a:lnTo>
                    <a:pt x="2403005" y="928804"/>
                  </a:lnTo>
                  <a:lnTo>
                    <a:pt x="2398483" y="935565"/>
                  </a:lnTo>
                  <a:lnTo>
                    <a:pt x="2393962" y="942328"/>
                  </a:lnTo>
                  <a:lnTo>
                    <a:pt x="2364320" y="969732"/>
                  </a:lnTo>
                  <a:lnTo>
                    <a:pt x="2342908" y="981172"/>
                  </a:lnTo>
                  <a:lnTo>
                    <a:pt x="2335390" y="984288"/>
                  </a:lnTo>
                  <a:lnTo>
                    <a:pt x="2327656" y="986633"/>
                  </a:lnTo>
                  <a:lnTo>
                    <a:pt x="2319680" y="988221"/>
                  </a:lnTo>
                  <a:lnTo>
                    <a:pt x="2311704" y="989803"/>
                  </a:lnTo>
                  <a:lnTo>
                    <a:pt x="2303653" y="990597"/>
                  </a:lnTo>
                  <a:lnTo>
                    <a:pt x="2295525" y="990597"/>
                  </a:lnTo>
                  <a:lnTo>
                    <a:pt x="123825" y="990597"/>
                  </a:lnTo>
                  <a:lnTo>
                    <a:pt x="115697" y="990597"/>
                  </a:lnTo>
                  <a:lnTo>
                    <a:pt x="107645" y="989803"/>
                  </a:lnTo>
                  <a:lnTo>
                    <a:pt x="99669" y="988221"/>
                  </a:lnTo>
                  <a:lnTo>
                    <a:pt x="91694" y="986633"/>
                  </a:lnTo>
                  <a:lnTo>
                    <a:pt x="83947" y="984288"/>
                  </a:lnTo>
                  <a:lnTo>
                    <a:pt x="76441" y="981172"/>
                  </a:lnTo>
                  <a:lnTo>
                    <a:pt x="68922" y="978061"/>
                  </a:lnTo>
                  <a:lnTo>
                    <a:pt x="36271" y="954333"/>
                  </a:lnTo>
                  <a:lnTo>
                    <a:pt x="30518" y="948583"/>
                  </a:lnTo>
                  <a:lnTo>
                    <a:pt x="9423" y="914159"/>
                  </a:lnTo>
                  <a:lnTo>
                    <a:pt x="6311" y="906649"/>
                  </a:lnTo>
                  <a:lnTo>
                    <a:pt x="3962" y="898904"/>
                  </a:lnTo>
                  <a:lnTo>
                    <a:pt x="2387" y="890932"/>
                  </a:lnTo>
                  <a:lnTo>
                    <a:pt x="800" y="882956"/>
                  </a:lnTo>
                  <a:lnTo>
                    <a:pt x="0" y="874904"/>
                  </a:lnTo>
                  <a:lnTo>
                    <a:pt x="0" y="866772"/>
                  </a:lnTo>
                  <a:close/>
                </a:path>
              </a:pathLst>
            </a:custGeom>
            <a:ln w="9525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368675" y="6046388"/>
            <a:ext cx="663575" cy="735330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650" b="1" spc="165" dirty="0">
                <a:solidFill>
                  <a:srgbClr val="4B4A4A"/>
                </a:solidFill>
                <a:latin typeface="Times New Roman"/>
                <a:cs typeface="Times New Roman"/>
              </a:rPr>
              <a:t>South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25.2%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800725" y="6000750"/>
            <a:ext cx="2428875" cy="1000125"/>
            <a:chOff x="5800725" y="6000750"/>
            <a:chExt cx="2428875" cy="1000125"/>
          </a:xfrm>
        </p:grpSpPr>
        <p:sp>
          <p:nvSpPr>
            <p:cNvPr id="35" name="object 35"/>
            <p:cNvSpPr/>
            <p:nvPr/>
          </p:nvSpPr>
          <p:spPr>
            <a:xfrm>
              <a:off x="5805487" y="6005512"/>
              <a:ext cx="2419350" cy="990600"/>
            </a:xfrm>
            <a:custGeom>
              <a:avLst/>
              <a:gdLst/>
              <a:ahLst/>
              <a:cxnLst/>
              <a:rect l="l" t="t" r="r" b="b"/>
              <a:pathLst>
                <a:path w="2419350" h="990600">
                  <a:moveTo>
                    <a:pt x="2303653" y="0"/>
                  </a:moveTo>
                  <a:lnTo>
                    <a:pt x="115697" y="0"/>
                  </a:lnTo>
                  <a:lnTo>
                    <a:pt x="107645" y="787"/>
                  </a:lnTo>
                  <a:lnTo>
                    <a:pt x="68922" y="12534"/>
                  </a:lnTo>
                  <a:lnTo>
                    <a:pt x="30518" y="42011"/>
                  </a:lnTo>
                  <a:lnTo>
                    <a:pt x="6311" y="83947"/>
                  </a:lnTo>
                  <a:lnTo>
                    <a:pt x="0" y="115697"/>
                  </a:lnTo>
                  <a:lnTo>
                    <a:pt x="0" y="866772"/>
                  </a:lnTo>
                  <a:lnTo>
                    <a:pt x="0" y="874904"/>
                  </a:lnTo>
                  <a:lnTo>
                    <a:pt x="12534" y="921670"/>
                  </a:lnTo>
                  <a:lnTo>
                    <a:pt x="42011" y="960078"/>
                  </a:lnTo>
                  <a:lnTo>
                    <a:pt x="83947" y="984288"/>
                  </a:lnTo>
                  <a:lnTo>
                    <a:pt x="115697" y="990597"/>
                  </a:lnTo>
                  <a:lnTo>
                    <a:pt x="2303653" y="990597"/>
                  </a:lnTo>
                  <a:lnTo>
                    <a:pt x="2350427" y="978061"/>
                  </a:lnTo>
                  <a:lnTo>
                    <a:pt x="2388831" y="948583"/>
                  </a:lnTo>
                  <a:lnTo>
                    <a:pt x="2413038" y="906649"/>
                  </a:lnTo>
                  <a:lnTo>
                    <a:pt x="2419350" y="874904"/>
                  </a:lnTo>
                  <a:lnTo>
                    <a:pt x="2419350" y="115697"/>
                  </a:lnTo>
                  <a:lnTo>
                    <a:pt x="2406815" y="68922"/>
                  </a:lnTo>
                  <a:lnTo>
                    <a:pt x="2377325" y="30518"/>
                  </a:lnTo>
                  <a:lnTo>
                    <a:pt x="2335390" y="6311"/>
                  </a:lnTo>
                  <a:lnTo>
                    <a:pt x="2311704" y="787"/>
                  </a:lnTo>
                  <a:lnTo>
                    <a:pt x="2303653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05487" y="6005512"/>
              <a:ext cx="2419350" cy="990600"/>
            </a:xfrm>
            <a:custGeom>
              <a:avLst/>
              <a:gdLst/>
              <a:ahLst/>
              <a:cxnLst/>
              <a:rect l="l" t="t" r="r" b="b"/>
              <a:pathLst>
                <a:path w="2419350" h="990600">
                  <a:moveTo>
                    <a:pt x="0" y="866772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800" y="107645"/>
                  </a:lnTo>
                  <a:lnTo>
                    <a:pt x="2374" y="99669"/>
                  </a:lnTo>
                  <a:lnTo>
                    <a:pt x="3962" y="91694"/>
                  </a:lnTo>
                  <a:lnTo>
                    <a:pt x="6311" y="83947"/>
                  </a:lnTo>
                  <a:lnTo>
                    <a:pt x="9423" y="76441"/>
                  </a:lnTo>
                  <a:lnTo>
                    <a:pt x="12534" y="68922"/>
                  </a:lnTo>
                  <a:lnTo>
                    <a:pt x="36258" y="36271"/>
                  </a:lnTo>
                  <a:lnTo>
                    <a:pt x="42011" y="30518"/>
                  </a:lnTo>
                  <a:lnTo>
                    <a:pt x="76441" y="9423"/>
                  </a:lnTo>
                  <a:lnTo>
                    <a:pt x="83947" y="6311"/>
                  </a:lnTo>
                  <a:lnTo>
                    <a:pt x="91694" y="3962"/>
                  </a:lnTo>
                  <a:lnTo>
                    <a:pt x="99669" y="2374"/>
                  </a:lnTo>
                  <a:lnTo>
                    <a:pt x="107645" y="787"/>
                  </a:lnTo>
                  <a:lnTo>
                    <a:pt x="115697" y="0"/>
                  </a:lnTo>
                  <a:lnTo>
                    <a:pt x="123825" y="0"/>
                  </a:lnTo>
                  <a:lnTo>
                    <a:pt x="2295525" y="0"/>
                  </a:lnTo>
                  <a:lnTo>
                    <a:pt x="2303653" y="0"/>
                  </a:lnTo>
                  <a:lnTo>
                    <a:pt x="2311704" y="787"/>
                  </a:lnTo>
                  <a:lnTo>
                    <a:pt x="2319680" y="2374"/>
                  </a:lnTo>
                  <a:lnTo>
                    <a:pt x="2327656" y="3962"/>
                  </a:lnTo>
                  <a:lnTo>
                    <a:pt x="2364320" y="20866"/>
                  </a:lnTo>
                  <a:lnTo>
                    <a:pt x="2383078" y="36271"/>
                  </a:lnTo>
                  <a:lnTo>
                    <a:pt x="2388831" y="42011"/>
                  </a:lnTo>
                  <a:lnTo>
                    <a:pt x="2393962" y="48272"/>
                  </a:lnTo>
                  <a:lnTo>
                    <a:pt x="2398483" y="55029"/>
                  </a:lnTo>
                  <a:lnTo>
                    <a:pt x="2403005" y="61785"/>
                  </a:lnTo>
                  <a:lnTo>
                    <a:pt x="2406815" y="68922"/>
                  </a:lnTo>
                  <a:lnTo>
                    <a:pt x="2409926" y="76441"/>
                  </a:lnTo>
                  <a:lnTo>
                    <a:pt x="2413038" y="83947"/>
                  </a:lnTo>
                  <a:lnTo>
                    <a:pt x="2415387" y="91694"/>
                  </a:lnTo>
                  <a:lnTo>
                    <a:pt x="2416975" y="99669"/>
                  </a:lnTo>
                  <a:lnTo>
                    <a:pt x="2418562" y="107645"/>
                  </a:lnTo>
                  <a:lnTo>
                    <a:pt x="2419350" y="115697"/>
                  </a:lnTo>
                  <a:lnTo>
                    <a:pt x="2419350" y="123825"/>
                  </a:lnTo>
                  <a:lnTo>
                    <a:pt x="2419350" y="866772"/>
                  </a:lnTo>
                  <a:lnTo>
                    <a:pt x="2419350" y="874904"/>
                  </a:lnTo>
                  <a:lnTo>
                    <a:pt x="2418562" y="882956"/>
                  </a:lnTo>
                  <a:lnTo>
                    <a:pt x="2416975" y="890932"/>
                  </a:lnTo>
                  <a:lnTo>
                    <a:pt x="2415387" y="898904"/>
                  </a:lnTo>
                  <a:lnTo>
                    <a:pt x="2413038" y="906649"/>
                  </a:lnTo>
                  <a:lnTo>
                    <a:pt x="2409926" y="914159"/>
                  </a:lnTo>
                  <a:lnTo>
                    <a:pt x="2406815" y="921670"/>
                  </a:lnTo>
                  <a:lnTo>
                    <a:pt x="2403005" y="928804"/>
                  </a:lnTo>
                  <a:lnTo>
                    <a:pt x="2398483" y="935565"/>
                  </a:lnTo>
                  <a:lnTo>
                    <a:pt x="2393962" y="942328"/>
                  </a:lnTo>
                  <a:lnTo>
                    <a:pt x="2364320" y="969732"/>
                  </a:lnTo>
                  <a:lnTo>
                    <a:pt x="2342908" y="981172"/>
                  </a:lnTo>
                  <a:lnTo>
                    <a:pt x="2335390" y="984288"/>
                  </a:lnTo>
                  <a:lnTo>
                    <a:pt x="2327656" y="986633"/>
                  </a:lnTo>
                  <a:lnTo>
                    <a:pt x="2319680" y="988221"/>
                  </a:lnTo>
                  <a:lnTo>
                    <a:pt x="2311704" y="989803"/>
                  </a:lnTo>
                  <a:lnTo>
                    <a:pt x="2303653" y="990597"/>
                  </a:lnTo>
                  <a:lnTo>
                    <a:pt x="2295525" y="990597"/>
                  </a:lnTo>
                  <a:lnTo>
                    <a:pt x="123825" y="990597"/>
                  </a:lnTo>
                  <a:lnTo>
                    <a:pt x="115697" y="990597"/>
                  </a:lnTo>
                  <a:lnTo>
                    <a:pt x="107645" y="989803"/>
                  </a:lnTo>
                  <a:lnTo>
                    <a:pt x="99669" y="988221"/>
                  </a:lnTo>
                  <a:lnTo>
                    <a:pt x="91694" y="986633"/>
                  </a:lnTo>
                  <a:lnTo>
                    <a:pt x="83947" y="984288"/>
                  </a:lnTo>
                  <a:lnTo>
                    <a:pt x="76441" y="981172"/>
                  </a:lnTo>
                  <a:lnTo>
                    <a:pt x="68922" y="978061"/>
                  </a:lnTo>
                  <a:lnTo>
                    <a:pt x="36258" y="954333"/>
                  </a:lnTo>
                  <a:lnTo>
                    <a:pt x="12534" y="921670"/>
                  </a:lnTo>
                  <a:lnTo>
                    <a:pt x="9423" y="914159"/>
                  </a:lnTo>
                  <a:lnTo>
                    <a:pt x="6311" y="906649"/>
                  </a:lnTo>
                  <a:lnTo>
                    <a:pt x="3962" y="898904"/>
                  </a:lnTo>
                  <a:lnTo>
                    <a:pt x="2374" y="890932"/>
                  </a:lnTo>
                  <a:lnTo>
                    <a:pt x="800" y="882956"/>
                  </a:lnTo>
                  <a:lnTo>
                    <a:pt x="0" y="874904"/>
                  </a:lnTo>
                  <a:lnTo>
                    <a:pt x="0" y="866772"/>
                  </a:lnTo>
                  <a:close/>
                </a:path>
              </a:pathLst>
            </a:custGeom>
            <a:ln w="9525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969000" y="6046388"/>
            <a:ext cx="552450" cy="735330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650" b="1" spc="114" dirty="0">
                <a:solidFill>
                  <a:srgbClr val="4B4A4A"/>
                </a:solidFill>
                <a:latin typeface="Times New Roman"/>
                <a:cs typeface="Times New Roman"/>
              </a:rPr>
              <a:t>West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24.7%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401050" y="6000750"/>
            <a:ext cx="2428875" cy="1000125"/>
            <a:chOff x="8401050" y="6000750"/>
            <a:chExt cx="2428875" cy="1000125"/>
          </a:xfrm>
        </p:grpSpPr>
        <p:sp>
          <p:nvSpPr>
            <p:cNvPr id="39" name="object 39"/>
            <p:cNvSpPr/>
            <p:nvPr/>
          </p:nvSpPr>
          <p:spPr>
            <a:xfrm>
              <a:off x="8405812" y="6005512"/>
              <a:ext cx="2419350" cy="990600"/>
            </a:xfrm>
            <a:custGeom>
              <a:avLst/>
              <a:gdLst/>
              <a:ahLst/>
              <a:cxnLst/>
              <a:rect l="l" t="t" r="r" b="b"/>
              <a:pathLst>
                <a:path w="2419350" h="990600">
                  <a:moveTo>
                    <a:pt x="2303653" y="0"/>
                  </a:moveTo>
                  <a:lnTo>
                    <a:pt x="115697" y="0"/>
                  </a:lnTo>
                  <a:lnTo>
                    <a:pt x="107645" y="787"/>
                  </a:lnTo>
                  <a:lnTo>
                    <a:pt x="68922" y="12534"/>
                  </a:lnTo>
                  <a:lnTo>
                    <a:pt x="30518" y="42011"/>
                  </a:lnTo>
                  <a:lnTo>
                    <a:pt x="6311" y="83947"/>
                  </a:lnTo>
                  <a:lnTo>
                    <a:pt x="0" y="115697"/>
                  </a:lnTo>
                  <a:lnTo>
                    <a:pt x="0" y="866772"/>
                  </a:lnTo>
                  <a:lnTo>
                    <a:pt x="0" y="874904"/>
                  </a:lnTo>
                  <a:lnTo>
                    <a:pt x="12534" y="921670"/>
                  </a:lnTo>
                  <a:lnTo>
                    <a:pt x="42011" y="960078"/>
                  </a:lnTo>
                  <a:lnTo>
                    <a:pt x="83947" y="984288"/>
                  </a:lnTo>
                  <a:lnTo>
                    <a:pt x="115697" y="990597"/>
                  </a:lnTo>
                  <a:lnTo>
                    <a:pt x="2303653" y="990597"/>
                  </a:lnTo>
                  <a:lnTo>
                    <a:pt x="2350427" y="978061"/>
                  </a:lnTo>
                  <a:lnTo>
                    <a:pt x="2388831" y="948583"/>
                  </a:lnTo>
                  <a:lnTo>
                    <a:pt x="2413038" y="906649"/>
                  </a:lnTo>
                  <a:lnTo>
                    <a:pt x="2419350" y="874904"/>
                  </a:lnTo>
                  <a:lnTo>
                    <a:pt x="2419350" y="115697"/>
                  </a:lnTo>
                  <a:lnTo>
                    <a:pt x="2406815" y="68922"/>
                  </a:lnTo>
                  <a:lnTo>
                    <a:pt x="2377325" y="30518"/>
                  </a:lnTo>
                  <a:lnTo>
                    <a:pt x="2335403" y="6311"/>
                  </a:lnTo>
                  <a:lnTo>
                    <a:pt x="2311704" y="787"/>
                  </a:lnTo>
                  <a:lnTo>
                    <a:pt x="2303653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405812" y="6005512"/>
              <a:ext cx="2419350" cy="990600"/>
            </a:xfrm>
            <a:custGeom>
              <a:avLst/>
              <a:gdLst/>
              <a:ahLst/>
              <a:cxnLst/>
              <a:rect l="l" t="t" r="r" b="b"/>
              <a:pathLst>
                <a:path w="2419350" h="990600">
                  <a:moveTo>
                    <a:pt x="0" y="866772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800" y="107645"/>
                  </a:lnTo>
                  <a:lnTo>
                    <a:pt x="2374" y="99669"/>
                  </a:lnTo>
                  <a:lnTo>
                    <a:pt x="3962" y="91694"/>
                  </a:lnTo>
                  <a:lnTo>
                    <a:pt x="6311" y="83947"/>
                  </a:lnTo>
                  <a:lnTo>
                    <a:pt x="9423" y="76441"/>
                  </a:lnTo>
                  <a:lnTo>
                    <a:pt x="12534" y="68922"/>
                  </a:lnTo>
                  <a:lnTo>
                    <a:pt x="36258" y="36271"/>
                  </a:lnTo>
                  <a:lnTo>
                    <a:pt x="42011" y="30518"/>
                  </a:lnTo>
                  <a:lnTo>
                    <a:pt x="76441" y="9423"/>
                  </a:lnTo>
                  <a:lnTo>
                    <a:pt x="83947" y="6311"/>
                  </a:lnTo>
                  <a:lnTo>
                    <a:pt x="91694" y="3962"/>
                  </a:lnTo>
                  <a:lnTo>
                    <a:pt x="99669" y="2374"/>
                  </a:lnTo>
                  <a:lnTo>
                    <a:pt x="107645" y="787"/>
                  </a:lnTo>
                  <a:lnTo>
                    <a:pt x="115697" y="0"/>
                  </a:lnTo>
                  <a:lnTo>
                    <a:pt x="123825" y="0"/>
                  </a:lnTo>
                  <a:lnTo>
                    <a:pt x="2295525" y="0"/>
                  </a:lnTo>
                  <a:lnTo>
                    <a:pt x="2303653" y="0"/>
                  </a:lnTo>
                  <a:lnTo>
                    <a:pt x="2311704" y="787"/>
                  </a:lnTo>
                  <a:lnTo>
                    <a:pt x="2319680" y="2374"/>
                  </a:lnTo>
                  <a:lnTo>
                    <a:pt x="2327656" y="3962"/>
                  </a:lnTo>
                  <a:lnTo>
                    <a:pt x="2335403" y="6311"/>
                  </a:lnTo>
                  <a:lnTo>
                    <a:pt x="2342908" y="9423"/>
                  </a:lnTo>
                  <a:lnTo>
                    <a:pt x="2350427" y="12534"/>
                  </a:lnTo>
                  <a:lnTo>
                    <a:pt x="2383078" y="36271"/>
                  </a:lnTo>
                  <a:lnTo>
                    <a:pt x="2388831" y="42011"/>
                  </a:lnTo>
                  <a:lnTo>
                    <a:pt x="2409926" y="76441"/>
                  </a:lnTo>
                  <a:lnTo>
                    <a:pt x="2413038" y="83947"/>
                  </a:lnTo>
                  <a:lnTo>
                    <a:pt x="2415387" y="91694"/>
                  </a:lnTo>
                  <a:lnTo>
                    <a:pt x="2416975" y="99669"/>
                  </a:lnTo>
                  <a:lnTo>
                    <a:pt x="2418562" y="107645"/>
                  </a:lnTo>
                  <a:lnTo>
                    <a:pt x="2419350" y="115697"/>
                  </a:lnTo>
                  <a:lnTo>
                    <a:pt x="2419350" y="123825"/>
                  </a:lnTo>
                  <a:lnTo>
                    <a:pt x="2419350" y="866772"/>
                  </a:lnTo>
                  <a:lnTo>
                    <a:pt x="2419350" y="874904"/>
                  </a:lnTo>
                  <a:lnTo>
                    <a:pt x="2418562" y="882956"/>
                  </a:lnTo>
                  <a:lnTo>
                    <a:pt x="2416975" y="890932"/>
                  </a:lnTo>
                  <a:lnTo>
                    <a:pt x="2415387" y="898904"/>
                  </a:lnTo>
                  <a:lnTo>
                    <a:pt x="2413038" y="906649"/>
                  </a:lnTo>
                  <a:lnTo>
                    <a:pt x="2409926" y="914159"/>
                  </a:lnTo>
                  <a:lnTo>
                    <a:pt x="2406815" y="921670"/>
                  </a:lnTo>
                  <a:lnTo>
                    <a:pt x="2403005" y="928804"/>
                  </a:lnTo>
                  <a:lnTo>
                    <a:pt x="2398483" y="935565"/>
                  </a:lnTo>
                  <a:lnTo>
                    <a:pt x="2393962" y="942328"/>
                  </a:lnTo>
                  <a:lnTo>
                    <a:pt x="2364320" y="969732"/>
                  </a:lnTo>
                  <a:lnTo>
                    <a:pt x="2342908" y="981172"/>
                  </a:lnTo>
                  <a:lnTo>
                    <a:pt x="2335403" y="984288"/>
                  </a:lnTo>
                  <a:lnTo>
                    <a:pt x="2327656" y="986633"/>
                  </a:lnTo>
                  <a:lnTo>
                    <a:pt x="2319680" y="988221"/>
                  </a:lnTo>
                  <a:lnTo>
                    <a:pt x="2311704" y="989803"/>
                  </a:lnTo>
                  <a:lnTo>
                    <a:pt x="2303653" y="990597"/>
                  </a:lnTo>
                  <a:lnTo>
                    <a:pt x="2295525" y="990597"/>
                  </a:lnTo>
                  <a:lnTo>
                    <a:pt x="123825" y="990597"/>
                  </a:lnTo>
                  <a:lnTo>
                    <a:pt x="115697" y="990597"/>
                  </a:lnTo>
                  <a:lnTo>
                    <a:pt x="107645" y="989803"/>
                  </a:lnTo>
                  <a:lnTo>
                    <a:pt x="99669" y="988221"/>
                  </a:lnTo>
                  <a:lnTo>
                    <a:pt x="91694" y="986633"/>
                  </a:lnTo>
                  <a:lnTo>
                    <a:pt x="83947" y="984288"/>
                  </a:lnTo>
                  <a:lnTo>
                    <a:pt x="76441" y="981172"/>
                  </a:lnTo>
                  <a:lnTo>
                    <a:pt x="68922" y="978061"/>
                  </a:lnTo>
                  <a:lnTo>
                    <a:pt x="36258" y="954333"/>
                  </a:lnTo>
                  <a:lnTo>
                    <a:pt x="12534" y="921670"/>
                  </a:lnTo>
                  <a:lnTo>
                    <a:pt x="9423" y="914159"/>
                  </a:lnTo>
                  <a:lnTo>
                    <a:pt x="6311" y="906649"/>
                  </a:lnTo>
                  <a:lnTo>
                    <a:pt x="3962" y="898904"/>
                  </a:lnTo>
                  <a:lnTo>
                    <a:pt x="2374" y="890932"/>
                  </a:lnTo>
                  <a:lnTo>
                    <a:pt x="800" y="882956"/>
                  </a:lnTo>
                  <a:lnTo>
                    <a:pt x="0" y="874904"/>
                  </a:lnTo>
                  <a:lnTo>
                    <a:pt x="0" y="866772"/>
                  </a:lnTo>
                  <a:close/>
                </a:path>
              </a:pathLst>
            </a:custGeom>
            <a:ln w="9525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569325" y="6046388"/>
            <a:ext cx="630000" cy="735330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650" b="1" spc="100" dirty="0">
                <a:solidFill>
                  <a:srgbClr val="4B4A4A"/>
                </a:solidFill>
                <a:latin typeface="Times New Roman"/>
                <a:cs typeface="Times New Roman"/>
              </a:rPr>
              <a:t>East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24.2%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90" dirty="0">
                <a:latin typeface="Calibri"/>
                <a:cs typeface="Calibri"/>
              </a:rPr>
              <a:t>Region-</a:t>
            </a:r>
            <a:r>
              <a:rPr spc="395" dirty="0">
                <a:latin typeface="Calibri"/>
                <a:cs typeface="Calibri"/>
              </a:rPr>
              <a:t>wise</a:t>
            </a:r>
            <a:r>
              <a:rPr spc="30" dirty="0">
                <a:latin typeface="Calibri"/>
                <a:cs typeface="Calibri"/>
              </a:rPr>
              <a:t xml:space="preserve"> </a:t>
            </a:r>
            <a:r>
              <a:rPr spc="254" dirty="0">
                <a:latin typeface="Calibri"/>
                <a:cs typeface="Calibri"/>
              </a:rPr>
              <a:t>Profit</a:t>
            </a:r>
            <a:r>
              <a:rPr spc="30" dirty="0">
                <a:latin typeface="Calibri"/>
                <a:cs typeface="Calibri"/>
              </a:rPr>
              <a:t xml:space="preserve"> </a:t>
            </a:r>
            <a:r>
              <a:rPr spc="270" dirty="0">
                <a:latin typeface="Calibri"/>
                <a:cs typeface="Calibri"/>
              </a:rPr>
              <a:t>Analysis</a:t>
            </a:r>
          </a:p>
        </p:txBody>
      </p:sp>
      <p:sp>
        <p:nvSpPr>
          <p:cNvPr id="3" name="object 3"/>
          <p:cNvSpPr/>
          <p:nvPr/>
        </p:nvSpPr>
        <p:spPr>
          <a:xfrm>
            <a:off x="604837" y="1433512"/>
            <a:ext cx="1504950" cy="333375"/>
          </a:xfrm>
          <a:custGeom>
            <a:avLst/>
            <a:gdLst/>
            <a:ahLst/>
            <a:cxnLst/>
            <a:rect l="l" t="t" r="r" b="b"/>
            <a:pathLst>
              <a:path w="1504950" h="333375">
                <a:moveTo>
                  <a:pt x="0" y="235267"/>
                </a:moveTo>
                <a:lnTo>
                  <a:pt x="0" y="98107"/>
                </a:lnTo>
                <a:lnTo>
                  <a:pt x="0" y="91668"/>
                </a:lnTo>
                <a:lnTo>
                  <a:pt x="629" y="85280"/>
                </a:lnTo>
                <a:lnTo>
                  <a:pt x="1884" y="78968"/>
                </a:lnTo>
                <a:lnTo>
                  <a:pt x="3140" y="72644"/>
                </a:lnTo>
                <a:lnTo>
                  <a:pt x="5001" y="66509"/>
                </a:lnTo>
                <a:lnTo>
                  <a:pt x="7466" y="60566"/>
                </a:lnTo>
                <a:lnTo>
                  <a:pt x="9931" y="54610"/>
                </a:lnTo>
                <a:lnTo>
                  <a:pt x="12952" y="48958"/>
                </a:lnTo>
                <a:lnTo>
                  <a:pt x="16535" y="43599"/>
                </a:lnTo>
                <a:lnTo>
                  <a:pt x="20111" y="38239"/>
                </a:lnTo>
                <a:lnTo>
                  <a:pt x="24179" y="33286"/>
                </a:lnTo>
                <a:lnTo>
                  <a:pt x="28733" y="28740"/>
                </a:lnTo>
                <a:lnTo>
                  <a:pt x="33287" y="24180"/>
                </a:lnTo>
                <a:lnTo>
                  <a:pt x="38243" y="20116"/>
                </a:lnTo>
                <a:lnTo>
                  <a:pt x="43601" y="16535"/>
                </a:lnTo>
                <a:lnTo>
                  <a:pt x="48959" y="12954"/>
                </a:lnTo>
                <a:lnTo>
                  <a:pt x="54610" y="9931"/>
                </a:lnTo>
                <a:lnTo>
                  <a:pt x="60563" y="7467"/>
                </a:lnTo>
                <a:lnTo>
                  <a:pt x="66516" y="5003"/>
                </a:lnTo>
                <a:lnTo>
                  <a:pt x="72647" y="3136"/>
                </a:lnTo>
                <a:lnTo>
                  <a:pt x="78968" y="1892"/>
                </a:lnTo>
                <a:lnTo>
                  <a:pt x="85283" y="622"/>
                </a:lnTo>
                <a:lnTo>
                  <a:pt x="91663" y="0"/>
                </a:lnTo>
                <a:lnTo>
                  <a:pt x="98107" y="0"/>
                </a:lnTo>
                <a:lnTo>
                  <a:pt x="1406842" y="0"/>
                </a:lnTo>
                <a:lnTo>
                  <a:pt x="1413281" y="0"/>
                </a:lnTo>
                <a:lnTo>
                  <a:pt x="1419656" y="622"/>
                </a:lnTo>
                <a:lnTo>
                  <a:pt x="1425981" y="1892"/>
                </a:lnTo>
                <a:lnTo>
                  <a:pt x="1432306" y="3136"/>
                </a:lnTo>
                <a:lnTo>
                  <a:pt x="1438440" y="5003"/>
                </a:lnTo>
                <a:lnTo>
                  <a:pt x="1444383" y="7467"/>
                </a:lnTo>
                <a:lnTo>
                  <a:pt x="1450340" y="9931"/>
                </a:lnTo>
                <a:lnTo>
                  <a:pt x="1455991" y="12954"/>
                </a:lnTo>
                <a:lnTo>
                  <a:pt x="1461350" y="16535"/>
                </a:lnTo>
                <a:lnTo>
                  <a:pt x="1466710" y="20116"/>
                </a:lnTo>
                <a:lnTo>
                  <a:pt x="1491996" y="48958"/>
                </a:lnTo>
                <a:lnTo>
                  <a:pt x="1497482" y="60566"/>
                </a:lnTo>
                <a:lnTo>
                  <a:pt x="1499946" y="66509"/>
                </a:lnTo>
                <a:lnTo>
                  <a:pt x="1501813" y="72644"/>
                </a:lnTo>
                <a:lnTo>
                  <a:pt x="1503070" y="78968"/>
                </a:lnTo>
                <a:lnTo>
                  <a:pt x="1504315" y="85280"/>
                </a:lnTo>
                <a:lnTo>
                  <a:pt x="1504950" y="91668"/>
                </a:lnTo>
                <a:lnTo>
                  <a:pt x="1504950" y="98107"/>
                </a:lnTo>
                <a:lnTo>
                  <a:pt x="1504950" y="235267"/>
                </a:lnTo>
                <a:lnTo>
                  <a:pt x="1504950" y="241706"/>
                </a:lnTo>
                <a:lnTo>
                  <a:pt x="1504315" y="248081"/>
                </a:lnTo>
                <a:lnTo>
                  <a:pt x="1503070" y="254406"/>
                </a:lnTo>
                <a:lnTo>
                  <a:pt x="1501813" y="260718"/>
                </a:lnTo>
                <a:lnTo>
                  <a:pt x="1499946" y="266865"/>
                </a:lnTo>
                <a:lnTo>
                  <a:pt x="1497482" y="272808"/>
                </a:lnTo>
                <a:lnTo>
                  <a:pt x="1495018" y="278765"/>
                </a:lnTo>
                <a:lnTo>
                  <a:pt x="1471663" y="309194"/>
                </a:lnTo>
                <a:lnTo>
                  <a:pt x="1444383" y="325907"/>
                </a:lnTo>
                <a:lnTo>
                  <a:pt x="1438440" y="328371"/>
                </a:lnTo>
                <a:lnTo>
                  <a:pt x="1432306" y="330225"/>
                </a:lnTo>
                <a:lnTo>
                  <a:pt x="1425981" y="331495"/>
                </a:lnTo>
                <a:lnTo>
                  <a:pt x="1419656" y="332740"/>
                </a:lnTo>
                <a:lnTo>
                  <a:pt x="1413281" y="333375"/>
                </a:lnTo>
                <a:lnTo>
                  <a:pt x="1406842" y="333375"/>
                </a:lnTo>
                <a:lnTo>
                  <a:pt x="98107" y="333375"/>
                </a:lnTo>
                <a:lnTo>
                  <a:pt x="91663" y="333375"/>
                </a:lnTo>
                <a:lnTo>
                  <a:pt x="85283" y="332740"/>
                </a:lnTo>
                <a:lnTo>
                  <a:pt x="78968" y="331495"/>
                </a:lnTo>
                <a:lnTo>
                  <a:pt x="72647" y="330225"/>
                </a:lnTo>
                <a:lnTo>
                  <a:pt x="66516" y="328371"/>
                </a:lnTo>
                <a:lnTo>
                  <a:pt x="60563" y="325907"/>
                </a:lnTo>
                <a:lnTo>
                  <a:pt x="54610" y="323443"/>
                </a:lnTo>
                <a:lnTo>
                  <a:pt x="28733" y="304634"/>
                </a:lnTo>
                <a:lnTo>
                  <a:pt x="24179" y="300088"/>
                </a:lnTo>
                <a:lnTo>
                  <a:pt x="7466" y="272808"/>
                </a:lnTo>
                <a:lnTo>
                  <a:pt x="5001" y="266865"/>
                </a:lnTo>
                <a:lnTo>
                  <a:pt x="3140" y="260718"/>
                </a:lnTo>
                <a:lnTo>
                  <a:pt x="1884" y="254406"/>
                </a:lnTo>
                <a:lnTo>
                  <a:pt x="629" y="248081"/>
                </a:lnTo>
                <a:lnTo>
                  <a:pt x="0" y="241706"/>
                </a:lnTo>
                <a:lnTo>
                  <a:pt x="0" y="235267"/>
                </a:lnTo>
                <a:close/>
              </a:path>
            </a:pathLst>
          </a:custGeom>
          <a:ln w="9525">
            <a:solidFill>
              <a:srgbClr val="006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9740" y="1497964"/>
            <a:ext cx="131889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30" dirty="0">
                <a:solidFill>
                  <a:srgbClr val="006646"/>
                </a:solidFill>
                <a:latin typeface="Verdana"/>
                <a:cs typeface="Verdana"/>
              </a:rPr>
              <a:t>EXCEL</a:t>
            </a:r>
            <a:r>
              <a:rPr sz="1050" spc="-70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050" spc="-75" dirty="0">
                <a:solidFill>
                  <a:srgbClr val="006646"/>
                </a:solidFill>
                <a:latin typeface="Verdana"/>
                <a:cs typeface="Verdana"/>
              </a:rPr>
              <a:t>TOOL:</a:t>
            </a:r>
            <a:r>
              <a:rPr sz="1050" spc="-55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050" spc="-20" dirty="0">
                <a:solidFill>
                  <a:srgbClr val="006646"/>
                </a:solidFill>
                <a:latin typeface="Verdana"/>
                <a:cs typeface="Verdana"/>
              </a:rPr>
              <a:t>SUMIF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22125" y="5122243"/>
            <a:ext cx="10033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45" dirty="0">
                <a:solidFill>
                  <a:srgbClr val="4B4A4A"/>
                </a:solidFill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22125" y="4325711"/>
            <a:ext cx="20002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25" dirty="0">
                <a:solidFill>
                  <a:srgbClr val="4B4A4A"/>
                </a:solidFill>
                <a:latin typeface="Tahoma"/>
                <a:cs typeface="Tahoma"/>
              </a:rPr>
              <a:t>0.5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22125" y="3529182"/>
            <a:ext cx="7366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65" dirty="0">
                <a:solidFill>
                  <a:srgbClr val="4B4A4A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22125" y="2732649"/>
            <a:ext cx="17653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25" dirty="0">
                <a:solidFill>
                  <a:srgbClr val="4B4A4A"/>
                </a:solidFill>
                <a:latin typeface="Tahoma"/>
                <a:cs typeface="Tahoma"/>
              </a:rPr>
              <a:t>1.5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11062" y="2125699"/>
            <a:ext cx="60769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solidFill>
                  <a:srgbClr val="4B4A4A"/>
                </a:solidFill>
                <a:latin typeface="Tahoma"/>
                <a:cs typeface="Tahoma"/>
              </a:rPr>
              <a:t>Profit</a:t>
            </a:r>
            <a:r>
              <a:rPr sz="900" spc="165" dirty="0">
                <a:solidFill>
                  <a:srgbClr val="4B4A4A"/>
                </a:solidFill>
                <a:latin typeface="Tahoma"/>
                <a:cs typeface="Tahoma"/>
              </a:rPr>
              <a:t xml:space="preserve"> </a:t>
            </a:r>
            <a:r>
              <a:rPr sz="900" spc="-25" dirty="0">
                <a:solidFill>
                  <a:srgbClr val="4B4A4A"/>
                </a:solidFill>
                <a:latin typeface="Tahoma"/>
                <a:cs typeface="Tahoma"/>
              </a:rPr>
              <a:t>(₹M)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7234" y="5310958"/>
            <a:ext cx="33718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solidFill>
                  <a:srgbClr val="4B4A4A"/>
                </a:solidFill>
                <a:latin typeface="Tahoma"/>
                <a:cs typeface="Tahoma"/>
              </a:rPr>
              <a:t>North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57932" y="5310958"/>
            <a:ext cx="34734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solidFill>
                  <a:srgbClr val="4B4A4A"/>
                </a:solidFill>
                <a:latin typeface="Tahoma"/>
                <a:cs typeface="Tahoma"/>
              </a:rPr>
              <a:t>South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15296" y="5310958"/>
            <a:ext cx="30416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20" dirty="0">
                <a:solidFill>
                  <a:srgbClr val="4B4A4A"/>
                </a:solidFill>
                <a:latin typeface="Tahoma"/>
                <a:cs typeface="Tahoma"/>
              </a:rPr>
              <a:t>West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72330" y="5310958"/>
            <a:ext cx="26162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20" dirty="0">
                <a:solidFill>
                  <a:srgbClr val="4B4A4A"/>
                </a:solidFill>
                <a:latin typeface="Tahoma"/>
                <a:cs typeface="Tahoma"/>
              </a:rPr>
              <a:t>East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96857" y="5502798"/>
            <a:ext cx="40513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solidFill>
                  <a:srgbClr val="4B4A4A"/>
                </a:solidFill>
                <a:latin typeface="Tahoma"/>
                <a:cs typeface="Tahoma"/>
              </a:rPr>
              <a:t>Region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710" y="2334399"/>
            <a:ext cx="4553467" cy="296348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920930" y="2144712"/>
            <a:ext cx="4419600" cy="1769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05" dirty="0">
                <a:solidFill>
                  <a:srgbClr val="006646"/>
                </a:solidFill>
                <a:latin typeface="Times New Roman"/>
                <a:cs typeface="Times New Roman"/>
              </a:rPr>
              <a:t>Key</a:t>
            </a:r>
            <a:r>
              <a:rPr sz="1650" b="1" spc="10" dirty="0">
                <a:solidFill>
                  <a:srgbClr val="006646"/>
                </a:solidFill>
                <a:latin typeface="Times New Roman"/>
                <a:cs typeface="Times New Roman"/>
              </a:rPr>
              <a:t xml:space="preserve"> </a:t>
            </a:r>
            <a:r>
              <a:rPr sz="1650" b="1" spc="150" dirty="0">
                <a:solidFill>
                  <a:srgbClr val="006646"/>
                </a:solidFill>
                <a:latin typeface="Times New Roman"/>
                <a:cs typeface="Times New Roman"/>
              </a:rPr>
              <a:t>Insight</a:t>
            </a:r>
            <a:endParaRPr sz="1650">
              <a:latin typeface="Times New Roman"/>
              <a:cs typeface="Times New Roman"/>
            </a:endParaRPr>
          </a:p>
          <a:p>
            <a:pPr marL="12700" marR="5080">
              <a:lnSpc>
                <a:spcPct val="133100"/>
              </a:lnSpc>
              <a:spcBef>
                <a:spcPts val="935"/>
              </a:spcBef>
            </a:pPr>
            <a:r>
              <a:rPr sz="1350" b="1" dirty="0">
                <a:solidFill>
                  <a:srgbClr val="4B4A4A"/>
                </a:solidFill>
                <a:latin typeface="Arial"/>
                <a:cs typeface="Arial"/>
              </a:rPr>
              <a:t>North</a:t>
            </a:r>
            <a:r>
              <a:rPr sz="1350" b="1" spc="30" dirty="0">
                <a:solidFill>
                  <a:srgbClr val="4B4A4A"/>
                </a:solidFill>
                <a:latin typeface="Arial"/>
                <a:cs typeface="Arial"/>
              </a:rPr>
              <a:t xml:space="preserve"> </a:t>
            </a:r>
            <a:r>
              <a:rPr sz="1350" b="1" spc="-10" dirty="0">
                <a:solidFill>
                  <a:srgbClr val="4B4A4A"/>
                </a:solidFill>
                <a:latin typeface="Arial"/>
                <a:cs typeface="Arial"/>
              </a:rPr>
              <a:t>Region</a:t>
            </a:r>
            <a:r>
              <a:rPr sz="1350" b="1" spc="30" dirty="0">
                <a:solidFill>
                  <a:srgbClr val="4B4A4A"/>
                </a:solidFill>
                <a:latin typeface="Arial"/>
                <a:cs typeface="Arial"/>
              </a:rPr>
              <a:t xml:space="preserve"> </a:t>
            </a:r>
            <a:r>
              <a:rPr sz="1350" b="1" dirty="0">
                <a:solidFill>
                  <a:srgbClr val="4B4A4A"/>
                </a:solidFill>
                <a:latin typeface="Arial"/>
                <a:cs typeface="Arial"/>
              </a:rPr>
              <a:t>generates</a:t>
            </a:r>
            <a:r>
              <a:rPr sz="1350" b="1" spc="35" dirty="0">
                <a:solidFill>
                  <a:srgbClr val="4B4A4A"/>
                </a:solidFill>
                <a:latin typeface="Arial"/>
                <a:cs typeface="Arial"/>
              </a:rPr>
              <a:t xml:space="preserve"> </a:t>
            </a:r>
            <a:r>
              <a:rPr sz="1350" b="1" spc="55" dirty="0">
                <a:solidFill>
                  <a:srgbClr val="4B4A4A"/>
                </a:solidFill>
                <a:latin typeface="Arial"/>
                <a:cs typeface="Arial"/>
              </a:rPr>
              <a:t>the</a:t>
            </a:r>
            <a:r>
              <a:rPr sz="1350" b="1" spc="30" dirty="0">
                <a:solidFill>
                  <a:srgbClr val="4B4A4A"/>
                </a:solidFill>
                <a:latin typeface="Arial"/>
                <a:cs typeface="Arial"/>
              </a:rPr>
              <a:t xml:space="preserve"> </a:t>
            </a:r>
            <a:r>
              <a:rPr sz="1350" b="1" dirty="0">
                <a:solidFill>
                  <a:srgbClr val="4B4A4A"/>
                </a:solidFill>
                <a:latin typeface="Arial"/>
                <a:cs typeface="Arial"/>
              </a:rPr>
              <a:t>highest</a:t>
            </a:r>
            <a:r>
              <a:rPr sz="1350" b="1" spc="35" dirty="0">
                <a:solidFill>
                  <a:srgbClr val="4B4A4A"/>
                </a:solidFill>
                <a:latin typeface="Arial"/>
                <a:cs typeface="Arial"/>
              </a:rPr>
              <a:t xml:space="preserve"> </a:t>
            </a:r>
            <a:r>
              <a:rPr sz="1350" b="1" dirty="0">
                <a:solidFill>
                  <a:srgbClr val="4B4A4A"/>
                </a:solidFill>
                <a:latin typeface="Arial"/>
                <a:cs typeface="Arial"/>
              </a:rPr>
              <a:t>profit</a:t>
            </a:r>
            <a:r>
              <a:rPr sz="1350" b="1" spc="30" dirty="0">
                <a:solidFill>
                  <a:srgbClr val="4B4A4A"/>
                </a:solidFill>
                <a:latin typeface="Arial"/>
                <a:cs typeface="Arial"/>
              </a:rPr>
              <a:t xml:space="preserve"> </a:t>
            </a:r>
            <a:r>
              <a:rPr sz="1350" b="1" spc="65" dirty="0">
                <a:solidFill>
                  <a:srgbClr val="4B4A4A"/>
                </a:solidFill>
                <a:latin typeface="Arial"/>
                <a:cs typeface="Arial"/>
              </a:rPr>
              <a:t>at</a:t>
            </a:r>
            <a:r>
              <a:rPr sz="1350" b="1" spc="35" dirty="0">
                <a:solidFill>
                  <a:srgbClr val="4B4A4A"/>
                </a:solidFill>
                <a:latin typeface="Arial"/>
                <a:cs typeface="Arial"/>
              </a:rPr>
              <a:t xml:space="preserve"> </a:t>
            </a:r>
            <a:r>
              <a:rPr sz="1350" b="1" spc="-10" dirty="0">
                <a:solidFill>
                  <a:srgbClr val="4B4A4A"/>
                </a:solidFill>
                <a:latin typeface="Arial"/>
                <a:cs typeface="Arial"/>
              </a:rPr>
              <a:t>₹1.8M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marginally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ahead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30" dirty="0">
                <a:solidFill>
                  <a:srgbClr val="4B4A4A"/>
                </a:solidFill>
                <a:latin typeface="Verdana"/>
                <a:cs typeface="Verdana"/>
              </a:rPr>
              <a:t>of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the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other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three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regions.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40" dirty="0">
                <a:solidFill>
                  <a:srgbClr val="4B4A4A"/>
                </a:solidFill>
                <a:latin typeface="Verdana"/>
                <a:cs typeface="Verdana"/>
              </a:rPr>
              <a:t>All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 xml:space="preserve">regions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contribute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almost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equally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to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the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total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profit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30" dirty="0">
                <a:solidFill>
                  <a:srgbClr val="4B4A4A"/>
                </a:solidFill>
                <a:latin typeface="Verdana"/>
                <a:cs typeface="Verdana"/>
              </a:rPr>
              <a:t>of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₹6.87M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555" dirty="0">
                <a:solidFill>
                  <a:srgbClr val="4B4A4A"/>
                </a:solidFill>
                <a:latin typeface="Verdana"/>
                <a:cs typeface="Verdana"/>
              </a:rPr>
              <a:t xml:space="preserve">—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reflecting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5" dirty="0">
                <a:solidFill>
                  <a:srgbClr val="006646"/>
                </a:solidFill>
                <a:latin typeface="Verdana"/>
                <a:cs typeface="Verdana"/>
              </a:rPr>
              <a:t>consistent</a:t>
            </a:r>
            <a:r>
              <a:rPr sz="1350" spc="-75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350" spc="-80" dirty="0">
                <a:solidFill>
                  <a:srgbClr val="006646"/>
                </a:solidFill>
                <a:latin typeface="Verdana"/>
                <a:cs typeface="Verdana"/>
              </a:rPr>
              <a:t>operational</a:t>
            </a:r>
            <a:r>
              <a:rPr sz="1350" spc="-75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350" spc="-55" dirty="0">
                <a:solidFill>
                  <a:srgbClr val="006646"/>
                </a:solidFill>
                <a:latin typeface="Verdana"/>
                <a:cs typeface="Verdana"/>
              </a:rPr>
              <a:t>efficiency</a:t>
            </a:r>
            <a:r>
              <a:rPr sz="1350" spc="-75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across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25" dirty="0">
                <a:solidFill>
                  <a:srgbClr val="4B4A4A"/>
                </a:solidFill>
                <a:latin typeface="Verdana"/>
                <a:cs typeface="Verdana"/>
              </a:rPr>
              <a:t xml:space="preserve">the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business.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934075" y="4143375"/>
            <a:ext cx="4905375" cy="942975"/>
            <a:chOff x="5934075" y="4143375"/>
            <a:chExt cx="4905375" cy="942975"/>
          </a:xfrm>
        </p:grpSpPr>
        <p:sp>
          <p:nvSpPr>
            <p:cNvPr id="18" name="object 18"/>
            <p:cNvSpPr/>
            <p:nvPr/>
          </p:nvSpPr>
          <p:spPr>
            <a:xfrm>
              <a:off x="5934075" y="4143375"/>
              <a:ext cx="4905375" cy="942975"/>
            </a:xfrm>
            <a:custGeom>
              <a:avLst/>
              <a:gdLst/>
              <a:ahLst/>
              <a:cxnLst/>
              <a:rect l="l" t="t" r="r" b="b"/>
              <a:pathLst>
                <a:path w="4905375" h="942975">
                  <a:moveTo>
                    <a:pt x="4785233" y="0"/>
                  </a:moveTo>
                  <a:lnTo>
                    <a:pt x="120142" y="0"/>
                  </a:lnTo>
                  <a:lnTo>
                    <a:pt x="111785" y="825"/>
                  </a:lnTo>
                  <a:lnTo>
                    <a:pt x="71577" y="13017"/>
                  </a:lnTo>
                  <a:lnTo>
                    <a:pt x="31686" y="43637"/>
                  </a:lnTo>
                  <a:lnTo>
                    <a:pt x="6553" y="87185"/>
                  </a:lnTo>
                  <a:lnTo>
                    <a:pt x="0" y="120142"/>
                  </a:lnTo>
                  <a:lnTo>
                    <a:pt x="0" y="814387"/>
                  </a:lnTo>
                  <a:lnTo>
                    <a:pt x="0" y="822833"/>
                  </a:lnTo>
                  <a:lnTo>
                    <a:pt x="13017" y="871397"/>
                  </a:lnTo>
                  <a:lnTo>
                    <a:pt x="43637" y="911275"/>
                  </a:lnTo>
                  <a:lnTo>
                    <a:pt x="87172" y="936421"/>
                  </a:lnTo>
                  <a:lnTo>
                    <a:pt x="120142" y="942975"/>
                  </a:lnTo>
                  <a:lnTo>
                    <a:pt x="4785233" y="942975"/>
                  </a:lnTo>
                  <a:lnTo>
                    <a:pt x="4833797" y="929957"/>
                  </a:lnTo>
                  <a:lnTo>
                    <a:pt x="4873688" y="899337"/>
                  </a:lnTo>
                  <a:lnTo>
                    <a:pt x="4898821" y="855789"/>
                  </a:lnTo>
                  <a:lnTo>
                    <a:pt x="4905375" y="822833"/>
                  </a:lnTo>
                  <a:lnTo>
                    <a:pt x="4905375" y="120142"/>
                  </a:lnTo>
                  <a:lnTo>
                    <a:pt x="4892357" y="71577"/>
                  </a:lnTo>
                  <a:lnTo>
                    <a:pt x="4861737" y="31686"/>
                  </a:lnTo>
                  <a:lnTo>
                    <a:pt x="4818202" y="6553"/>
                  </a:lnTo>
                  <a:lnTo>
                    <a:pt x="4793589" y="825"/>
                  </a:lnTo>
                  <a:lnTo>
                    <a:pt x="4785233" y="0"/>
                  </a:lnTo>
                  <a:close/>
                </a:path>
              </a:pathLst>
            </a:custGeom>
            <a:solidFill>
              <a:srgbClr val="B5FC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6962" y="4400549"/>
              <a:ext cx="171450" cy="17145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478142" y="4288790"/>
            <a:ext cx="3808729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-85" dirty="0">
                <a:latin typeface="Verdana"/>
                <a:cs typeface="Verdana"/>
              </a:rPr>
              <a:t>Overall</a:t>
            </a:r>
            <a:r>
              <a:rPr sz="1350" spc="-114" dirty="0">
                <a:latin typeface="Verdana"/>
                <a:cs typeface="Verdana"/>
              </a:rPr>
              <a:t xml:space="preserve"> </a:t>
            </a:r>
            <a:r>
              <a:rPr sz="1350" spc="-75" dirty="0">
                <a:latin typeface="Verdana"/>
                <a:cs typeface="Verdana"/>
              </a:rPr>
              <a:t>profit</a:t>
            </a:r>
            <a:r>
              <a:rPr sz="1350" spc="-110" dirty="0">
                <a:latin typeface="Verdana"/>
                <a:cs typeface="Verdana"/>
              </a:rPr>
              <a:t xml:space="preserve"> </a:t>
            </a:r>
            <a:r>
              <a:rPr sz="1350" spc="-95" dirty="0">
                <a:latin typeface="Verdana"/>
                <a:cs typeface="Verdana"/>
              </a:rPr>
              <a:t>margin</a:t>
            </a:r>
            <a:r>
              <a:rPr sz="1350" spc="-110" dirty="0">
                <a:latin typeface="Verdana"/>
                <a:cs typeface="Verdana"/>
              </a:rPr>
              <a:t xml:space="preserve"> </a:t>
            </a:r>
            <a:r>
              <a:rPr sz="1350" spc="-55" dirty="0">
                <a:latin typeface="Verdana"/>
                <a:cs typeface="Verdana"/>
              </a:rPr>
              <a:t>stands</a:t>
            </a:r>
            <a:r>
              <a:rPr sz="1350" spc="-114" dirty="0">
                <a:latin typeface="Verdana"/>
                <a:cs typeface="Verdana"/>
              </a:rPr>
              <a:t xml:space="preserve"> </a:t>
            </a:r>
            <a:r>
              <a:rPr sz="1350" spc="-85" dirty="0">
                <a:latin typeface="Verdana"/>
                <a:cs typeface="Verdana"/>
              </a:rPr>
              <a:t>at</a:t>
            </a:r>
            <a:r>
              <a:rPr sz="1350" spc="-110" dirty="0">
                <a:latin typeface="Verdana"/>
                <a:cs typeface="Verdana"/>
              </a:rPr>
              <a:t xml:space="preserve"> </a:t>
            </a:r>
            <a:r>
              <a:rPr sz="1350" spc="-260" dirty="0">
                <a:latin typeface="Verdana"/>
                <a:cs typeface="Verdana"/>
              </a:rPr>
              <a:t>17.5%</a:t>
            </a:r>
            <a:r>
              <a:rPr sz="1350" spc="-110" dirty="0">
                <a:latin typeface="Verdana"/>
                <a:cs typeface="Verdana"/>
              </a:rPr>
              <a:t xml:space="preserve"> </a:t>
            </a:r>
            <a:r>
              <a:rPr sz="1350" spc="0" dirty="0">
                <a:latin typeface="Verdana"/>
                <a:cs typeface="Verdana"/>
              </a:rPr>
              <a:t>—</a:t>
            </a:r>
            <a:r>
              <a:rPr sz="1350" spc="-114" dirty="0">
                <a:latin typeface="Verdana"/>
                <a:cs typeface="Verdana"/>
              </a:rPr>
              <a:t xml:space="preserve"> </a:t>
            </a:r>
            <a:r>
              <a:rPr sz="1350" spc="-80" dirty="0">
                <a:latin typeface="Verdana"/>
                <a:cs typeface="Verdana"/>
              </a:rPr>
              <a:t>a</a:t>
            </a:r>
            <a:r>
              <a:rPr sz="1350" spc="-110" dirty="0">
                <a:latin typeface="Verdana"/>
                <a:cs typeface="Verdana"/>
              </a:rPr>
              <a:t xml:space="preserve"> </a:t>
            </a:r>
            <a:r>
              <a:rPr sz="1350" spc="-40" dirty="0">
                <a:latin typeface="Verdana"/>
                <a:cs typeface="Verdana"/>
              </a:rPr>
              <a:t xml:space="preserve">healthy </a:t>
            </a:r>
            <a:r>
              <a:rPr sz="1350" spc="-70" dirty="0">
                <a:latin typeface="Verdana"/>
                <a:cs typeface="Verdana"/>
              </a:rPr>
              <a:t>indicator</a:t>
            </a:r>
            <a:r>
              <a:rPr sz="1350" spc="-95" dirty="0">
                <a:latin typeface="Verdana"/>
                <a:cs typeface="Verdana"/>
              </a:rPr>
              <a:t xml:space="preserve"> </a:t>
            </a:r>
            <a:r>
              <a:rPr sz="1350" spc="-30" dirty="0">
                <a:latin typeface="Verdana"/>
                <a:cs typeface="Verdana"/>
              </a:rPr>
              <a:t>of</a:t>
            </a:r>
            <a:r>
              <a:rPr sz="1350" spc="-90" dirty="0">
                <a:latin typeface="Verdana"/>
                <a:cs typeface="Verdana"/>
              </a:rPr>
              <a:t xml:space="preserve"> </a:t>
            </a:r>
            <a:r>
              <a:rPr sz="1350" spc="-35" dirty="0">
                <a:latin typeface="Verdana"/>
                <a:cs typeface="Verdana"/>
              </a:rPr>
              <a:t>cost</a:t>
            </a:r>
            <a:r>
              <a:rPr sz="1350" spc="-95" dirty="0">
                <a:latin typeface="Verdana"/>
                <a:cs typeface="Verdana"/>
              </a:rPr>
              <a:t xml:space="preserve"> management</a:t>
            </a:r>
            <a:r>
              <a:rPr sz="1350" spc="-90" dirty="0">
                <a:latin typeface="Verdana"/>
                <a:cs typeface="Verdana"/>
              </a:rPr>
              <a:t xml:space="preserve"> </a:t>
            </a:r>
            <a:r>
              <a:rPr sz="1350" spc="-55" dirty="0">
                <a:latin typeface="Verdana"/>
                <a:cs typeface="Verdana"/>
              </a:rPr>
              <a:t>across</a:t>
            </a:r>
            <a:r>
              <a:rPr sz="1350" spc="-95" dirty="0">
                <a:latin typeface="Verdana"/>
                <a:cs typeface="Verdana"/>
              </a:rPr>
              <a:t xml:space="preserve"> </a:t>
            </a:r>
            <a:r>
              <a:rPr sz="1350" spc="-50" dirty="0">
                <a:latin typeface="Verdana"/>
                <a:cs typeface="Verdana"/>
              </a:rPr>
              <a:t>all</a:t>
            </a:r>
            <a:r>
              <a:rPr sz="1350" spc="-90" dirty="0">
                <a:latin typeface="Verdana"/>
                <a:cs typeface="Verdana"/>
              </a:rPr>
              <a:t xml:space="preserve"> </a:t>
            </a:r>
            <a:r>
              <a:rPr sz="1350" spc="-70" dirty="0">
                <a:latin typeface="Verdana"/>
                <a:cs typeface="Verdana"/>
              </a:rPr>
              <a:t>regions.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505700"/>
          </a:xfrm>
          <a:custGeom>
            <a:avLst/>
            <a:gdLst/>
            <a:ahLst/>
            <a:cxnLst/>
            <a:rect l="l" t="t" r="r" b="b"/>
            <a:pathLst>
              <a:path w="11430000" h="7505700">
                <a:moveTo>
                  <a:pt x="11430000" y="0"/>
                </a:moveTo>
                <a:lnTo>
                  <a:pt x="0" y="0"/>
                </a:lnTo>
                <a:lnTo>
                  <a:pt x="0" y="7505700"/>
                </a:lnTo>
                <a:lnTo>
                  <a:pt x="11430000" y="75057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E5F9F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7375" y="482600"/>
            <a:ext cx="574865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54" dirty="0">
                <a:latin typeface="Calibri"/>
                <a:cs typeface="Calibri"/>
              </a:rPr>
              <a:t>Profit</a:t>
            </a:r>
            <a:r>
              <a:rPr spc="20" dirty="0">
                <a:latin typeface="Calibri"/>
                <a:cs typeface="Calibri"/>
              </a:rPr>
              <a:t xml:space="preserve"> </a:t>
            </a:r>
            <a:r>
              <a:rPr spc="254" dirty="0">
                <a:latin typeface="Calibri"/>
                <a:cs typeface="Calibri"/>
              </a:rPr>
              <a:t>Margin</a:t>
            </a:r>
            <a:r>
              <a:rPr spc="25" dirty="0">
                <a:latin typeface="Calibri"/>
                <a:cs typeface="Calibri"/>
              </a:rPr>
              <a:t xml:space="preserve"> </a:t>
            </a:r>
            <a:r>
              <a:rPr spc="310" dirty="0">
                <a:latin typeface="Calibri"/>
                <a:cs typeface="Calibri"/>
              </a:rPr>
              <a:t>Comparison</a:t>
            </a:r>
          </a:p>
        </p:txBody>
      </p:sp>
      <p:sp>
        <p:nvSpPr>
          <p:cNvPr id="4" name="object 4"/>
          <p:cNvSpPr/>
          <p:nvPr/>
        </p:nvSpPr>
        <p:spPr>
          <a:xfrm>
            <a:off x="604837" y="1357312"/>
            <a:ext cx="2628900" cy="333375"/>
          </a:xfrm>
          <a:custGeom>
            <a:avLst/>
            <a:gdLst/>
            <a:ahLst/>
            <a:cxnLst/>
            <a:rect l="l" t="t" r="r" b="b"/>
            <a:pathLst>
              <a:path w="2628900" h="333375">
                <a:moveTo>
                  <a:pt x="0" y="235267"/>
                </a:moveTo>
                <a:lnTo>
                  <a:pt x="0" y="98107"/>
                </a:lnTo>
                <a:lnTo>
                  <a:pt x="0" y="91668"/>
                </a:lnTo>
                <a:lnTo>
                  <a:pt x="629" y="85280"/>
                </a:lnTo>
                <a:lnTo>
                  <a:pt x="1884" y="78968"/>
                </a:lnTo>
                <a:lnTo>
                  <a:pt x="3140" y="72644"/>
                </a:lnTo>
                <a:lnTo>
                  <a:pt x="5001" y="66509"/>
                </a:lnTo>
                <a:lnTo>
                  <a:pt x="7466" y="60566"/>
                </a:lnTo>
                <a:lnTo>
                  <a:pt x="9931" y="54610"/>
                </a:lnTo>
                <a:lnTo>
                  <a:pt x="12952" y="48958"/>
                </a:lnTo>
                <a:lnTo>
                  <a:pt x="16535" y="43599"/>
                </a:lnTo>
                <a:lnTo>
                  <a:pt x="20111" y="38239"/>
                </a:lnTo>
                <a:lnTo>
                  <a:pt x="24179" y="33286"/>
                </a:lnTo>
                <a:lnTo>
                  <a:pt x="28733" y="28740"/>
                </a:lnTo>
                <a:lnTo>
                  <a:pt x="33287" y="24180"/>
                </a:lnTo>
                <a:lnTo>
                  <a:pt x="38243" y="20116"/>
                </a:lnTo>
                <a:lnTo>
                  <a:pt x="43601" y="16535"/>
                </a:lnTo>
                <a:lnTo>
                  <a:pt x="48959" y="12954"/>
                </a:lnTo>
                <a:lnTo>
                  <a:pt x="54610" y="9931"/>
                </a:lnTo>
                <a:lnTo>
                  <a:pt x="60563" y="7467"/>
                </a:lnTo>
                <a:lnTo>
                  <a:pt x="66516" y="5003"/>
                </a:lnTo>
                <a:lnTo>
                  <a:pt x="72647" y="3136"/>
                </a:lnTo>
                <a:lnTo>
                  <a:pt x="78968" y="1892"/>
                </a:lnTo>
                <a:lnTo>
                  <a:pt x="85283" y="622"/>
                </a:lnTo>
                <a:lnTo>
                  <a:pt x="91663" y="0"/>
                </a:lnTo>
                <a:lnTo>
                  <a:pt x="98107" y="0"/>
                </a:lnTo>
                <a:lnTo>
                  <a:pt x="2530792" y="0"/>
                </a:lnTo>
                <a:lnTo>
                  <a:pt x="2537231" y="0"/>
                </a:lnTo>
                <a:lnTo>
                  <a:pt x="2543619" y="622"/>
                </a:lnTo>
                <a:lnTo>
                  <a:pt x="2549931" y="1892"/>
                </a:lnTo>
                <a:lnTo>
                  <a:pt x="2556256" y="3136"/>
                </a:lnTo>
                <a:lnTo>
                  <a:pt x="2562390" y="5003"/>
                </a:lnTo>
                <a:lnTo>
                  <a:pt x="2568333" y="7467"/>
                </a:lnTo>
                <a:lnTo>
                  <a:pt x="2574290" y="9931"/>
                </a:lnTo>
                <a:lnTo>
                  <a:pt x="2600172" y="28740"/>
                </a:lnTo>
                <a:lnTo>
                  <a:pt x="2604719" y="33286"/>
                </a:lnTo>
                <a:lnTo>
                  <a:pt x="2621432" y="60566"/>
                </a:lnTo>
                <a:lnTo>
                  <a:pt x="2623896" y="66509"/>
                </a:lnTo>
                <a:lnTo>
                  <a:pt x="2625763" y="72644"/>
                </a:lnTo>
                <a:lnTo>
                  <a:pt x="2627020" y="78968"/>
                </a:lnTo>
                <a:lnTo>
                  <a:pt x="2628265" y="85280"/>
                </a:lnTo>
                <a:lnTo>
                  <a:pt x="2628900" y="91668"/>
                </a:lnTo>
                <a:lnTo>
                  <a:pt x="2628900" y="98107"/>
                </a:lnTo>
                <a:lnTo>
                  <a:pt x="2628900" y="235267"/>
                </a:lnTo>
                <a:lnTo>
                  <a:pt x="2628900" y="241706"/>
                </a:lnTo>
                <a:lnTo>
                  <a:pt x="2628265" y="248081"/>
                </a:lnTo>
                <a:lnTo>
                  <a:pt x="2627020" y="254406"/>
                </a:lnTo>
                <a:lnTo>
                  <a:pt x="2625763" y="260718"/>
                </a:lnTo>
                <a:lnTo>
                  <a:pt x="2623896" y="266865"/>
                </a:lnTo>
                <a:lnTo>
                  <a:pt x="2621432" y="272808"/>
                </a:lnTo>
                <a:lnTo>
                  <a:pt x="2618968" y="278765"/>
                </a:lnTo>
                <a:lnTo>
                  <a:pt x="2595613" y="309194"/>
                </a:lnTo>
                <a:lnTo>
                  <a:pt x="2585300" y="316839"/>
                </a:lnTo>
                <a:lnTo>
                  <a:pt x="2579941" y="320421"/>
                </a:lnTo>
                <a:lnTo>
                  <a:pt x="2574290" y="323443"/>
                </a:lnTo>
                <a:lnTo>
                  <a:pt x="2568333" y="325907"/>
                </a:lnTo>
                <a:lnTo>
                  <a:pt x="2562390" y="328371"/>
                </a:lnTo>
                <a:lnTo>
                  <a:pt x="2556256" y="330225"/>
                </a:lnTo>
                <a:lnTo>
                  <a:pt x="2549931" y="331495"/>
                </a:lnTo>
                <a:lnTo>
                  <a:pt x="2543619" y="332740"/>
                </a:lnTo>
                <a:lnTo>
                  <a:pt x="2537231" y="333375"/>
                </a:lnTo>
                <a:lnTo>
                  <a:pt x="2530792" y="333375"/>
                </a:lnTo>
                <a:lnTo>
                  <a:pt x="98107" y="333375"/>
                </a:lnTo>
                <a:lnTo>
                  <a:pt x="91663" y="333375"/>
                </a:lnTo>
                <a:lnTo>
                  <a:pt x="85283" y="332740"/>
                </a:lnTo>
                <a:lnTo>
                  <a:pt x="78968" y="331495"/>
                </a:lnTo>
                <a:lnTo>
                  <a:pt x="72647" y="330225"/>
                </a:lnTo>
                <a:lnTo>
                  <a:pt x="66516" y="328371"/>
                </a:lnTo>
                <a:lnTo>
                  <a:pt x="60563" y="325907"/>
                </a:lnTo>
                <a:lnTo>
                  <a:pt x="54610" y="323443"/>
                </a:lnTo>
                <a:lnTo>
                  <a:pt x="48959" y="320421"/>
                </a:lnTo>
                <a:lnTo>
                  <a:pt x="43601" y="316839"/>
                </a:lnTo>
                <a:lnTo>
                  <a:pt x="38243" y="313258"/>
                </a:lnTo>
                <a:lnTo>
                  <a:pt x="33287" y="309194"/>
                </a:lnTo>
                <a:lnTo>
                  <a:pt x="28733" y="304634"/>
                </a:lnTo>
                <a:lnTo>
                  <a:pt x="24179" y="300088"/>
                </a:lnTo>
                <a:lnTo>
                  <a:pt x="7466" y="272808"/>
                </a:lnTo>
                <a:lnTo>
                  <a:pt x="5001" y="266865"/>
                </a:lnTo>
                <a:lnTo>
                  <a:pt x="3140" y="260718"/>
                </a:lnTo>
                <a:lnTo>
                  <a:pt x="1884" y="254406"/>
                </a:lnTo>
                <a:lnTo>
                  <a:pt x="629" y="248081"/>
                </a:lnTo>
                <a:lnTo>
                  <a:pt x="0" y="241706"/>
                </a:lnTo>
                <a:lnTo>
                  <a:pt x="0" y="235267"/>
                </a:lnTo>
                <a:close/>
              </a:path>
            </a:pathLst>
          </a:custGeom>
          <a:ln w="9525">
            <a:solidFill>
              <a:srgbClr val="006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9740" y="1421764"/>
            <a:ext cx="244284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25" dirty="0">
                <a:solidFill>
                  <a:srgbClr val="006646"/>
                </a:solidFill>
                <a:latin typeface="Verdana"/>
                <a:cs typeface="Verdana"/>
              </a:rPr>
              <a:t>FORMULA:</a:t>
            </a:r>
            <a:r>
              <a:rPr sz="1050" spc="-65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050" spc="-70" dirty="0">
                <a:solidFill>
                  <a:srgbClr val="006646"/>
                </a:solidFill>
                <a:latin typeface="Verdana"/>
                <a:cs typeface="Verdana"/>
              </a:rPr>
              <a:t>(PROFIT</a:t>
            </a:r>
            <a:r>
              <a:rPr sz="1050" spc="-60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050" spc="-285" dirty="0">
                <a:solidFill>
                  <a:srgbClr val="006646"/>
                </a:solidFill>
                <a:latin typeface="Verdana"/>
                <a:cs typeface="Verdana"/>
              </a:rPr>
              <a:t>÷</a:t>
            </a:r>
            <a:r>
              <a:rPr sz="1050" spc="-65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050" spc="-35" dirty="0">
                <a:solidFill>
                  <a:srgbClr val="006646"/>
                </a:solidFill>
                <a:latin typeface="Verdana"/>
                <a:cs typeface="Verdana"/>
              </a:rPr>
              <a:t>REVENUE)</a:t>
            </a:r>
            <a:r>
              <a:rPr sz="1050" spc="-60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050" spc="-330" dirty="0">
                <a:solidFill>
                  <a:srgbClr val="006646"/>
                </a:solidFill>
                <a:latin typeface="Verdana"/>
                <a:cs typeface="Verdana"/>
              </a:rPr>
              <a:t>×</a:t>
            </a:r>
            <a:r>
              <a:rPr sz="1050" spc="-65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050" spc="-25" dirty="0">
                <a:solidFill>
                  <a:srgbClr val="006646"/>
                </a:solidFill>
                <a:latin typeface="Verdana"/>
                <a:cs typeface="Verdana"/>
              </a:rPr>
              <a:t>100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1520" y="5234781"/>
            <a:ext cx="10033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45" dirty="0">
                <a:solidFill>
                  <a:srgbClr val="4B4A4A"/>
                </a:solidFill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41734" y="5234781"/>
            <a:ext cx="9525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5" dirty="0">
                <a:solidFill>
                  <a:srgbClr val="4B4A4A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93595" y="5234781"/>
            <a:ext cx="14287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25" dirty="0">
                <a:solidFill>
                  <a:srgbClr val="4B4A4A"/>
                </a:solidFill>
                <a:latin typeface="Tahoma"/>
                <a:cs typeface="Tahoma"/>
              </a:rPr>
              <a:t>15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1855" y="5181129"/>
            <a:ext cx="965835" cy="4095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654050">
              <a:lnSpc>
                <a:spcPct val="100000"/>
              </a:lnSpc>
              <a:spcBef>
                <a:spcPts val="530"/>
              </a:spcBef>
            </a:pPr>
            <a:r>
              <a:rPr sz="900" spc="-25" dirty="0">
                <a:solidFill>
                  <a:srgbClr val="4B4A4A"/>
                </a:solidFill>
                <a:latin typeface="Tahoma"/>
                <a:cs typeface="Tahoma"/>
              </a:rPr>
              <a:t>10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10" dirty="0">
                <a:solidFill>
                  <a:srgbClr val="4B4A4A"/>
                </a:solidFill>
                <a:latin typeface="Tahoma"/>
                <a:cs typeface="Tahoma"/>
              </a:rPr>
              <a:t>Profit</a:t>
            </a:r>
            <a:r>
              <a:rPr sz="900" spc="155" dirty="0">
                <a:solidFill>
                  <a:srgbClr val="4B4A4A"/>
                </a:solidFill>
                <a:latin typeface="Tahoma"/>
                <a:cs typeface="Tahoma"/>
              </a:rPr>
              <a:t xml:space="preserve"> </a:t>
            </a:r>
            <a:r>
              <a:rPr sz="900" spc="10" dirty="0">
                <a:solidFill>
                  <a:srgbClr val="4B4A4A"/>
                </a:solidFill>
                <a:latin typeface="Tahoma"/>
                <a:cs typeface="Tahoma"/>
              </a:rPr>
              <a:t>Margin</a:t>
            </a:r>
            <a:r>
              <a:rPr sz="900" spc="145" dirty="0">
                <a:solidFill>
                  <a:srgbClr val="4B4A4A"/>
                </a:solidFill>
                <a:latin typeface="Tahoma"/>
                <a:cs typeface="Tahoma"/>
              </a:rPr>
              <a:t xml:space="preserve"> </a:t>
            </a:r>
            <a:r>
              <a:rPr sz="900" spc="-60" dirty="0">
                <a:solidFill>
                  <a:srgbClr val="4B4A4A"/>
                </a:solidFill>
                <a:latin typeface="Tahoma"/>
                <a:cs typeface="Tahoma"/>
              </a:rPr>
              <a:t>(%)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46651" y="2631300"/>
            <a:ext cx="85725" cy="10795"/>
          </a:xfrm>
          <a:custGeom>
            <a:avLst/>
            <a:gdLst/>
            <a:ahLst/>
            <a:cxnLst/>
            <a:rect l="l" t="t" r="r" b="b"/>
            <a:pathLst>
              <a:path w="85725" h="10794">
                <a:moveTo>
                  <a:pt x="28133" y="0"/>
                </a:moveTo>
                <a:lnTo>
                  <a:pt x="3859" y="0"/>
                </a:lnTo>
                <a:lnTo>
                  <a:pt x="2603" y="520"/>
                </a:lnTo>
                <a:lnTo>
                  <a:pt x="520" y="2603"/>
                </a:lnTo>
                <a:lnTo>
                  <a:pt x="0" y="3860"/>
                </a:lnTo>
                <a:lnTo>
                  <a:pt x="0" y="6807"/>
                </a:lnTo>
                <a:lnTo>
                  <a:pt x="520" y="8064"/>
                </a:lnTo>
                <a:lnTo>
                  <a:pt x="2603" y="10147"/>
                </a:lnTo>
                <a:lnTo>
                  <a:pt x="3859" y="10668"/>
                </a:lnTo>
                <a:lnTo>
                  <a:pt x="28133" y="10668"/>
                </a:lnTo>
                <a:lnTo>
                  <a:pt x="29387" y="10147"/>
                </a:lnTo>
                <a:lnTo>
                  <a:pt x="31471" y="8064"/>
                </a:lnTo>
                <a:lnTo>
                  <a:pt x="31992" y="6807"/>
                </a:lnTo>
                <a:lnTo>
                  <a:pt x="31992" y="3860"/>
                </a:lnTo>
                <a:lnTo>
                  <a:pt x="31471" y="2603"/>
                </a:lnTo>
                <a:lnTo>
                  <a:pt x="29387" y="520"/>
                </a:lnTo>
                <a:lnTo>
                  <a:pt x="28133" y="0"/>
                </a:lnTo>
                <a:close/>
              </a:path>
              <a:path w="85725" h="10794">
                <a:moveTo>
                  <a:pt x="81447" y="0"/>
                </a:moveTo>
                <a:lnTo>
                  <a:pt x="57179" y="0"/>
                </a:lnTo>
                <a:lnTo>
                  <a:pt x="55919" y="520"/>
                </a:lnTo>
                <a:lnTo>
                  <a:pt x="53840" y="2603"/>
                </a:lnTo>
                <a:lnTo>
                  <a:pt x="53319" y="3860"/>
                </a:lnTo>
                <a:lnTo>
                  <a:pt x="53319" y="6807"/>
                </a:lnTo>
                <a:lnTo>
                  <a:pt x="53840" y="8064"/>
                </a:lnTo>
                <a:lnTo>
                  <a:pt x="55919" y="10147"/>
                </a:lnTo>
                <a:lnTo>
                  <a:pt x="57179" y="10668"/>
                </a:lnTo>
                <a:lnTo>
                  <a:pt x="81447" y="10668"/>
                </a:lnTo>
                <a:lnTo>
                  <a:pt x="82708" y="10147"/>
                </a:lnTo>
                <a:lnTo>
                  <a:pt x="84786" y="8064"/>
                </a:lnTo>
                <a:lnTo>
                  <a:pt x="85307" y="6807"/>
                </a:lnTo>
                <a:lnTo>
                  <a:pt x="85307" y="3860"/>
                </a:lnTo>
                <a:lnTo>
                  <a:pt x="84786" y="2603"/>
                </a:lnTo>
                <a:lnTo>
                  <a:pt x="82708" y="520"/>
                </a:lnTo>
                <a:lnTo>
                  <a:pt x="81447" y="0"/>
                </a:lnTo>
                <a:close/>
              </a:path>
            </a:pathLst>
          </a:custGeom>
          <a:solidFill>
            <a:srgbClr val="DFDF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95710" y="2575083"/>
            <a:ext cx="33718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solidFill>
                  <a:srgbClr val="4B4A4A"/>
                </a:solidFill>
                <a:latin typeface="Tahoma"/>
                <a:cs typeface="Tahoma"/>
              </a:rPr>
              <a:t>North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46651" y="3377501"/>
            <a:ext cx="85725" cy="10795"/>
          </a:xfrm>
          <a:custGeom>
            <a:avLst/>
            <a:gdLst/>
            <a:ahLst/>
            <a:cxnLst/>
            <a:rect l="l" t="t" r="r" b="b"/>
            <a:pathLst>
              <a:path w="85725" h="10795">
                <a:moveTo>
                  <a:pt x="28133" y="0"/>
                </a:moveTo>
                <a:lnTo>
                  <a:pt x="3859" y="0"/>
                </a:lnTo>
                <a:lnTo>
                  <a:pt x="2603" y="520"/>
                </a:lnTo>
                <a:lnTo>
                  <a:pt x="520" y="2603"/>
                </a:lnTo>
                <a:lnTo>
                  <a:pt x="0" y="3860"/>
                </a:lnTo>
                <a:lnTo>
                  <a:pt x="0" y="6807"/>
                </a:lnTo>
                <a:lnTo>
                  <a:pt x="520" y="8064"/>
                </a:lnTo>
                <a:lnTo>
                  <a:pt x="2603" y="10147"/>
                </a:lnTo>
                <a:lnTo>
                  <a:pt x="3859" y="10655"/>
                </a:lnTo>
                <a:lnTo>
                  <a:pt x="28133" y="10655"/>
                </a:lnTo>
                <a:lnTo>
                  <a:pt x="29387" y="10147"/>
                </a:lnTo>
                <a:lnTo>
                  <a:pt x="31471" y="8064"/>
                </a:lnTo>
                <a:lnTo>
                  <a:pt x="31992" y="6807"/>
                </a:lnTo>
                <a:lnTo>
                  <a:pt x="31992" y="3860"/>
                </a:lnTo>
                <a:lnTo>
                  <a:pt x="31471" y="2603"/>
                </a:lnTo>
                <a:lnTo>
                  <a:pt x="29387" y="520"/>
                </a:lnTo>
                <a:lnTo>
                  <a:pt x="28133" y="0"/>
                </a:lnTo>
                <a:close/>
              </a:path>
              <a:path w="85725" h="10795">
                <a:moveTo>
                  <a:pt x="81447" y="0"/>
                </a:moveTo>
                <a:lnTo>
                  <a:pt x="57179" y="0"/>
                </a:lnTo>
                <a:lnTo>
                  <a:pt x="55919" y="520"/>
                </a:lnTo>
                <a:lnTo>
                  <a:pt x="53840" y="2603"/>
                </a:lnTo>
                <a:lnTo>
                  <a:pt x="53319" y="3860"/>
                </a:lnTo>
                <a:lnTo>
                  <a:pt x="53319" y="6807"/>
                </a:lnTo>
                <a:lnTo>
                  <a:pt x="53840" y="8064"/>
                </a:lnTo>
                <a:lnTo>
                  <a:pt x="55919" y="10147"/>
                </a:lnTo>
                <a:lnTo>
                  <a:pt x="57179" y="10655"/>
                </a:lnTo>
                <a:lnTo>
                  <a:pt x="81447" y="10655"/>
                </a:lnTo>
                <a:lnTo>
                  <a:pt x="82708" y="10147"/>
                </a:lnTo>
                <a:lnTo>
                  <a:pt x="84786" y="8064"/>
                </a:lnTo>
                <a:lnTo>
                  <a:pt x="85307" y="6807"/>
                </a:lnTo>
                <a:lnTo>
                  <a:pt x="85307" y="3860"/>
                </a:lnTo>
                <a:lnTo>
                  <a:pt x="84786" y="2603"/>
                </a:lnTo>
                <a:lnTo>
                  <a:pt x="82708" y="520"/>
                </a:lnTo>
                <a:lnTo>
                  <a:pt x="81447" y="0"/>
                </a:lnTo>
                <a:close/>
              </a:path>
            </a:pathLst>
          </a:custGeom>
          <a:solidFill>
            <a:srgbClr val="DFDF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85737" y="3321284"/>
            <a:ext cx="34734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solidFill>
                  <a:srgbClr val="4B4A4A"/>
                </a:solidFill>
                <a:latin typeface="Tahoma"/>
                <a:cs typeface="Tahoma"/>
              </a:rPr>
              <a:t>South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46651" y="4123702"/>
            <a:ext cx="85725" cy="10795"/>
          </a:xfrm>
          <a:custGeom>
            <a:avLst/>
            <a:gdLst/>
            <a:ahLst/>
            <a:cxnLst/>
            <a:rect l="l" t="t" r="r" b="b"/>
            <a:pathLst>
              <a:path w="85725" h="10795">
                <a:moveTo>
                  <a:pt x="28133" y="0"/>
                </a:moveTo>
                <a:lnTo>
                  <a:pt x="3859" y="0"/>
                </a:lnTo>
                <a:lnTo>
                  <a:pt x="2603" y="520"/>
                </a:lnTo>
                <a:lnTo>
                  <a:pt x="520" y="2603"/>
                </a:lnTo>
                <a:lnTo>
                  <a:pt x="0" y="3860"/>
                </a:lnTo>
                <a:lnTo>
                  <a:pt x="0" y="6807"/>
                </a:lnTo>
                <a:lnTo>
                  <a:pt x="520" y="8064"/>
                </a:lnTo>
                <a:lnTo>
                  <a:pt x="2603" y="10147"/>
                </a:lnTo>
                <a:lnTo>
                  <a:pt x="3859" y="10668"/>
                </a:lnTo>
                <a:lnTo>
                  <a:pt x="28133" y="10668"/>
                </a:lnTo>
                <a:lnTo>
                  <a:pt x="29387" y="10147"/>
                </a:lnTo>
                <a:lnTo>
                  <a:pt x="31471" y="8064"/>
                </a:lnTo>
                <a:lnTo>
                  <a:pt x="31992" y="6807"/>
                </a:lnTo>
                <a:lnTo>
                  <a:pt x="31992" y="3860"/>
                </a:lnTo>
                <a:lnTo>
                  <a:pt x="31471" y="2603"/>
                </a:lnTo>
                <a:lnTo>
                  <a:pt x="29387" y="520"/>
                </a:lnTo>
                <a:lnTo>
                  <a:pt x="28133" y="0"/>
                </a:lnTo>
                <a:close/>
              </a:path>
              <a:path w="85725" h="10795">
                <a:moveTo>
                  <a:pt x="81447" y="0"/>
                </a:moveTo>
                <a:lnTo>
                  <a:pt x="57179" y="0"/>
                </a:lnTo>
                <a:lnTo>
                  <a:pt x="55919" y="520"/>
                </a:lnTo>
                <a:lnTo>
                  <a:pt x="53840" y="2603"/>
                </a:lnTo>
                <a:lnTo>
                  <a:pt x="53319" y="3860"/>
                </a:lnTo>
                <a:lnTo>
                  <a:pt x="53319" y="6807"/>
                </a:lnTo>
                <a:lnTo>
                  <a:pt x="53840" y="8064"/>
                </a:lnTo>
                <a:lnTo>
                  <a:pt x="55919" y="10147"/>
                </a:lnTo>
                <a:lnTo>
                  <a:pt x="57179" y="10668"/>
                </a:lnTo>
                <a:lnTo>
                  <a:pt x="81447" y="10668"/>
                </a:lnTo>
                <a:lnTo>
                  <a:pt x="82708" y="10147"/>
                </a:lnTo>
                <a:lnTo>
                  <a:pt x="84786" y="8064"/>
                </a:lnTo>
                <a:lnTo>
                  <a:pt x="85307" y="6807"/>
                </a:lnTo>
                <a:lnTo>
                  <a:pt x="85307" y="3860"/>
                </a:lnTo>
                <a:lnTo>
                  <a:pt x="84786" y="2603"/>
                </a:lnTo>
                <a:lnTo>
                  <a:pt x="82708" y="520"/>
                </a:lnTo>
                <a:lnTo>
                  <a:pt x="81447" y="0"/>
                </a:lnTo>
                <a:close/>
              </a:path>
            </a:pathLst>
          </a:custGeom>
          <a:solidFill>
            <a:srgbClr val="DFDF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28897" y="4067485"/>
            <a:ext cx="30416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20" dirty="0">
                <a:solidFill>
                  <a:srgbClr val="4B4A4A"/>
                </a:solidFill>
                <a:latin typeface="Tahoma"/>
                <a:cs typeface="Tahoma"/>
              </a:rPr>
              <a:t>West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46651" y="4869903"/>
            <a:ext cx="85725" cy="10795"/>
          </a:xfrm>
          <a:custGeom>
            <a:avLst/>
            <a:gdLst/>
            <a:ahLst/>
            <a:cxnLst/>
            <a:rect l="l" t="t" r="r" b="b"/>
            <a:pathLst>
              <a:path w="85725" h="10795">
                <a:moveTo>
                  <a:pt x="28133" y="0"/>
                </a:moveTo>
                <a:lnTo>
                  <a:pt x="3859" y="0"/>
                </a:lnTo>
                <a:lnTo>
                  <a:pt x="2603" y="520"/>
                </a:lnTo>
                <a:lnTo>
                  <a:pt x="520" y="2603"/>
                </a:lnTo>
                <a:lnTo>
                  <a:pt x="0" y="3860"/>
                </a:lnTo>
                <a:lnTo>
                  <a:pt x="0" y="6807"/>
                </a:lnTo>
                <a:lnTo>
                  <a:pt x="520" y="8064"/>
                </a:lnTo>
                <a:lnTo>
                  <a:pt x="2603" y="10147"/>
                </a:lnTo>
                <a:lnTo>
                  <a:pt x="3859" y="10668"/>
                </a:lnTo>
                <a:lnTo>
                  <a:pt x="28133" y="10668"/>
                </a:lnTo>
                <a:lnTo>
                  <a:pt x="29387" y="10147"/>
                </a:lnTo>
                <a:lnTo>
                  <a:pt x="31471" y="8064"/>
                </a:lnTo>
                <a:lnTo>
                  <a:pt x="31992" y="6807"/>
                </a:lnTo>
                <a:lnTo>
                  <a:pt x="31992" y="3860"/>
                </a:lnTo>
                <a:lnTo>
                  <a:pt x="31471" y="2603"/>
                </a:lnTo>
                <a:lnTo>
                  <a:pt x="29387" y="520"/>
                </a:lnTo>
                <a:lnTo>
                  <a:pt x="28133" y="0"/>
                </a:lnTo>
                <a:close/>
              </a:path>
              <a:path w="85725" h="10795">
                <a:moveTo>
                  <a:pt x="81447" y="0"/>
                </a:moveTo>
                <a:lnTo>
                  <a:pt x="57179" y="0"/>
                </a:lnTo>
                <a:lnTo>
                  <a:pt x="55919" y="520"/>
                </a:lnTo>
                <a:lnTo>
                  <a:pt x="53840" y="2603"/>
                </a:lnTo>
                <a:lnTo>
                  <a:pt x="53319" y="3860"/>
                </a:lnTo>
                <a:lnTo>
                  <a:pt x="53319" y="6807"/>
                </a:lnTo>
                <a:lnTo>
                  <a:pt x="53840" y="8064"/>
                </a:lnTo>
                <a:lnTo>
                  <a:pt x="55919" y="10147"/>
                </a:lnTo>
                <a:lnTo>
                  <a:pt x="57179" y="10668"/>
                </a:lnTo>
                <a:lnTo>
                  <a:pt x="81447" y="10668"/>
                </a:lnTo>
                <a:lnTo>
                  <a:pt x="82708" y="10147"/>
                </a:lnTo>
                <a:lnTo>
                  <a:pt x="84786" y="8064"/>
                </a:lnTo>
                <a:lnTo>
                  <a:pt x="85307" y="6807"/>
                </a:lnTo>
                <a:lnTo>
                  <a:pt x="85307" y="3860"/>
                </a:lnTo>
                <a:lnTo>
                  <a:pt x="84786" y="2603"/>
                </a:lnTo>
                <a:lnTo>
                  <a:pt x="82708" y="520"/>
                </a:lnTo>
                <a:lnTo>
                  <a:pt x="81447" y="0"/>
                </a:lnTo>
                <a:close/>
              </a:path>
            </a:pathLst>
          </a:custGeom>
          <a:solidFill>
            <a:srgbClr val="DFDF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71314" y="4813699"/>
            <a:ext cx="26162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20" dirty="0">
                <a:solidFill>
                  <a:srgbClr val="4B4A4A"/>
                </a:solidFill>
                <a:latin typeface="Tahoma"/>
                <a:cs typeface="Tahoma"/>
              </a:rPr>
              <a:t>East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7375" y="2049506"/>
            <a:ext cx="40513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solidFill>
                  <a:srgbClr val="4B4A4A"/>
                </a:solidFill>
                <a:latin typeface="Tahoma"/>
                <a:cs typeface="Tahoma"/>
              </a:rPr>
              <a:t>Region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95945" y="2159393"/>
            <a:ext cx="4607560" cy="3094355"/>
            <a:chOff x="1095945" y="2159393"/>
            <a:chExt cx="4607560" cy="309435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945" y="2258199"/>
              <a:ext cx="4286873" cy="299547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666856" y="2159393"/>
              <a:ext cx="1036955" cy="3063875"/>
            </a:xfrm>
            <a:custGeom>
              <a:avLst/>
              <a:gdLst/>
              <a:ahLst/>
              <a:cxnLst/>
              <a:rect l="l" t="t" r="r" b="b"/>
              <a:pathLst>
                <a:path w="1036954" h="3063875">
                  <a:moveTo>
                    <a:pt x="597179" y="3035223"/>
                  </a:moveTo>
                  <a:lnTo>
                    <a:pt x="596658" y="3033966"/>
                  </a:lnTo>
                  <a:lnTo>
                    <a:pt x="594575" y="3031883"/>
                  </a:lnTo>
                  <a:lnTo>
                    <a:pt x="593318" y="3031363"/>
                  </a:lnTo>
                  <a:lnTo>
                    <a:pt x="590372" y="3031363"/>
                  </a:lnTo>
                  <a:lnTo>
                    <a:pt x="589114" y="3031883"/>
                  </a:lnTo>
                  <a:lnTo>
                    <a:pt x="587032" y="3033966"/>
                  </a:lnTo>
                  <a:lnTo>
                    <a:pt x="586511" y="3035223"/>
                  </a:lnTo>
                  <a:lnTo>
                    <a:pt x="586511" y="3059493"/>
                  </a:lnTo>
                  <a:lnTo>
                    <a:pt x="587032" y="3060750"/>
                  </a:lnTo>
                  <a:lnTo>
                    <a:pt x="589114" y="3062833"/>
                  </a:lnTo>
                  <a:lnTo>
                    <a:pt x="590372" y="3063354"/>
                  </a:lnTo>
                  <a:lnTo>
                    <a:pt x="593318" y="3063354"/>
                  </a:lnTo>
                  <a:lnTo>
                    <a:pt x="594575" y="3062833"/>
                  </a:lnTo>
                  <a:lnTo>
                    <a:pt x="596658" y="3060750"/>
                  </a:lnTo>
                  <a:lnTo>
                    <a:pt x="597179" y="3059493"/>
                  </a:lnTo>
                  <a:lnTo>
                    <a:pt x="597179" y="3035223"/>
                  </a:lnTo>
                  <a:close/>
                </a:path>
                <a:path w="1036954" h="3063875">
                  <a:moveTo>
                    <a:pt x="597179" y="2981909"/>
                  </a:moveTo>
                  <a:lnTo>
                    <a:pt x="596658" y="2980639"/>
                  </a:lnTo>
                  <a:lnTo>
                    <a:pt x="594575" y="2978569"/>
                  </a:lnTo>
                  <a:lnTo>
                    <a:pt x="593318" y="2978048"/>
                  </a:lnTo>
                  <a:lnTo>
                    <a:pt x="590372" y="2978048"/>
                  </a:lnTo>
                  <a:lnTo>
                    <a:pt x="589114" y="2978569"/>
                  </a:lnTo>
                  <a:lnTo>
                    <a:pt x="587032" y="2980639"/>
                  </a:lnTo>
                  <a:lnTo>
                    <a:pt x="586511" y="2981909"/>
                  </a:lnTo>
                  <a:lnTo>
                    <a:pt x="586511" y="3006179"/>
                  </a:lnTo>
                  <a:lnTo>
                    <a:pt x="587032" y="3007436"/>
                  </a:lnTo>
                  <a:lnTo>
                    <a:pt x="589114" y="3009506"/>
                  </a:lnTo>
                  <a:lnTo>
                    <a:pt x="590372" y="3010027"/>
                  </a:lnTo>
                  <a:lnTo>
                    <a:pt x="593318" y="3010027"/>
                  </a:lnTo>
                  <a:lnTo>
                    <a:pt x="594575" y="3009506"/>
                  </a:lnTo>
                  <a:lnTo>
                    <a:pt x="596658" y="3007436"/>
                  </a:lnTo>
                  <a:lnTo>
                    <a:pt x="597179" y="3006179"/>
                  </a:lnTo>
                  <a:lnTo>
                    <a:pt x="597179" y="2981909"/>
                  </a:lnTo>
                  <a:close/>
                </a:path>
                <a:path w="1036954" h="3063875">
                  <a:moveTo>
                    <a:pt x="597179" y="2928582"/>
                  </a:moveTo>
                  <a:lnTo>
                    <a:pt x="596658" y="2927324"/>
                  </a:lnTo>
                  <a:lnTo>
                    <a:pt x="594575" y="2925241"/>
                  </a:lnTo>
                  <a:lnTo>
                    <a:pt x="593318" y="2924721"/>
                  </a:lnTo>
                  <a:lnTo>
                    <a:pt x="590372" y="2924721"/>
                  </a:lnTo>
                  <a:lnTo>
                    <a:pt x="589114" y="2925241"/>
                  </a:lnTo>
                  <a:lnTo>
                    <a:pt x="587032" y="2927324"/>
                  </a:lnTo>
                  <a:lnTo>
                    <a:pt x="586511" y="2928582"/>
                  </a:lnTo>
                  <a:lnTo>
                    <a:pt x="586511" y="2952864"/>
                  </a:lnTo>
                  <a:lnTo>
                    <a:pt x="587032" y="2954109"/>
                  </a:lnTo>
                  <a:lnTo>
                    <a:pt x="589114" y="2956191"/>
                  </a:lnTo>
                  <a:lnTo>
                    <a:pt x="590372" y="2956712"/>
                  </a:lnTo>
                  <a:lnTo>
                    <a:pt x="593318" y="2956712"/>
                  </a:lnTo>
                  <a:lnTo>
                    <a:pt x="594575" y="2956191"/>
                  </a:lnTo>
                  <a:lnTo>
                    <a:pt x="596658" y="2954109"/>
                  </a:lnTo>
                  <a:lnTo>
                    <a:pt x="597179" y="2952864"/>
                  </a:lnTo>
                  <a:lnTo>
                    <a:pt x="597179" y="2928582"/>
                  </a:lnTo>
                  <a:close/>
                </a:path>
                <a:path w="1036954" h="3063875">
                  <a:moveTo>
                    <a:pt x="597179" y="2875267"/>
                  </a:moveTo>
                  <a:lnTo>
                    <a:pt x="596658" y="2874010"/>
                  </a:lnTo>
                  <a:lnTo>
                    <a:pt x="594575" y="2871927"/>
                  </a:lnTo>
                  <a:lnTo>
                    <a:pt x="593318" y="2871406"/>
                  </a:lnTo>
                  <a:lnTo>
                    <a:pt x="590372" y="2871406"/>
                  </a:lnTo>
                  <a:lnTo>
                    <a:pt x="589114" y="2871927"/>
                  </a:lnTo>
                  <a:lnTo>
                    <a:pt x="587032" y="2874010"/>
                  </a:lnTo>
                  <a:lnTo>
                    <a:pt x="586511" y="2875267"/>
                  </a:lnTo>
                  <a:lnTo>
                    <a:pt x="586511" y="2899537"/>
                  </a:lnTo>
                  <a:lnTo>
                    <a:pt x="587032" y="2900794"/>
                  </a:lnTo>
                  <a:lnTo>
                    <a:pt x="589114" y="2902877"/>
                  </a:lnTo>
                  <a:lnTo>
                    <a:pt x="590372" y="2903397"/>
                  </a:lnTo>
                  <a:lnTo>
                    <a:pt x="593318" y="2903397"/>
                  </a:lnTo>
                  <a:lnTo>
                    <a:pt x="594575" y="2902877"/>
                  </a:lnTo>
                  <a:lnTo>
                    <a:pt x="596658" y="2900794"/>
                  </a:lnTo>
                  <a:lnTo>
                    <a:pt x="597179" y="2899537"/>
                  </a:lnTo>
                  <a:lnTo>
                    <a:pt x="597179" y="2875267"/>
                  </a:lnTo>
                  <a:close/>
                </a:path>
                <a:path w="1036954" h="3063875">
                  <a:moveTo>
                    <a:pt x="597179" y="2821940"/>
                  </a:moveTo>
                  <a:lnTo>
                    <a:pt x="596658" y="2820682"/>
                  </a:lnTo>
                  <a:lnTo>
                    <a:pt x="594575" y="2818600"/>
                  </a:lnTo>
                  <a:lnTo>
                    <a:pt x="593318" y="2818079"/>
                  </a:lnTo>
                  <a:lnTo>
                    <a:pt x="590372" y="2818079"/>
                  </a:lnTo>
                  <a:lnTo>
                    <a:pt x="589114" y="2818600"/>
                  </a:lnTo>
                  <a:lnTo>
                    <a:pt x="587032" y="2820682"/>
                  </a:lnTo>
                  <a:lnTo>
                    <a:pt x="586511" y="2821940"/>
                  </a:lnTo>
                  <a:lnTo>
                    <a:pt x="586511" y="2846222"/>
                  </a:lnTo>
                  <a:lnTo>
                    <a:pt x="587032" y="2847467"/>
                  </a:lnTo>
                  <a:lnTo>
                    <a:pt x="589114" y="2849562"/>
                  </a:lnTo>
                  <a:lnTo>
                    <a:pt x="590372" y="2850083"/>
                  </a:lnTo>
                  <a:lnTo>
                    <a:pt x="593318" y="2850083"/>
                  </a:lnTo>
                  <a:lnTo>
                    <a:pt x="594575" y="2849562"/>
                  </a:lnTo>
                  <a:lnTo>
                    <a:pt x="596658" y="2847467"/>
                  </a:lnTo>
                  <a:lnTo>
                    <a:pt x="597179" y="2846222"/>
                  </a:lnTo>
                  <a:lnTo>
                    <a:pt x="597179" y="2821940"/>
                  </a:lnTo>
                  <a:close/>
                </a:path>
                <a:path w="1036954" h="3063875">
                  <a:moveTo>
                    <a:pt x="597179" y="2768625"/>
                  </a:moveTo>
                  <a:lnTo>
                    <a:pt x="596658" y="2767368"/>
                  </a:lnTo>
                  <a:lnTo>
                    <a:pt x="594575" y="2765285"/>
                  </a:lnTo>
                  <a:lnTo>
                    <a:pt x="593318" y="2764764"/>
                  </a:lnTo>
                  <a:lnTo>
                    <a:pt x="590372" y="2764764"/>
                  </a:lnTo>
                  <a:lnTo>
                    <a:pt x="589114" y="2765285"/>
                  </a:lnTo>
                  <a:lnTo>
                    <a:pt x="587032" y="2767368"/>
                  </a:lnTo>
                  <a:lnTo>
                    <a:pt x="586511" y="2768625"/>
                  </a:lnTo>
                  <a:lnTo>
                    <a:pt x="586511" y="2792895"/>
                  </a:lnTo>
                  <a:lnTo>
                    <a:pt x="587032" y="2794152"/>
                  </a:lnTo>
                  <a:lnTo>
                    <a:pt x="589114" y="2796235"/>
                  </a:lnTo>
                  <a:lnTo>
                    <a:pt x="590372" y="2796756"/>
                  </a:lnTo>
                  <a:lnTo>
                    <a:pt x="593318" y="2796756"/>
                  </a:lnTo>
                  <a:lnTo>
                    <a:pt x="594575" y="2796235"/>
                  </a:lnTo>
                  <a:lnTo>
                    <a:pt x="596658" y="2794152"/>
                  </a:lnTo>
                  <a:lnTo>
                    <a:pt x="597179" y="2792895"/>
                  </a:lnTo>
                  <a:lnTo>
                    <a:pt x="597179" y="2768625"/>
                  </a:lnTo>
                  <a:close/>
                </a:path>
                <a:path w="1036954" h="3063875">
                  <a:moveTo>
                    <a:pt x="597179" y="2715310"/>
                  </a:moveTo>
                  <a:lnTo>
                    <a:pt x="596658" y="2714053"/>
                  </a:lnTo>
                  <a:lnTo>
                    <a:pt x="594575" y="2711970"/>
                  </a:lnTo>
                  <a:lnTo>
                    <a:pt x="593318" y="2711450"/>
                  </a:lnTo>
                  <a:lnTo>
                    <a:pt x="590372" y="2711450"/>
                  </a:lnTo>
                  <a:lnTo>
                    <a:pt x="589114" y="2711970"/>
                  </a:lnTo>
                  <a:lnTo>
                    <a:pt x="587032" y="2714053"/>
                  </a:lnTo>
                  <a:lnTo>
                    <a:pt x="586511" y="2715310"/>
                  </a:lnTo>
                  <a:lnTo>
                    <a:pt x="586511" y="2739580"/>
                  </a:lnTo>
                  <a:lnTo>
                    <a:pt x="587032" y="2740837"/>
                  </a:lnTo>
                  <a:lnTo>
                    <a:pt x="589114" y="2742920"/>
                  </a:lnTo>
                  <a:lnTo>
                    <a:pt x="590372" y="2743441"/>
                  </a:lnTo>
                  <a:lnTo>
                    <a:pt x="593318" y="2743441"/>
                  </a:lnTo>
                  <a:lnTo>
                    <a:pt x="594575" y="2742920"/>
                  </a:lnTo>
                  <a:lnTo>
                    <a:pt x="596658" y="2740837"/>
                  </a:lnTo>
                  <a:lnTo>
                    <a:pt x="597179" y="2739580"/>
                  </a:lnTo>
                  <a:lnTo>
                    <a:pt x="597179" y="2715310"/>
                  </a:lnTo>
                  <a:close/>
                </a:path>
                <a:path w="1036954" h="3063875">
                  <a:moveTo>
                    <a:pt x="597179" y="2661983"/>
                  </a:moveTo>
                  <a:lnTo>
                    <a:pt x="596658" y="2660726"/>
                  </a:lnTo>
                  <a:lnTo>
                    <a:pt x="594575" y="2658656"/>
                  </a:lnTo>
                  <a:lnTo>
                    <a:pt x="593318" y="2658122"/>
                  </a:lnTo>
                  <a:lnTo>
                    <a:pt x="590372" y="2658122"/>
                  </a:lnTo>
                  <a:lnTo>
                    <a:pt x="589114" y="2658656"/>
                  </a:lnTo>
                  <a:lnTo>
                    <a:pt x="587032" y="2660726"/>
                  </a:lnTo>
                  <a:lnTo>
                    <a:pt x="586511" y="2661983"/>
                  </a:lnTo>
                  <a:lnTo>
                    <a:pt x="586511" y="2686266"/>
                  </a:lnTo>
                  <a:lnTo>
                    <a:pt x="587032" y="2687523"/>
                  </a:lnTo>
                  <a:lnTo>
                    <a:pt x="589114" y="2689606"/>
                  </a:lnTo>
                  <a:lnTo>
                    <a:pt x="590372" y="2690114"/>
                  </a:lnTo>
                  <a:lnTo>
                    <a:pt x="593318" y="2690114"/>
                  </a:lnTo>
                  <a:lnTo>
                    <a:pt x="594575" y="2689606"/>
                  </a:lnTo>
                  <a:lnTo>
                    <a:pt x="596658" y="2687523"/>
                  </a:lnTo>
                  <a:lnTo>
                    <a:pt x="597179" y="2686266"/>
                  </a:lnTo>
                  <a:lnTo>
                    <a:pt x="597179" y="2661983"/>
                  </a:lnTo>
                  <a:close/>
                </a:path>
                <a:path w="1036954" h="3063875">
                  <a:moveTo>
                    <a:pt x="597179" y="2608669"/>
                  </a:moveTo>
                  <a:lnTo>
                    <a:pt x="596658" y="2607411"/>
                  </a:lnTo>
                  <a:lnTo>
                    <a:pt x="594575" y="2605328"/>
                  </a:lnTo>
                  <a:lnTo>
                    <a:pt x="593318" y="2604808"/>
                  </a:lnTo>
                  <a:lnTo>
                    <a:pt x="590372" y="2604808"/>
                  </a:lnTo>
                  <a:lnTo>
                    <a:pt x="589114" y="2605328"/>
                  </a:lnTo>
                  <a:lnTo>
                    <a:pt x="587032" y="2607411"/>
                  </a:lnTo>
                  <a:lnTo>
                    <a:pt x="586511" y="2608669"/>
                  </a:lnTo>
                  <a:lnTo>
                    <a:pt x="586511" y="2632938"/>
                  </a:lnTo>
                  <a:lnTo>
                    <a:pt x="587032" y="2634196"/>
                  </a:lnTo>
                  <a:lnTo>
                    <a:pt x="589114" y="2636278"/>
                  </a:lnTo>
                  <a:lnTo>
                    <a:pt x="590372" y="2636799"/>
                  </a:lnTo>
                  <a:lnTo>
                    <a:pt x="593318" y="2636799"/>
                  </a:lnTo>
                  <a:lnTo>
                    <a:pt x="594575" y="2636278"/>
                  </a:lnTo>
                  <a:lnTo>
                    <a:pt x="596658" y="2634196"/>
                  </a:lnTo>
                  <a:lnTo>
                    <a:pt x="597179" y="2632938"/>
                  </a:lnTo>
                  <a:lnTo>
                    <a:pt x="597179" y="2608669"/>
                  </a:lnTo>
                  <a:close/>
                </a:path>
                <a:path w="1036954" h="3063875">
                  <a:moveTo>
                    <a:pt x="597179" y="2555354"/>
                  </a:moveTo>
                  <a:lnTo>
                    <a:pt x="596658" y="2554097"/>
                  </a:lnTo>
                  <a:lnTo>
                    <a:pt x="594575" y="2552014"/>
                  </a:lnTo>
                  <a:lnTo>
                    <a:pt x="593318" y="2551493"/>
                  </a:lnTo>
                  <a:lnTo>
                    <a:pt x="590372" y="2551493"/>
                  </a:lnTo>
                  <a:lnTo>
                    <a:pt x="589114" y="2552014"/>
                  </a:lnTo>
                  <a:lnTo>
                    <a:pt x="587032" y="2554097"/>
                  </a:lnTo>
                  <a:lnTo>
                    <a:pt x="586511" y="2555354"/>
                  </a:lnTo>
                  <a:lnTo>
                    <a:pt x="586511" y="2579624"/>
                  </a:lnTo>
                  <a:lnTo>
                    <a:pt x="587032" y="2580881"/>
                  </a:lnTo>
                  <a:lnTo>
                    <a:pt x="589114" y="2582964"/>
                  </a:lnTo>
                  <a:lnTo>
                    <a:pt x="590372" y="2583484"/>
                  </a:lnTo>
                  <a:lnTo>
                    <a:pt x="593318" y="2583484"/>
                  </a:lnTo>
                  <a:lnTo>
                    <a:pt x="594575" y="2582964"/>
                  </a:lnTo>
                  <a:lnTo>
                    <a:pt x="596658" y="2580881"/>
                  </a:lnTo>
                  <a:lnTo>
                    <a:pt x="597179" y="2579624"/>
                  </a:lnTo>
                  <a:lnTo>
                    <a:pt x="597179" y="2555354"/>
                  </a:lnTo>
                  <a:close/>
                </a:path>
                <a:path w="1036954" h="3063875">
                  <a:moveTo>
                    <a:pt x="597179" y="2502027"/>
                  </a:moveTo>
                  <a:lnTo>
                    <a:pt x="596658" y="2500769"/>
                  </a:lnTo>
                  <a:lnTo>
                    <a:pt x="594575" y="2498687"/>
                  </a:lnTo>
                  <a:lnTo>
                    <a:pt x="593318" y="2498166"/>
                  </a:lnTo>
                  <a:lnTo>
                    <a:pt x="590372" y="2498166"/>
                  </a:lnTo>
                  <a:lnTo>
                    <a:pt x="589114" y="2498687"/>
                  </a:lnTo>
                  <a:lnTo>
                    <a:pt x="587032" y="2500769"/>
                  </a:lnTo>
                  <a:lnTo>
                    <a:pt x="586511" y="2502027"/>
                  </a:lnTo>
                  <a:lnTo>
                    <a:pt x="586511" y="2526296"/>
                  </a:lnTo>
                  <a:lnTo>
                    <a:pt x="587032" y="2527554"/>
                  </a:lnTo>
                  <a:lnTo>
                    <a:pt x="589114" y="2529636"/>
                  </a:lnTo>
                  <a:lnTo>
                    <a:pt x="590372" y="2530157"/>
                  </a:lnTo>
                  <a:lnTo>
                    <a:pt x="593318" y="2530157"/>
                  </a:lnTo>
                  <a:lnTo>
                    <a:pt x="594575" y="2529636"/>
                  </a:lnTo>
                  <a:lnTo>
                    <a:pt x="596658" y="2527554"/>
                  </a:lnTo>
                  <a:lnTo>
                    <a:pt x="597179" y="2526296"/>
                  </a:lnTo>
                  <a:lnTo>
                    <a:pt x="597179" y="2502027"/>
                  </a:lnTo>
                  <a:close/>
                </a:path>
                <a:path w="1036954" h="3063875">
                  <a:moveTo>
                    <a:pt x="597179" y="2448712"/>
                  </a:moveTo>
                  <a:lnTo>
                    <a:pt x="596658" y="2447455"/>
                  </a:lnTo>
                  <a:lnTo>
                    <a:pt x="594575" y="2445372"/>
                  </a:lnTo>
                  <a:lnTo>
                    <a:pt x="593318" y="2444851"/>
                  </a:lnTo>
                  <a:lnTo>
                    <a:pt x="590372" y="2444851"/>
                  </a:lnTo>
                  <a:lnTo>
                    <a:pt x="589114" y="2445372"/>
                  </a:lnTo>
                  <a:lnTo>
                    <a:pt x="587032" y="2447455"/>
                  </a:lnTo>
                  <a:lnTo>
                    <a:pt x="586511" y="2448712"/>
                  </a:lnTo>
                  <a:lnTo>
                    <a:pt x="586511" y="2472982"/>
                  </a:lnTo>
                  <a:lnTo>
                    <a:pt x="587032" y="2474239"/>
                  </a:lnTo>
                  <a:lnTo>
                    <a:pt x="589114" y="2476322"/>
                  </a:lnTo>
                  <a:lnTo>
                    <a:pt x="590372" y="2476843"/>
                  </a:lnTo>
                  <a:lnTo>
                    <a:pt x="593318" y="2476843"/>
                  </a:lnTo>
                  <a:lnTo>
                    <a:pt x="594575" y="2476322"/>
                  </a:lnTo>
                  <a:lnTo>
                    <a:pt x="596658" y="2474239"/>
                  </a:lnTo>
                  <a:lnTo>
                    <a:pt x="597179" y="2472982"/>
                  </a:lnTo>
                  <a:lnTo>
                    <a:pt x="597179" y="2448712"/>
                  </a:lnTo>
                  <a:close/>
                </a:path>
                <a:path w="1036954" h="3063875">
                  <a:moveTo>
                    <a:pt x="597179" y="2395397"/>
                  </a:moveTo>
                  <a:lnTo>
                    <a:pt x="596658" y="2394127"/>
                  </a:lnTo>
                  <a:lnTo>
                    <a:pt x="594575" y="2392057"/>
                  </a:lnTo>
                  <a:lnTo>
                    <a:pt x="593318" y="2391537"/>
                  </a:lnTo>
                  <a:lnTo>
                    <a:pt x="590372" y="2391537"/>
                  </a:lnTo>
                  <a:lnTo>
                    <a:pt x="589114" y="2392057"/>
                  </a:lnTo>
                  <a:lnTo>
                    <a:pt x="587032" y="2394127"/>
                  </a:lnTo>
                  <a:lnTo>
                    <a:pt x="586511" y="2395397"/>
                  </a:lnTo>
                  <a:lnTo>
                    <a:pt x="586511" y="2419667"/>
                  </a:lnTo>
                  <a:lnTo>
                    <a:pt x="587032" y="2420924"/>
                  </a:lnTo>
                  <a:lnTo>
                    <a:pt x="589114" y="2422995"/>
                  </a:lnTo>
                  <a:lnTo>
                    <a:pt x="590372" y="2423515"/>
                  </a:lnTo>
                  <a:lnTo>
                    <a:pt x="593318" y="2423515"/>
                  </a:lnTo>
                  <a:lnTo>
                    <a:pt x="594575" y="2422995"/>
                  </a:lnTo>
                  <a:lnTo>
                    <a:pt x="596658" y="2420924"/>
                  </a:lnTo>
                  <a:lnTo>
                    <a:pt x="597179" y="2419667"/>
                  </a:lnTo>
                  <a:lnTo>
                    <a:pt x="597179" y="2395397"/>
                  </a:lnTo>
                  <a:close/>
                </a:path>
                <a:path w="1036954" h="3063875">
                  <a:moveTo>
                    <a:pt x="597179" y="2342070"/>
                  </a:moveTo>
                  <a:lnTo>
                    <a:pt x="596658" y="2340813"/>
                  </a:lnTo>
                  <a:lnTo>
                    <a:pt x="594575" y="2338730"/>
                  </a:lnTo>
                  <a:lnTo>
                    <a:pt x="593318" y="2338209"/>
                  </a:lnTo>
                  <a:lnTo>
                    <a:pt x="590372" y="2338209"/>
                  </a:lnTo>
                  <a:lnTo>
                    <a:pt x="589114" y="2338730"/>
                  </a:lnTo>
                  <a:lnTo>
                    <a:pt x="587032" y="2340813"/>
                  </a:lnTo>
                  <a:lnTo>
                    <a:pt x="586511" y="2342070"/>
                  </a:lnTo>
                  <a:lnTo>
                    <a:pt x="586511" y="2366340"/>
                  </a:lnTo>
                  <a:lnTo>
                    <a:pt x="587032" y="2367597"/>
                  </a:lnTo>
                  <a:lnTo>
                    <a:pt x="589114" y="2369680"/>
                  </a:lnTo>
                  <a:lnTo>
                    <a:pt x="590372" y="2370201"/>
                  </a:lnTo>
                  <a:lnTo>
                    <a:pt x="593318" y="2370201"/>
                  </a:lnTo>
                  <a:lnTo>
                    <a:pt x="594575" y="2369680"/>
                  </a:lnTo>
                  <a:lnTo>
                    <a:pt x="596658" y="2367597"/>
                  </a:lnTo>
                  <a:lnTo>
                    <a:pt x="597179" y="2366340"/>
                  </a:lnTo>
                  <a:lnTo>
                    <a:pt x="597179" y="2342070"/>
                  </a:lnTo>
                  <a:close/>
                </a:path>
                <a:path w="1036954" h="3063875">
                  <a:moveTo>
                    <a:pt x="597179" y="2288756"/>
                  </a:moveTo>
                  <a:lnTo>
                    <a:pt x="596658" y="2287498"/>
                  </a:lnTo>
                  <a:lnTo>
                    <a:pt x="594575" y="2285415"/>
                  </a:lnTo>
                  <a:lnTo>
                    <a:pt x="593318" y="2284895"/>
                  </a:lnTo>
                  <a:lnTo>
                    <a:pt x="590372" y="2284895"/>
                  </a:lnTo>
                  <a:lnTo>
                    <a:pt x="589114" y="2285415"/>
                  </a:lnTo>
                  <a:lnTo>
                    <a:pt x="587032" y="2287498"/>
                  </a:lnTo>
                  <a:lnTo>
                    <a:pt x="586511" y="2288756"/>
                  </a:lnTo>
                  <a:lnTo>
                    <a:pt x="586511" y="2313025"/>
                  </a:lnTo>
                  <a:lnTo>
                    <a:pt x="587032" y="2314283"/>
                  </a:lnTo>
                  <a:lnTo>
                    <a:pt x="589114" y="2316365"/>
                  </a:lnTo>
                  <a:lnTo>
                    <a:pt x="590372" y="2316886"/>
                  </a:lnTo>
                  <a:lnTo>
                    <a:pt x="593318" y="2316886"/>
                  </a:lnTo>
                  <a:lnTo>
                    <a:pt x="594575" y="2316365"/>
                  </a:lnTo>
                  <a:lnTo>
                    <a:pt x="596658" y="2314283"/>
                  </a:lnTo>
                  <a:lnTo>
                    <a:pt x="597179" y="2313025"/>
                  </a:lnTo>
                  <a:lnTo>
                    <a:pt x="597179" y="2288756"/>
                  </a:lnTo>
                  <a:close/>
                </a:path>
                <a:path w="1036954" h="3063875">
                  <a:moveTo>
                    <a:pt x="597179" y="2235428"/>
                  </a:moveTo>
                  <a:lnTo>
                    <a:pt x="596658" y="2234171"/>
                  </a:lnTo>
                  <a:lnTo>
                    <a:pt x="594575" y="2232088"/>
                  </a:lnTo>
                  <a:lnTo>
                    <a:pt x="593318" y="2231567"/>
                  </a:lnTo>
                  <a:lnTo>
                    <a:pt x="590372" y="2231567"/>
                  </a:lnTo>
                  <a:lnTo>
                    <a:pt x="589114" y="2232088"/>
                  </a:lnTo>
                  <a:lnTo>
                    <a:pt x="587032" y="2234171"/>
                  </a:lnTo>
                  <a:lnTo>
                    <a:pt x="586511" y="2235428"/>
                  </a:lnTo>
                  <a:lnTo>
                    <a:pt x="586511" y="2259711"/>
                  </a:lnTo>
                  <a:lnTo>
                    <a:pt x="587032" y="2260955"/>
                  </a:lnTo>
                  <a:lnTo>
                    <a:pt x="589114" y="2263051"/>
                  </a:lnTo>
                  <a:lnTo>
                    <a:pt x="590372" y="2263571"/>
                  </a:lnTo>
                  <a:lnTo>
                    <a:pt x="593318" y="2263571"/>
                  </a:lnTo>
                  <a:lnTo>
                    <a:pt x="594575" y="2263051"/>
                  </a:lnTo>
                  <a:lnTo>
                    <a:pt x="596658" y="2260955"/>
                  </a:lnTo>
                  <a:lnTo>
                    <a:pt x="597179" y="2259711"/>
                  </a:lnTo>
                  <a:lnTo>
                    <a:pt x="597179" y="2235428"/>
                  </a:lnTo>
                  <a:close/>
                </a:path>
                <a:path w="1036954" h="3063875">
                  <a:moveTo>
                    <a:pt x="597179" y="2182114"/>
                  </a:moveTo>
                  <a:lnTo>
                    <a:pt x="596658" y="2180856"/>
                  </a:lnTo>
                  <a:lnTo>
                    <a:pt x="594575" y="2178774"/>
                  </a:lnTo>
                  <a:lnTo>
                    <a:pt x="593318" y="2178253"/>
                  </a:lnTo>
                  <a:lnTo>
                    <a:pt x="590372" y="2178253"/>
                  </a:lnTo>
                  <a:lnTo>
                    <a:pt x="589114" y="2178774"/>
                  </a:lnTo>
                  <a:lnTo>
                    <a:pt x="587032" y="2180856"/>
                  </a:lnTo>
                  <a:lnTo>
                    <a:pt x="586511" y="2182114"/>
                  </a:lnTo>
                  <a:lnTo>
                    <a:pt x="586511" y="2206383"/>
                  </a:lnTo>
                  <a:lnTo>
                    <a:pt x="587032" y="2207641"/>
                  </a:lnTo>
                  <a:lnTo>
                    <a:pt x="589114" y="2209723"/>
                  </a:lnTo>
                  <a:lnTo>
                    <a:pt x="590372" y="2210244"/>
                  </a:lnTo>
                  <a:lnTo>
                    <a:pt x="593318" y="2210244"/>
                  </a:lnTo>
                  <a:lnTo>
                    <a:pt x="594575" y="2209723"/>
                  </a:lnTo>
                  <a:lnTo>
                    <a:pt x="596658" y="2207641"/>
                  </a:lnTo>
                  <a:lnTo>
                    <a:pt x="597179" y="2206383"/>
                  </a:lnTo>
                  <a:lnTo>
                    <a:pt x="597179" y="2182114"/>
                  </a:lnTo>
                  <a:close/>
                </a:path>
                <a:path w="1036954" h="3063875">
                  <a:moveTo>
                    <a:pt x="597179" y="2128799"/>
                  </a:moveTo>
                  <a:lnTo>
                    <a:pt x="596658" y="2127542"/>
                  </a:lnTo>
                  <a:lnTo>
                    <a:pt x="594575" y="2125459"/>
                  </a:lnTo>
                  <a:lnTo>
                    <a:pt x="593318" y="2124938"/>
                  </a:lnTo>
                  <a:lnTo>
                    <a:pt x="590372" y="2124938"/>
                  </a:lnTo>
                  <a:lnTo>
                    <a:pt x="589114" y="2125459"/>
                  </a:lnTo>
                  <a:lnTo>
                    <a:pt x="587032" y="2127542"/>
                  </a:lnTo>
                  <a:lnTo>
                    <a:pt x="586511" y="2128799"/>
                  </a:lnTo>
                  <a:lnTo>
                    <a:pt x="586511" y="2153069"/>
                  </a:lnTo>
                  <a:lnTo>
                    <a:pt x="587032" y="2154326"/>
                  </a:lnTo>
                  <a:lnTo>
                    <a:pt x="589114" y="2156409"/>
                  </a:lnTo>
                  <a:lnTo>
                    <a:pt x="590372" y="2156930"/>
                  </a:lnTo>
                  <a:lnTo>
                    <a:pt x="593318" y="2156930"/>
                  </a:lnTo>
                  <a:lnTo>
                    <a:pt x="594575" y="2156409"/>
                  </a:lnTo>
                  <a:lnTo>
                    <a:pt x="596658" y="2154326"/>
                  </a:lnTo>
                  <a:lnTo>
                    <a:pt x="597179" y="2153069"/>
                  </a:lnTo>
                  <a:lnTo>
                    <a:pt x="597179" y="2128799"/>
                  </a:lnTo>
                  <a:close/>
                </a:path>
                <a:path w="1036954" h="3063875">
                  <a:moveTo>
                    <a:pt x="597179" y="2075472"/>
                  </a:moveTo>
                  <a:lnTo>
                    <a:pt x="596658" y="2074214"/>
                  </a:lnTo>
                  <a:lnTo>
                    <a:pt x="594575" y="2072132"/>
                  </a:lnTo>
                  <a:lnTo>
                    <a:pt x="593318" y="2071611"/>
                  </a:lnTo>
                  <a:lnTo>
                    <a:pt x="590372" y="2071611"/>
                  </a:lnTo>
                  <a:lnTo>
                    <a:pt x="589114" y="2072132"/>
                  </a:lnTo>
                  <a:lnTo>
                    <a:pt x="587032" y="2074214"/>
                  </a:lnTo>
                  <a:lnTo>
                    <a:pt x="586511" y="2075472"/>
                  </a:lnTo>
                  <a:lnTo>
                    <a:pt x="586511" y="2099741"/>
                  </a:lnTo>
                  <a:lnTo>
                    <a:pt x="587032" y="2101011"/>
                  </a:lnTo>
                  <a:lnTo>
                    <a:pt x="589114" y="2103081"/>
                  </a:lnTo>
                  <a:lnTo>
                    <a:pt x="590372" y="2103602"/>
                  </a:lnTo>
                  <a:lnTo>
                    <a:pt x="593318" y="2103602"/>
                  </a:lnTo>
                  <a:lnTo>
                    <a:pt x="594575" y="2103081"/>
                  </a:lnTo>
                  <a:lnTo>
                    <a:pt x="596658" y="2101011"/>
                  </a:lnTo>
                  <a:lnTo>
                    <a:pt x="597179" y="2099741"/>
                  </a:lnTo>
                  <a:lnTo>
                    <a:pt x="597179" y="2075472"/>
                  </a:lnTo>
                  <a:close/>
                </a:path>
                <a:path w="1036954" h="3063875">
                  <a:moveTo>
                    <a:pt x="597179" y="2022157"/>
                  </a:moveTo>
                  <a:lnTo>
                    <a:pt x="596658" y="2020900"/>
                  </a:lnTo>
                  <a:lnTo>
                    <a:pt x="594575" y="2018817"/>
                  </a:lnTo>
                  <a:lnTo>
                    <a:pt x="593318" y="2018296"/>
                  </a:lnTo>
                  <a:lnTo>
                    <a:pt x="590372" y="2018296"/>
                  </a:lnTo>
                  <a:lnTo>
                    <a:pt x="589114" y="2018817"/>
                  </a:lnTo>
                  <a:lnTo>
                    <a:pt x="587032" y="2020900"/>
                  </a:lnTo>
                  <a:lnTo>
                    <a:pt x="586511" y="2022157"/>
                  </a:lnTo>
                  <a:lnTo>
                    <a:pt x="586511" y="2046427"/>
                  </a:lnTo>
                  <a:lnTo>
                    <a:pt x="587032" y="2047684"/>
                  </a:lnTo>
                  <a:lnTo>
                    <a:pt x="589114" y="2049767"/>
                  </a:lnTo>
                  <a:lnTo>
                    <a:pt x="590372" y="2050288"/>
                  </a:lnTo>
                  <a:lnTo>
                    <a:pt x="593318" y="2050288"/>
                  </a:lnTo>
                  <a:lnTo>
                    <a:pt x="594575" y="2049767"/>
                  </a:lnTo>
                  <a:lnTo>
                    <a:pt x="596658" y="2047684"/>
                  </a:lnTo>
                  <a:lnTo>
                    <a:pt x="597179" y="2046427"/>
                  </a:lnTo>
                  <a:lnTo>
                    <a:pt x="597179" y="2022157"/>
                  </a:lnTo>
                  <a:close/>
                </a:path>
                <a:path w="1036954" h="3063875">
                  <a:moveTo>
                    <a:pt x="597179" y="1968830"/>
                  </a:moveTo>
                  <a:lnTo>
                    <a:pt x="596658" y="1967585"/>
                  </a:lnTo>
                  <a:lnTo>
                    <a:pt x="594575" y="1965502"/>
                  </a:lnTo>
                  <a:lnTo>
                    <a:pt x="593318" y="1964982"/>
                  </a:lnTo>
                  <a:lnTo>
                    <a:pt x="590372" y="1964982"/>
                  </a:lnTo>
                  <a:lnTo>
                    <a:pt x="589114" y="1965502"/>
                  </a:lnTo>
                  <a:lnTo>
                    <a:pt x="587032" y="1967585"/>
                  </a:lnTo>
                  <a:lnTo>
                    <a:pt x="586511" y="1968830"/>
                  </a:lnTo>
                  <a:lnTo>
                    <a:pt x="586511" y="1993112"/>
                  </a:lnTo>
                  <a:lnTo>
                    <a:pt x="587032" y="1994369"/>
                  </a:lnTo>
                  <a:lnTo>
                    <a:pt x="589114" y="1996452"/>
                  </a:lnTo>
                  <a:lnTo>
                    <a:pt x="590372" y="1996973"/>
                  </a:lnTo>
                  <a:lnTo>
                    <a:pt x="593318" y="1996973"/>
                  </a:lnTo>
                  <a:lnTo>
                    <a:pt x="594575" y="1996452"/>
                  </a:lnTo>
                  <a:lnTo>
                    <a:pt x="596658" y="1994369"/>
                  </a:lnTo>
                  <a:lnTo>
                    <a:pt x="597179" y="1993112"/>
                  </a:lnTo>
                  <a:lnTo>
                    <a:pt x="597179" y="1968830"/>
                  </a:lnTo>
                  <a:close/>
                </a:path>
                <a:path w="1036954" h="3063875">
                  <a:moveTo>
                    <a:pt x="597179" y="1915515"/>
                  </a:moveTo>
                  <a:lnTo>
                    <a:pt x="596658" y="1914258"/>
                  </a:lnTo>
                  <a:lnTo>
                    <a:pt x="594575" y="1912175"/>
                  </a:lnTo>
                  <a:lnTo>
                    <a:pt x="593318" y="1911654"/>
                  </a:lnTo>
                  <a:lnTo>
                    <a:pt x="590372" y="1911654"/>
                  </a:lnTo>
                  <a:lnTo>
                    <a:pt x="589114" y="1912175"/>
                  </a:lnTo>
                  <a:lnTo>
                    <a:pt x="587032" y="1914258"/>
                  </a:lnTo>
                  <a:lnTo>
                    <a:pt x="586511" y="1915515"/>
                  </a:lnTo>
                  <a:lnTo>
                    <a:pt x="586511" y="1939785"/>
                  </a:lnTo>
                  <a:lnTo>
                    <a:pt x="587032" y="1941042"/>
                  </a:lnTo>
                  <a:lnTo>
                    <a:pt x="589114" y="1943125"/>
                  </a:lnTo>
                  <a:lnTo>
                    <a:pt x="590372" y="1943646"/>
                  </a:lnTo>
                  <a:lnTo>
                    <a:pt x="593318" y="1943646"/>
                  </a:lnTo>
                  <a:lnTo>
                    <a:pt x="594575" y="1943125"/>
                  </a:lnTo>
                  <a:lnTo>
                    <a:pt x="596658" y="1941042"/>
                  </a:lnTo>
                  <a:lnTo>
                    <a:pt x="597179" y="1939785"/>
                  </a:lnTo>
                  <a:lnTo>
                    <a:pt x="597179" y="1915515"/>
                  </a:lnTo>
                  <a:close/>
                </a:path>
                <a:path w="1036954" h="3063875">
                  <a:moveTo>
                    <a:pt x="597179" y="1862201"/>
                  </a:moveTo>
                  <a:lnTo>
                    <a:pt x="596658" y="1860943"/>
                  </a:lnTo>
                  <a:lnTo>
                    <a:pt x="594575" y="1858860"/>
                  </a:lnTo>
                  <a:lnTo>
                    <a:pt x="593318" y="1858340"/>
                  </a:lnTo>
                  <a:lnTo>
                    <a:pt x="590372" y="1858340"/>
                  </a:lnTo>
                  <a:lnTo>
                    <a:pt x="589114" y="1858860"/>
                  </a:lnTo>
                  <a:lnTo>
                    <a:pt x="587032" y="1860943"/>
                  </a:lnTo>
                  <a:lnTo>
                    <a:pt x="586511" y="1862201"/>
                  </a:lnTo>
                  <a:lnTo>
                    <a:pt x="586511" y="1886470"/>
                  </a:lnTo>
                  <a:lnTo>
                    <a:pt x="587032" y="1887728"/>
                  </a:lnTo>
                  <a:lnTo>
                    <a:pt x="589114" y="1889810"/>
                  </a:lnTo>
                  <a:lnTo>
                    <a:pt x="590372" y="1890331"/>
                  </a:lnTo>
                  <a:lnTo>
                    <a:pt x="593318" y="1890331"/>
                  </a:lnTo>
                  <a:lnTo>
                    <a:pt x="594575" y="1889810"/>
                  </a:lnTo>
                  <a:lnTo>
                    <a:pt x="596658" y="1887728"/>
                  </a:lnTo>
                  <a:lnTo>
                    <a:pt x="597179" y="1886470"/>
                  </a:lnTo>
                  <a:lnTo>
                    <a:pt x="597179" y="1862201"/>
                  </a:lnTo>
                  <a:close/>
                </a:path>
                <a:path w="1036954" h="3063875">
                  <a:moveTo>
                    <a:pt x="597179" y="1808886"/>
                  </a:moveTo>
                  <a:lnTo>
                    <a:pt x="596658" y="1807616"/>
                  </a:lnTo>
                  <a:lnTo>
                    <a:pt x="594575" y="1805546"/>
                  </a:lnTo>
                  <a:lnTo>
                    <a:pt x="593318" y="1805025"/>
                  </a:lnTo>
                  <a:lnTo>
                    <a:pt x="590372" y="1805025"/>
                  </a:lnTo>
                  <a:lnTo>
                    <a:pt x="589114" y="1805546"/>
                  </a:lnTo>
                  <a:lnTo>
                    <a:pt x="587032" y="1807616"/>
                  </a:lnTo>
                  <a:lnTo>
                    <a:pt x="586511" y="1808886"/>
                  </a:lnTo>
                  <a:lnTo>
                    <a:pt x="586511" y="1833156"/>
                  </a:lnTo>
                  <a:lnTo>
                    <a:pt x="587032" y="1834413"/>
                  </a:lnTo>
                  <a:lnTo>
                    <a:pt x="589114" y="1836483"/>
                  </a:lnTo>
                  <a:lnTo>
                    <a:pt x="590372" y="1837004"/>
                  </a:lnTo>
                  <a:lnTo>
                    <a:pt x="593318" y="1837004"/>
                  </a:lnTo>
                  <a:lnTo>
                    <a:pt x="594575" y="1836483"/>
                  </a:lnTo>
                  <a:lnTo>
                    <a:pt x="596658" y="1834413"/>
                  </a:lnTo>
                  <a:lnTo>
                    <a:pt x="597179" y="1833156"/>
                  </a:lnTo>
                  <a:lnTo>
                    <a:pt x="597179" y="1808886"/>
                  </a:lnTo>
                  <a:close/>
                </a:path>
                <a:path w="1036954" h="3063875">
                  <a:moveTo>
                    <a:pt x="597179" y="1755559"/>
                  </a:moveTo>
                  <a:lnTo>
                    <a:pt x="596658" y="1754301"/>
                  </a:lnTo>
                  <a:lnTo>
                    <a:pt x="594575" y="1752219"/>
                  </a:lnTo>
                  <a:lnTo>
                    <a:pt x="593318" y="1751698"/>
                  </a:lnTo>
                  <a:lnTo>
                    <a:pt x="590372" y="1751698"/>
                  </a:lnTo>
                  <a:lnTo>
                    <a:pt x="589114" y="1752219"/>
                  </a:lnTo>
                  <a:lnTo>
                    <a:pt x="587032" y="1754301"/>
                  </a:lnTo>
                  <a:lnTo>
                    <a:pt x="586511" y="1755559"/>
                  </a:lnTo>
                  <a:lnTo>
                    <a:pt x="586511" y="1779828"/>
                  </a:lnTo>
                  <a:lnTo>
                    <a:pt x="587032" y="1781086"/>
                  </a:lnTo>
                  <a:lnTo>
                    <a:pt x="589114" y="1783168"/>
                  </a:lnTo>
                  <a:lnTo>
                    <a:pt x="590372" y="1783689"/>
                  </a:lnTo>
                  <a:lnTo>
                    <a:pt x="593318" y="1783689"/>
                  </a:lnTo>
                  <a:lnTo>
                    <a:pt x="594575" y="1783168"/>
                  </a:lnTo>
                  <a:lnTo>
                    <a:pt x="596658" y="1781086"/>
                  </a:lnTo>
                  <a:lnTo>
                    <a:pt x="597179" y="1779828"/>
                  </a:lnTo>
                  <a:lnTo>
                    <a:pt x="597179" y="1755559"/>
                  </a:lnTo>
                  <a:close/>
                </a:path>
                <a:path w="1036954" h="3063875">
                  <a:moveTo>
                    <a:pt x="597179" y="1702244"/>
                  </a:moveTo>
                  <a:lnTo>
                    <a:pt x="596658" y="1700987"/>
                  </a:lnTo>
                  <a:lnTo>
                    <a:pt x="594575" y="1698904"/>
                  </a:lnTo>
                  <a:lnTo>
                    <a:pt x="593318" y="1698383"/>
                  </a:lnTo>
                  <a:lnTo>
                    <a:pt x="590372" y="1698383"/>
                  </a:lnTo>
                  <a:lnTo>
                    <a:pt x="589114" y="1698904"/>
                  </a:lnTo>
                  <a:lnTo>
                    <a:pt x="587032" y="1700987"/>
                  </a:lnTo>
                  <a:lnTo>
                    <a:pt x="586511" y="1702244"/>
                  </a:lnTo>
                  <a:lnTo>
                    <a:pt x="586511" y="1726514"/>
                  </a:lnTo>
                  <a:lnTo>
                    <a:pt x="587032" y="1727771"/>
                  </a:lnTo>
                  <a:lnTo>
                    <a:pt x="589114" y="1729854"/>
                  </a:lnTo>
                  <a:lnTo>
                    <a:pt x="590372" y="1730375"/>
                  </a:lnTo>
                  <a:lnTo>
                    <a:pt x="593318" y="1730375"/>
                  </a:lnTo>
                  <a:lnTo>
                    <a:pt x="594575" y="1729854"/>
                  </a:lnTo>
                  <a:lnTo>
                    <a:pt x="596658" y="1727771"/>
                  </a:lnTo>
                  <a:lnTo>
                    <a:pt x="597179" y="1726514"/>
                  </a:lnTo>
                  <a:lnTo>
                    <a:pt x="597179" y="1702244"/>
                  </a:lnTo>
                  <a:close/>
                </a:path>
                <a:path w="1036954" h="3063875">
                  <a:moveTo>
                    <a:pt x="597179" y="1648917"/>
                  </a:moveTo>
                  <a:lnTo>
                    <a:pt x="596658" y="1647659"/>
                  </a:lnTo>
                  <a:lnTo>
                    <a:pt x="594575" y="1645577"/>
                  </a:lnTo>
                  <a:lnTo>
                    <a:pt x="593318" y="1645056"/>
                  </a:lnTo>
                  <a:lnTo>
                    <a:pt x="590372" y="1645056"/>
                  </a:lnTo>
                  <a:lnTo>
                    <a:pt x="589114" y="1645577"/>
                  </a:lnTo>
                  <a:lnTo>
                    <a:pt x="587032" y="1647659"/>
                  </a:lnTo>
                  <a:lnTo>
                    <a:pt x="586511" y="1648917"/>
                  </a:lnTo>
                  <a:lnTo>
                    <a:pt x="586511" y="1673199"/>
                  </a:lnTo>
                  <a:lnTo>
                    <a:pt x="587032" y="1674444"/>
                  </a:lnTo>
                  <a:lnTo>
                    <a:pt x="589114" y="1676527"/>
                  </a:lnTo>
                  <a:lnTo>
                    <a:pt x="590372" y="1677047"/>
                  </a:lnTo>
                  <a:lnTo>
                    <a:pt x="593318" y="1677047"/>
                  </a:lnTo>
                  <a:lnTo>
                    <a:pt x="594575" y="1676527"/>
                  </a:lnTo>
                  <a:lnTo>
                    <a:pt x="596658" y="1674444"/>
                  </a:lnTo>
                  <a:lnTo>
                    <a:pt x="597179" y="1673199"/>
                  </a:lnTo>
                  <a:lnTo>
                    <a:pt x="597179" y="1648917"/>
                  </a:lnTo>
                  <a:close/>
                </a:path>
                <a:path w="1036954" h="3063875">
                  <a:moveTo>
                    <a:pt x="597179" y="1595602"/>
                  </a:moveTo>
                  <a:lnTo>
                    <a:pt x="596658" y="1594345"/>
                  </a:lnTo>
                  <a:lnTo>
                    <a:pt x="594575" y="1592262"/>
                  </a:lnTo>
                  <a:lnTo>
                    <a:pt x="593318" y="1591741"/>
                  </a:lnTo>
                  <a:lnTo>
                    <a:pt x="590372" y="1591741"/>
                  </a:lnTo>
                  <a:lnTo>
                    <a:pt x="589114" y="1592262"/>
                  </a:lnTo>
                  <a:lnTo>
                    <a:pt x="587032" y="1594345"/>
                  </a:lnTo>
                  <a:lnTo>
                    <a:pt x="586511" y="1595602"/>
                  </a:lnTo>
                  <a:lnTo>
                    <a:pt x="586511" y="1619872"/>
                  </a:lnTo>
                  <a:lnTo>
                    <a:pt x="587032" y="1621129"/>
                  </a:lnTo>
                  <a:lnTo>
                    <a:pt x="589114" y="1623212"/>
                  </a:lnTo>
                  <a:lnTo>
                    <a:pt x="590372" y="1623733"/>
                  </a:lnTo>
                  <a:lnTo>
                    <a:pt x="593318" y="1623733"/>
                  </a:lnTo>
                  <a:lnTo>
                    <a:pt x="594575" y="1623212"/>
                  </a:lnTo>
                  <a:lnTo>
                    <a:pt x="596658" y="1621129"/>
                  </a:lnTo>
                  <a:lnTo>
                    <a:pt x="597179" y="1619872"/>
                  </a:lnTo>
                  <a:lnTo>
                    <a:pt x="597179" y="1595602"/>
                  </a:lnTo>
                  <a:close/>
                </a:path>
                <a:path w="1036954" h="3063875">
                  <a:moveTo>
                    <a:pt x="597179" y="1542275"/>
                  </a:moveTo>
                  <a:lnTo>
                    <a:pt x="596658" y="1541030"/>
                  </a:lnTo>
                  <a:lnTo>
                    <a:pt x="594575" y="1538935"/>
                  </a:lnTo>
                  <a:lnTo>
                    <a:pt x="593318" y="1538414"/>
                  </a:lnTo>
                  <a:lnTo>
                    <a:pt x="590372" y="1538414"/>
                  </a:lnTo>
                  <a:lnTo>
                    <a:pt x="589114" y="1538935"/>
                  </a:lnTo>
                  <a:lnTo>
                    <a:pt x="587032" y="1541030"/>
                  </a:lnTo>
                  <a:lnTo>
                    <a:pt x="586511" y="1542275"/>
                  </a:lnTo>
                  <a:lnTo>
                    <a:pt x="586511" y="1566557"/>
                  </a:lnTo>
                  <a:lnTo>
                    <a:pt x="587032" y="1567815"/>
                  </a:lnTo>
                  <a:lnTo>
                    <a:pt x="589114" y="1569897"/>
                  </a:lnTo>
                  <a:lnTo>
                    <a:pt x="590372" y="1570418"/>
                  </a:lnTo>
                  <a:lnTo>
                    <a:pt x="593318" y="1570418"/>
                  </a:lnTo>
                  <a:lnTo>
                    <a:pt x="594575" y="1569897"/>
                  </a:lnTo>
                  <a:lnTo>
                    <a:pt x="596658" y="1567815"/>
                  </a:lnTo>
                  <a:lnTo>
                    <a:pt x="597179" y="1566557"/>
                  </a:lnTo>
                  <a:lnTo>
                    <a:pt x="597179" y="1542275"/>
                  </a:lnTo>
                  <a:close/>
                </a:path>
                <a:path w="1036954" h="3063875">
                  <a:moveTo>
                    <a:pt x="597179" y="1488960"/>
                  </a:moveTo>
                  <a:lnTo>
                    <a:pt x="596658" y="1487703"/>
                  </a:lnTo>
                  <a:lnTo>
                    <a:pt x="594575" y="1485620"/>
                  </a:lnTo>
                  <a:lnTo>
                    <a:pt x="593318" y="1485099"/>
                  </a:lnTo>
                  <a:lnTo>
                    <a:pt x="590372" y="1485099"/>
                  </a:lnTo>
                  <a:lnTo>
                    <a:pt x="589114" y="1485620"/>
                  </a:lnTo>
                  <a:lnTo>
                    <a:pt x="587032" y="1487703"/>
                  </a:lnTo>
                  <a:lnTo>
                    <a:pt x="586511" y="1488960"/>
                  </a:lnTo>
                  <a:lnTo>
                    <a:pt x="586511" y="1513230"/>
                  </a:lnTo>
                  <a:lnTo>
                    <a:pt x="587032" y="1514487"/>
                  </a:lnTo>
                  <a:lnTo>
                    <a:pt x="589114" y="1516570"/>
                  </a:lnTo>
                  <a:lnTo>
                    <a:pt x="590372" y="1517091"/>
                  </a:lnTo>
                  <a:lnTo>
                    <a:pt x="593318" y="1517091"/>
                  </a:lnTo>
                  <a:lnTo>
                    <a:pt x="594575" y="1516570"/>
                  </a:lnTo>
                  <a:lnTo>
                    <a:pt x="596658" y="1514487"/>
                  </a:lnTo>
                  <a:lnTo>
                    <a:pt x="597179" y="1513230"/>
                  </a:lnTo>
                  <a:lnTo>
                    <a:pt x="597179" y="1488960"/>
                  </a:lnTo>
                  <a:close/>
                </a:path>
                <a:path w="1036954" h="3063875">
                  <a:moveTo>
                    <a:pt x="597179" y="1435646"/>
                  </a:moveTo>
                  <a:lnTo>
                    <a:pt x="596658" y="1434388"/>
                  </a:lnTo>
                  <a:lnTo>
                    <a:pt x="594575" y="1432306"/>
                  </a:lnTo>
                  <a:lnTo>
                    <a:pt x="593318" y="1431785"/>
                  </a:lnTo>
                  <a:lnTo>
                    <a:pt x="590372" y="1431785"/>
                  </a:lnTo>
                  <a:lnTo>
                    <a:pt x="589114" y="1432306"/>
                  </a:lnTo>
                  <a:lnTo>
                    <a:pt x="587032" y="1434388"/>
                  </a:lnTo>
                  <a:lnTo>
                    <a:pt x="586511" y="1435646"/>
                  </a:lnTo>
                  <a:lnTo>
                    <a:pt x="586511" y="1459915"/>
                  </a:lnTo>
                  <a:lnTo>
                    <a:pt x="587032" y="1461173"/>
                  </a:lnTo>
                  <a:lnTo>
                    <a:pt x="589114" y="1463255"/>
                  </a:lnTo>
                  <a:lnTo>
                    <a:pt x="590372" y="1463776"/>
                  </a:lnTo>
                  <a:lnTo>
                    <a:pt x="593318" y="1463776"/>
                  </a:lnTo>
                  <a:lnTo>
                    <a:pt x="594575" y="1463255"/>
                  </a:lnTo>
                  <a:lnTo>
                    <a:pt x="596658" y="1461173"/>
                  </a:lnTo>
                  <a:lnTo>
                    <a:pt x="597179" y="1459915"/>
                  </a:lnTo>
                  <a:lnTo>
                    <a:pt x="597179" y="1435646"/>
                  </a:lnTo>
                  <a:close/>
                </a:path>
                <a:path w="1036954" h="3063875">
                  <a:moveTo>
                    <a:pt x="597179" y="1382318"/>
                  </a:moveTo>
                  <a:lnTo>
                    <a:pt x="596658" y="1381074"/>
                  </a:lnTo>
                  <a:lnTo>
                    <a:pt x="594575" y="1378991"/>
                  </a:lnTo>
                  <a:lnTo>
                    <a:pt x="593318" y="1378470"/>
                  </a:lnTo>
                  <a:lnTo>
                    <a:pt x="590372" y="1378470"/>
                  </a:lnTo>
                  <a:lnTo>
                    <a:pt x="589114" y="1378991"/>
                  </a:lnTo>
                  <a:lnTo>
                    <a:pt x="587032" y="1381074"/>
                  </a:lnTo>
                  <a:lnTo>
                    <a:pt x="586511" y="1382318"/>
                  </a:lnTo>
                  <a:lnTo>
                    <a:pt x="586511" y="1406601"/>
                  </a:lnTo>
                  <a:lnTo>
                    <a:pt x="587032" y="1407858"/>
                  </a:lnTo>
                  <a:lnTo>
                    <a:pt x="589114" y="1409941"/>
                  </a:lnTo>
                  <a:lnTo>
                    <a:pt x="590372" y="1410462"/>
                  </a:lnTo>
                  <a:lnTo>
                    <a:pt x="593318" y="1410462"/>
                  </a:lnTo>
                  <a:lnTo>
                    <a:pt x="594575" y="1409941"/>
                  </a:lnTo>
                  <a:lnTo>
                    <a:pt x="596658" y="1407858"/>
                  </a:lnTo>
                  <a:lnTo>
                    <a:pt x="597179" y="1406601"/>
                  </a:lnTo>
                  <a:lnTo>
                    <a:pt x="597179" y="1382318"/>
                  </a:lnTo>
                  <a:close/>
                </a:path>
                <a:path w="1036954" h="3063875">
                  <a:moveTo>
                    <a:pt x="597179" y="1329004"/>
                  </a:moveTo>
                  <a:lnTo>
                    <a:pt x="596658" y="1327746"/>
                  </a:lnTo>
                  <a:lnTo>
                    <a:pt x="594575" y="1325664"/>
                  </a:lnTo>
                  <a:lnTo>
                    <a:pt x="593318" y="1325143"/>
                  </a:lnTo>
                  <a:lnTo>
                    <a:pt x="590372" y="1325143"/>
                  </a:lnTo>
                  <a:lnTo>
                    <a:pt x="589114" y="1325664"/>
                  </a:lnTo>
                  <a:lnTo>
                    <a:pt x="587032" y="1327746"/>
                  </a:lnTo>
                  <a:lnTo>
                    <a:pt x="586511" y="1329004"/>
                  </a:lnTo>
                  <a:lnTo>
                    <a:pt x="586511" y="1353273"/>
                  </a:lnTo>
                  <a:lnTo>
                    <a:pt x="587032" y="1354531"/>
                  </a:lnTo>
                  <a:lnTo>
                    <a:pt x="589114" y="1356614"/>
                  </a:lnTo>
                  <a:lnTo>
                    <a:pt x="590372" y="1357134"/>
                  </a:lnTo>
                  <a:lnTo>
                    <a:pt x="593318" y="1357134"/>
                  </a:lnTo>
                  <a:lnTo>
                    <a:pt x="594575" y="1356614"/>
                  </a:lnTo>
                  <a:lnTo>
                    <a:pt x="596658" y="1354531"/>
                  </a:lnTo>
                  <a:lnTo>
                    <a:pt x="597179" y="1353273"/>
                  </a:lnTo>
                  <a:lnTo>
                    <a:pt x="597179" y="1329004"/>
                  </a:lnTo>
                  <a:close/>
                </a:path>
                <a:path w="1036954" h="3063875">
                  <a:moveTo>
                    <a:pt x="597179" y="1275689"/>
                  </a:moveTo>
                  <a:lnTo>
                    <a:pt x="596658" y="1274432"/>
                  </a:lnTo>
                  <a:lnTo>
                    <a:pt x="594575" y="1272349"/>
                  </a:lnTo>
                  <a:lnTo>
                    <a:pt x="593318" y="1271828"/>
                  </a:lnTo>
                  <a:lnTo>
                    <a:pt x="590372" y="1271828"/>
                  </a:lnTo>
                  <a:lnTo>
                    <a:pt x="589114" y="1272349"/>
                  </a:lnTo>
                  <a:lnTo>
                    <a:pt x="587032" y="1274432"/>
                  </a:lnTo>
                  <a:lnTo>
                    <a:pt x="586511" y="1275689"/>
                  </a:lnTo>
                  <a:lnTo>
                    <a:pt x="586511" y="1299959"/>
                  </a:lnTo>
                  <a:lnTo>
                    <a:pt x="587032" y="1301216"/>
                  </a:lnTo>
                  <a:lnTo>
                    <a:pt x="589114" y="1303299"/>
                  </a:lnTo>
                  <a:lnTo>
                    <a:pt x="590372" y="1303820"/>
                  </a:lnTo>
                  <a:lnTo>
                    <a:pt x="593318" y="1303820"/>
                  </a:lnTo>
                  <a:lnTo>
                    <a:pt x="594575" y="1303299"/>
                  </a:lnTo>
                  <a:lnTo>
                    <a:pt x="596658" y="1301216"/>
                  </a:lnTo>
                  <a:lnTo>
                    <a:pt x="597179" y="1299959"/>
                  </a:lnTo>
                  <a:lnTo>
                    <a:pt x="597179" y="1275689"/>
                  </a:lnTo>
                  <a:close/>
                </a:path>
                <a:path w="1036954" h="3063875">
                  <a:moveTo>
                    <a:pt x="597179" y="1222375"/>
                  </a:moveTo>
                  <a:lnTo>
                    <a:pt x="596658" y="1221105"/>
                  </a:lnTo>
                  <a:lnTo>
                    <a:pt x="594575" y="1219022"/>
                  </a:lnTo>
                  <a:lnTo>
                    <a:pt x="593318" y="1218514"/>
                  </a:lnTo>
                  <a:lnTo>
                    <a:pt x="590372" y="1218514"/>
                  </a:lnTo>
                  <a:lnTo>
                    <a:pt x="589114" y="1219022"/>
                  </a:lnTo>
                  <a:lnTo>
                    <a:pt x="587032" y="1221105"/>
                  </a:lnTo>
                  <a:lnTo>
                    <a:pt x="586511" y="1222375"/>
                  </a:lnTo>
                  <a:lnTo>
                    <a:pt x="586511" y="1246632"/>
                  </a:lnTo>
                  <a:lnTo>
                    <a:pt x="587032" y="1247902"/>
                  </a:lnTo>
                  <a:lnTo>
                    <a:pt x="589114" y="1249972"/>
                  </a:lnTo>
                  <a:lnTo>
                    <a:pt x="590372" y="1250492"/>
                  </a:lnTo>
                  <a:lnTo>
                    <a:pt x="593318" y="1250492"/>
                  </a:lnTo>
                  <a:lnTo>
                    <a:pt x="594575" y="1249972"/>
                  </a:lnTo>
                  <a:lnTo>
                    <a:pt x="596658" y="1247902"/>
                  </a:lnTo>
                  <a:lnTo>
                    <a:pt x="597179" y="1246632"/>
                  </a:lnTo>
                  <a:lnTo>
                    <a:pt x="597179" y="1222375"/>
                  </a:lnTo>
                  <a:close/>
                </a:path>
                <a:path w="1036954" h="3063875">
                  <a:moveTo>
                    <a:pt x="597179" y="1169047"/>
                  </a:moveTo>
                  <a:lnTo>
                    <a:pt x="596658" y="1167790"/>
                  </a:lnTo>
                  <a:lnTo>
                    <a:pt x="594575" y="1165707"/>
                  </a:lnTo>
                  <a:lnTo>
                    <a:pt x="593318" y="1165186"/>
                  </a:lnTo>
                  <a:lnTo>
                    <a:pt x="590372" y="1165186"/>
                  </a:lnTo>
                  <a:lnTo>
                    <a:pt x="589114" y="1165707"/>
                  </a:lnTo>
                  <a:lnTo>
                    <a:pt x="587032" y="1167790"/>
                  </a:lnTo>
                  <a:lnTo>
                    <a:pt x="586511" y="1169047"/>
                  </a:lnTo>
                  <a:lnTo>
                    <a:pt x="586511" y="1193317"/>
                  </a:lnTo>
                  <a:lnTo>
                    <a:pt x="587032" y="1194574"/>
                  </a:lnTo>
                  <a:lnTo>
                    <a:pt x="589114" y="1196657"/>
                  </a:lnTo>
                  <a:lnTo>
                    <a:pt x="590372" y="1197178"/>
                  </a:lnTo>
                  <a:lnTo>
                    <a:pt x="593318" y="1197178"/>
                  </a:lnTo>
                  <a:lnTo>
                    <a:pt x="594575" y="1196657"/>
                  </a:lnTo>
                  <a:lnTo>
                    <a:pt x="596658" y="1194574"/>
                  </a:lnTo>
                  <a:lnTo>
                    <a:pt x="597179" y="1193317"/>
                  </a:lnTo>
                  <a:lnTo>
                    <a:pt x="597179" y="1169047"/>
                  </a:lnTo>
                  <a:close/>
                </a:path>
                <a:path w="1036954" h="3063875">
                  <a:moveTo>
                    <a:pt x="597179" y="1115733"/>
                  </a:moveTo>
                  <a:lnTo>
                    <a:pt x="596658" y="1114475"/>
                  </a:lnTo>
                  <a:lnTo>
                    <a:pt x="594575" y="1112393"/>
                  </a:lnTo>
                  <a:lnTo>
                    <a:pt x="593318" y="1111872"/>
                  </a:lnTo>
                  <a:lnTo>
                    <a:pt x="590372" y="1111872"/>
                  </a:lnTo>
                  <a:lnTo>
                    <a:pt x="589114" y="1112393"/>
                  </a:lnTo>
                  <a:lnTo>
                    <a:pt x="587032" y="1114475"/>
                  </a:lnTo>
                  <a:lnTo>
                    <a:pt x="586511" y="1115733"/>
                  </a:lnTo>
                  <a:lnTo>
                    <a:pt x="586511" y="1140002"/>
                  </a:lnTo>
                  <a:lnTo>
                    <a:pt x="587032" y="1141260"/>
                  </a:lnTo>
                  <a:lnTo>
                    <a:pt x="589114" y="1143342"/>
                  </a:lnTo>
                  <a:lnTo>
                    <a:pt x="590372" y="1143863"/>
                  </a:lnTo>
                  <a:lnTo>
                    <a:pt x="593318" y="1143863"/>
                  </a:lnTo>
                  <a:lnTo>
                    <a:pt x="594575" y="1143342"/>
                  </a:lnTo>
                  <a:lnTo>
                    <a:pt x="596658" y="1141260"/>
                  </a:lnTo>
                  <a:lnTo>
                    <a:pt x="597179" y="1140002"/>
                  </a:lnTo>
                  <a:lnTo>
                    <a:pt x="597179" y="1115733"/>
                  </a:lnTo>
                  <a:close/>
                </a:path>
                <a:path w="1036954" h="3063875">
                  <a:moveTo>
                    <a:pt x="597179" y="1062405"/>
                  </a:moveTo>
                  <a:lnTo>
                    <a:pt x="596658" y="1061148"/>
                  </a:lnTo>
                  <a:lnTo>
                    <a:pt x="594575" y="1059065"/>
                  </a:lnTo>
                  <a:lnTo>
                    <a:pt x="593318" y="1058545"/>
                  </a:lnTo>
                  <a:lnTo>
                    <a:pt x="590372" y="1058545"/>
                  </a:lnTo>
                  <a:lnTo>
                    <a:pt x="589114" y="1059065"/>
                  </a:lnTo>
                  <a:lnTo>
                    <a:pt x="587032" y="1061148"/>
                  </a:lnTo>
                  <a:lnTo>
                    <a:pt x="586511" y="1062405"/>
                  </a:lnTo>
                  <a:lnTo>
                    <a:pt x="586511" y="1086688"/>
                  </a:lnTo>
                  <a:lnTo>
                    <a:pt x="587032" y="1087932"/>
                  </a:lnTo>
                  <a:lnTo>
                    <a:pt x="589114" y="1090015"/>
                  </a:lnTo>
                  <a:lnTo>
                    <a:pt x="590372" y="1090536"/>
                  </a:lnTo>
                  <a:lnTo>
                    <a:pt x="593318" y="1090536"/>
                  </a:lnTo>
                  <a:lnTo>
                    <a:pt x="594575" y="1090015"/>
                  </a:lnTo>
                  <a:lnTo>
                    <a:pt x="596658" y="1087932"/>
                  </a:lnTo>
                  <a:lnTo>
                    <a:pt x="597179" y="1086688"/>
                  </a:lnTo>
                  <a:lnTo>
                    <a:pt x="597179" y="1062405"/>
                  </a:lnTo>
                  <a:close/>
                </a:path>
                <a:path w="1036954" h="3063875">
                  <a:moveTo>
                    <a:pt x="597179" y="1009091"/>
                  </a:moveTo>
                  <a:lnTo>
                    <a:pt x="596658" y="1007833"/>
                  </a:lnTo>
                  <a:lnTo>
                    <a:pt x="594575" y="1005751"/>
                  </a:lnTo>
                  <a:lnTo>
                    <a:pt x="593318" y="1005230"/>
                  </a:lnTo>
                  <a:lnTo>
                    <a:pt x="590372" y="1005230"/>
                  </a:lnTo>
                  <a:lnTo>
                    <a:pt x="589114" y="1005751"/>
                  </a:lnTo>
                  <a:lnTo>
                    <a:pt x="587032" y="1007833"/>
                  </a:lnTo>
                  <a:lnTo>
                    <a:pt x="586511" y="1009091"/>
                  </a:lnTo>
                  <a:lnTo>
                    <a:pt x="586511" y="1033360"/>
                  </a:lnTo>
                  <a:lnTo>
                    <a:pt x="587032" y="1034618"/>
                  </a:lnTo>
                  <a:lnTo>
                    <a:pt x="589114" y="1036701"/>
                  </a:lnTo>
                  <a:lnTo>
                    <a:pt x="590372" y="1037221"/>
                  </a:lnTo>
                  <a:lnTo>
                    <a:pt x="593318" y="1037221"/>
                  </a:lnTo>
                  <a:lnTo>
                    <a:pt x="594575" y="1036701"/>
                  </a:lnTo>
                  <a:lnTo>
                    <a:pt x="596658" y="1034618"/>
                  </a:lnTo>
                  <a:lnTo>
                    <a:pt x="597179" y="1033360"/>
                  </a:lnTo>
                  <a:lnTo>
                    <a:pt x="597179" y="1009091"/>
                  </a:lnTo>
                  <a:close/>
                </a:path>
                <a:path w="1036954" h="3063875">
                  <a:moveTo>
                    <a:pt x="597179" y="955763"/>
                  </a:moveTo>
                  <a:lnTo>
                    <a:pt x="596658" y="954519"/>
                  </a:lnTo>
                  <a:lnTo>
                    <a:pt x="594575" y="952423"/>
                  </a:lnTo>
                  <a:lnTo>
                    <a:pt x="593318" y="951903"/>
                  </a:lnTo>
                  <a:lnTo>
                    <a:pt x="590372" y="951903"/>
                  </a:lnTo>
                  <a:lnTo>
                    <a:pt x="589114" y="952423"/>
                  </a:lnTo>
                  <a:lnTo>
                    <a:pt x="587032" y="954519"/>
                  </a:lnTo>
                  <a:lnTo>
                    <a:pt x="586511" y="955763"/>
                  </a:lnTo>
                  <a:lnTo>
                    <a:pt x="586511" y="980046"/>
                  </a:lnTo>
                  <a:lnTo>
                    <a:pt x="587032" y="981303"/>
                  </a:lnTo>
                  <a:lnTo>
                    <a:pt x="589114" y="983386"/>
                  </a:lnTo>
                  <a:lnTo>
                    <a:pt x="590372" y="983907"/>
                  </a:lnTo>
                  <a:lnTo>
                    <a:pt x="593318" y="983907"/>
                  </a:lnTo>
                  <a:lnTo>
                    <a:pt x="594575" y="983386"/>
                  </a:lnTo>
                  <a:lnTo>
                    <a:pt x="596658" y="981303"/>
                  </a:lnTo>
                  <a:lnTo>
                    <a:pt x="597179" y="980046"/>
                  </a:lnTo>
                  <a:lnTo>
                    <a:pt x="597179" y="955763"/>
                  </a:lnTo>
                  <a:close/>
                </a:path>
                <a:path w="1036954" h="3063875">
                  <a:moveTo>
                    <a:pt x="597179" y="902449"/>
                  </a:moveTo>
                  <a:lnTo>
                    <a:pt x="596658" y="901192"/>
                  </a:lnTo>
                  <a:lnTo>
                    <a:pt x="594575" y="899109"/>
                  </a:lnTo>
                  <a:lnTo>
                    <a:pt x="593318" y="898588"/>
                  </a:lnTo>
                  <a:lnTo>
                    <a:pt x="590372" y="898588"/>
                  </a:lnTo>
                  <a:lnTo>
                    <a:pt x="589114" y="899109"/>
                  </a:lnTo>
                  <a:lnTo>
                    <a:pt x="587032" y="901192"/>
                  </a:lnTo>
                  <a:lnTo>
                    <a:pt x="586511" y="902449"/>
                  </a:lnTo>
                  <a:lnTo>
                    <a:pt x="586511" y="926719"/>
                  </a:lnTo>
                  <a:lnTo>
                    <a:pt x="587032" y="927976"/>
                  </a:lnTo>
                  <a:lnTo>
                    <a:pt x="589114" y="930059"/>
                  </a:lnTo>
                  <a:lnTo>
                    <a:pt x="590372" y="930579"/>
                  </a:lnTo>
                  <a:lnTo>
                    <a:pt x="593318" y="930579"/>
                  </a:lnTo>
                  <a:lnTo>
                    <a:pt x="594575" y="930059"/>
                  </a:lnTo>
                  <a:lnTo>
                    <a:pt x="596658" y="927976"/>
                  </a:lnTo>
                  <a:lnTo>
                    <a:pt x="597179" y="926719"/>
                  </a:lnTo>
                  <a:lnTo>
                    <a:pt x="597179" y="902449"/>
                  </a:lnTo>
                  <a:close/>
                </a:path>
                <a:path w="1036954" h="3063875">
                  <a:moveTo>
                    <a:pt x="597179" y="849134"/>
                  </a:moveTo>
                  <a:lnTo>
                    <a:pt x="596658" y="847877"/>
                  </a:lnTo>
                  <a:lnTo>
                    <a:pt x="594575" y="845794"/>
                  </a:lnTo>
                  <a:lnTo>
                    <a:pt x="593318" y="845273"/>
                  </a:lnTo>
                  <a:lnTo>
                    <a:pt x="590372" y="845273"/>
                  </a:lnTo>
                  <a:lnTo>
                    <a:pt x="589114" y="845794"/>
                  </a:lnTo>
                  <a:lnTo>
                    <a:pt x="587032" y="847877"/>
                  </a:lnTo>
                  <a:lnTo>
                    <a:pt x="586511" y="849134"/>
                  </a:lnTo>
                  <a:lnTo>
                    <a:pt x="586511" y="873404"/>
                  </a:lnTo>
                  <a:lnTo>
                    <a:pt x="587032" y="874661"/>
                  </a:lnTo>
                  <a:lnTo>
                    <a:pt x="589114" y="876744"/>
                  </a:lnTo>
                  <a:lnTo>
                    <a:pt x="590372" y="877265"/>
                  </a:lnTo>
                  <a:lnTo>
                    <a:pt x="593318" y="877265"/>
                  </a:lnTo>
                  <a:lnTo>
                    <a:pt x="594575" y="876744"/>
                  </a:lnTo>
                  <a:lnTo>
                    <a:pt x="596658" y="874661"/>
                  </a:lnTo>
                  <a:lnTo>
                    <a:pt x="597179" y="873404"/>
                  </a:lnTo>
                  <a:lnTo>
                    <a:pt x="597179" y="849134"/>
                  </a:lnTo>
                  <a:close/>
                </a:path>
                <a:path w="1036954" h="3063875">
                  <a:moveTo>
                    <a:pt x="597179" y="795807"/>
                  </a:moveTo>
                  <a:lnTo>
                    <a:pt x="596658" y="794562"/>
                  </a:lnTo>
                  <a:lnTo>
                    <a:pt x="594575" y="792480"/>
                  </a:lnTo>
                  <a:lnTo>
                    <a:pt x="593318" y="791959"/>
                  </a:lnTo>
                  <a:lnTo>
                    <a:pt x="590372" y="791959"/>
                  </a:lnTo>
                  <a:lnTo>
                    <a:pt x="589114" y="792480"/>
                  </a:lnTo>
                  <a:lnTo>
                    <a:pt x="587032" y="794562"/>
                  </a:lnTo>
                  <a:lnTo>
                    <a:pt x="586511" y="795807"/>
                  </a:lnTo>
                  <a:lnTo>
                    <a:pt x="586511" y="820089"/>
                  </a:lnTo>
                  <a:lnTo>
                    <a:pt x="587032" y="821347"/>
                  </a:lnTo>
                  <a:lnTo>
                    <a:pt x="589114" y="823429"/>
                  </a:lnTo>
                  <a:lnTo>
                    <a:pt x="590372" y="823950"/>
                  </a:lnTo>
                  <a:lnTo>
                    <a:pt x="593318" y="823950"/>
                  </a:lnTo>
                  <a:lnTo>
                    <a:pt x="594575" y="823429"/>
                  </a:lnTo>
                  <a:lnTo>
                    <a:pt x="596658" y="821347"/>
                  </a:lnTo>
                  <a:lnTo>
                    <a:pt x="597179" y="820089"/>
                  </a:lnTo>
                  <a:lnTo>
                    <a:pt x="597179" y="795807"/>
                  </a:lnTo>
                  <a:close/>
                </a:path>
                <a:path w="1036954" h="3063875">
                  <a:moveTo>
                    <a:pt x="597179" y="742492"/>
                  </a:moveTo>
                  <a:lnTo>
                    <a:pt x="596658" y="741235"/>
                  </a:lnTo>
                  <a:lnTo>
                    <a:pt x="594575" y="739152"/>
                  </a:lnTo>
                  <a:lnTo>
                    <a:pt x="593318" y="738632"/>
                  </a:lnTo>
                  <a:lnTo>
                    <a:pt x="590372" y="738632"/>
                  </a:lnTo>
                  <a:lnTo>
                    <a:pt x="589114" y="739152"/>
                  </a:lnTo>
                  <a:lnTo>
                    <a:pt x="587032" y="741235"/>
                  </a:lnTo>
                  <a:lnTo>
                    <a:pt x="586511" y="742492"/>
                  </a:lnTo>
                  <a:lnTo>
                    <a:pt x="586511" y="766762"/>
                  </a:lnTo>
                  <a:lnTo>
                    <a:pt x="587032" y="768019"/>
                  </a:lnTo>
                  <a:lnTo>
                    <a:pt x="589114" y="770102"/>
                  </a:lnTo>
                  <a:lnTo>
                    <a:pt x="590372" y="770623"/>
                  </a:lnTo>
                  <a:lnTo>
                    <a:pt x="593318" y="770623"/>
                  </a:lnTo>
                  <a:lnTo>
                    <a:pt x="594575" y="770102"/>
                  </a:lnTo>
                  <a:lnTo>
                    <a:pt x="596658" y="768019"/>
                  </a:lnTo>
                  <a:lnTo>
                    <a:pt x="597179" y="766762"/>
                  </a:lnTo>
                  <a:lnTo>
                    <a:pt x="597179" y="742492"/>
                  </a:lnTo>
                  <a:close/>
                </a:path>
                <a:path w="1036954" h="3063875">
                  <a:moveTo>
                    <a:pt x="597179" y="689178"/>
                  </a:moveTo>
                  <a:lnTo>
                    <a:pt x="596658" y="687920"/>
                  </a:lnTo>
                  <a:lnTo>
                    <a:pt x="594575" y="685838"/>
                  </a:lnTo>
                  <a:lnTo>
                    <a:pt x="593318" y="685317"/>
                  </a:lnTo>
                  <a:lnTo>
                    <a:pt x="590372" y="685317"/>
                  </a:lnTo>
                  <a:lnTo>
                    <a:pt x="589114" y="685838"/>
                  </a:lnTo>
                  <a:lnTo>
                    <a:pt x="587032" y="687920"/>
                  </a:lnTo>
                  <a:lnTo>
                    <a:pt x="586511" y="689178"/>
                  </a:lnTo>
                  <a:lnTo>
                    <a:pt x="586511" y="713447"/>
                  </a:lnTo>
                  <a:lnTo>
                    <a:pt x="587032" y="714705"/>
                  </a:lnTo>
                  <a:lnTo>
                    <a:pt x="589114" y="716788"/>
                  </a:lnTo>
                  <a:lnTo>
                    <a:pt x="590372" y="717308"/>
                  </a:lnTo>
                  <a:lnTo>
                    <a:pt x="593318" y="717308"/>
                  </a:lnTo>
                  <a:lnTo>
                    <a:pt x="594575" y="716788"/>
                  </a:lnTo>
                  <a:lnTo>
                    <a:pt x="596658" y="714705"/>
                  </a:lnTo>
                  <a:lnTo>
                    <a:pt x="597179" y="713447"/>
                  </a:lnTo>
                  <a:lnTo>
                    <a:pt x="597179" y="689178"/>
                  </a:lnTo>
                  <a:close/>
                </a:path>
                <a:path w="1036954" h="3063875">
                  <a:moveTo>
                    <a:pt x="597179" y="635850"/>
                  </a:moveTo>
                  <a:lnTo>
                    <a:pt x="596658" y="634593"/>
                  </a:lnTo>
                  <a:lnTo>
                    <a:pt x="594575" y="632510"/>
                  </a:lnTo>
                  <a:lnTo>
                    <a:pt x="593318" y="631990"/>
                  </a:lnTo>
                  <a:lnTo>
                    <a:pt x="590372" y="631990"/>
                  </a:lnTo>
                  <a:lnTo>
                    <a:pt x="589114" y="632510"/>
                  </a:lnTo>
                  <a:lnTo>
                    <a:pt x="587032" y="634593"/>
                  </a:lnTo>
                  <a:lnTo>
                    <a:pt x="586511" y="635850"/>
                  </a:lnTo>
                  <a:lnTo>
                    <a:pt x="586511" y="660120"/>
                  </a:lnTo>
                  <a:lnTo>
                    <a:pt x="587032" y="661377"/>
                  </a:lnTo>
                  <a:lnTo>
                    <a:pt x="589114" y="663460"/>
                  </a:lnTo>
                  <a:lnTo>
                    <a:pt x="590372" y="663981"/>
                  </a:lnTo>
                  <a:lnTo>
                    <a:pt x="593318" y="663981"/>
                  </a:lnTo>
                  <a:lnTo>
                    <a:pt x="594575" y="663460"/>
                  </a:lnTo>
                  <a:lnTo>
                    <a:pt x="596658" y="661377"/>
                  </a:lnTo>
                  <a:lnTo>
                    <a:pt x="597179" y="660120"/>
                  </a:lnTo>
                  <a:lnTo>
                    <a:pt x="597179" y="635850"/>
                  </a:lnTo>
                  <a:close/>
                </a:path>
                <a:path w="1036954" h="3063875">
                  <a:moveTo>
                    <a:pt x="597179" y="582536"/>
                  </a:moveTo>
                  <a:lnTo>
                    <a:pt x="596658" y="581279"/>
                  </a:lnTo>
                  <a:lnTo>
                    <a:pt x="594575" y="579196"/>
                  </a:lnTo>
                  <a:lnTo>
                    <a:pt x="593318" y="578675"/>
                  </a:lnTo>
                  <a:lnTo>
                    <a:pt x="590372" y="578675"/>
                  </a:lnTo>
                  <a:lnTo>
                    <a:pt x="589114" y="579196"/>
                  </a:lnTo>
                  <a:lnTo>
                    <a:pt x="587032" y="581279"/>
                  </a:lnTo>
                  <a:lnTo>
                    <a:pt x="586511" y="582536"/>
                  </a:lnTo>
                  <a:lnTo>
                    <a:pt x="586511" y="606806"/>
                  </a:lnTo>
                  <a:lnTo>
                    <a:pt x="587032" y="608063"/>
                  </a:lnTo>
                  <a:lnTo>
                    <a:pt x="589114" y="610146"/>
                  </a:lnTo>
                  <a:lnTo>
                    <a:pt x="590372" y="610666"/>
                  </a:lnTo>
                  <a:lnTo>
                    <a:pt x="593318" y="610666"/>
                  </a:lnTo>
                  <a:lnTo>
                    <a:pt x="594575" y="610146"/>
                  </a:lnTo>
                  <a:lnTo>
                    <a:pt x="596658" y="608063"/>
                  </a:lnTo>
                  <a:lnTo>
                    <a:pt x="597179" y="606806"/>
                  </a:lnTo>
                  <a:lnTo>
                    <a:pt x="597179" y="582536"/>
                  </a:lnTo>
                  <a:close/>
                </a:path>
                <a:path w="1036954" h="3063875">
                  <a:moveTo>
                    <a:pt x="597179" y="529221"/>
                  </a:moveTo>
                  <a:lnTo>
                    <a:pt x="596658" y="527951"/>
                  </a:lnTo>
                  <a:lnTo>
                    <a:pt x="594575" y="525881"/>
                  </a:lnTo>
                  <a:lnTo>
                    <a:pt x="593318" y="525360"/>
                  </a:lnTo>
                  <a:lnTo>
                    <a:pt x="590372" y="525360"/>
                  </a:lnTo>
                  <a:lnTo>
                    <a:pt x="589114" y="525881"/>
                  </a:lnTo>
                  <a:lnTo>
                    <a:pt x="587032" y="527951"/>
                  </a:lnTo>
                  <a:lnTo>
                    <a:pt x="586511" y="529221"/>
                  </a:lnTo>
                  <a:lnTo>
                    <a:pt x="586511" y="553491"/>
                  </a:lnTo>
                  <a:lnTo>
                    <a:pt x="587032" y="554748"/>
                  </a:lnTo>
                  <a:lnTo>
                    <a:pt x="589114" y="556831"/>
                  </a:lnTo>
                  <a:lnTo>
                    <a:pt x="590372" y="557339"/>
                  </a:lnTo>
                  <a:lnTo>
                    <a:pt x="593318" y="557339"/>
                  </a:lnTo>
                  <a:lnTo>
                    <a:pt x="594575" y="556831"/>
                  </a:lnTo>
                  <a:lnTo>
                    <a:pt x="596658" y="554748"/>
                  </a:lnTo>
                  <a:lnTo>
                    <a:pt x="597179" y="553491"/>
                  </a:lnTo>
                  <a:lnTo>
                    <a:pt x="597179" y="529221"/>
                  </a:lnTo>
                  <a:close/>
                </a:path>
                <a:path w="1036954" h="3063875">
                  <a:moveTo>
                    <a:pt x="597179" y="475894"/>
                  </a:moveTo>
                  <a:lnTo>
                    <a:pt x="596658" y="474637"/>
                  </a:lnTo>
                  <a:lnTo>
                    <a:pt x="594575" y="472554"/>
                  </a:lnTo>
                  <a:lnTo>
                    <a:pt x="593318" y="472033"/>
                  </a:lnTo>
                  <a:lnTo>
                    <a:pt x="590372" y="472033"/>
                  </a:lnTo>
                  <a:lnTo>
                    <a:pt x="589114" y="472554"/>
                  </a:lnTo>
                  <a:lnTo>
                    <a:pt x="587032" y="474637"/>
                  </a:lnTo>
                  <a:lnTo>
                    <a:pt x="586511" y="475894"/>
                  </a:lnTo>
                  <a:lnTo>
                    <a:pt x="586511" y="500176"/>
                  </a:lnTo>
                  <a:lnTo>
                    <a:pt x="587032" y="501421"/>
                  </a:lnTo>
                  <a:lnTo>
                    <a:pt x="589114" y="503504"/>
                  </a:lnTo>
                  <a:lnTo>
                    <a:pt x="590372" y="504024"/>
                  </a:lnTo>
                  <a:lnTo>
                    <a:pt x="593318" y="504024"/>
                  </a:lnTo>
                  <a:lnTo>
                    <a:pt x="594575" y="503504"/>
                  </a:lnTo>
                  <a:lnTo>
                    <a:pt x="596658" y="501421"/>
                  </a:lnTo>
                  <a:lnTo>
                    <a:pt x="597179" y="500176"/>
                  </a:lnTo>
                  <a:lnTo>
                    <a:pt x="597179" y="475894"/>
                  </a:lnTo>
                  <a:close/>
                </a:path>
                <a:path w="1036954" h="3063875">
                  <a:moveTo>
                    <a:pt x="597179" y="422579"/>
                  </a:moveTo>
                  <a:lnTo>
                    <a:pt x="596658" y="421322"/>
                  </a:lnTo>
                  <a:lnTo>
                    <a:pt x="594575" y="419239"/>
                  </a:lnTo>
                  <a:lnTo>
                    <a:pt x="593318" y="418719"/>
                  </a:lnTo>
                  <a:lnTo>
                    <a:pt x="590372" y="418719"/>
                  </a:lnTo>
                  <a:lnTo>
                    <a:pt x="589114" y="419239"/>
                  </a:lnTo>
                  <a:lnTo>
                    <a:pt x="587032" y="421322"/>
                  </a:lnTo>
                  <a:lnTo>
                    <a:pt x="586511" y="422579"/>
                  </a:lnTo>
                  <a:lnTo>
                    <a:pt x="586511" y="446849"/>
                  </a:lnTo>
                  <a:lnTo>
                    <a:pt x="587032" y="448106"/>
                  </a:lnTo>
                  <a:lnTo>
                    <a:pt x="589114" y="450189"/>
                  </a:lnTo>
                  <a:lnTo>
                    <a:pt x="590372" y="450710"/>
                  </a:lnTo>
                  <a:lnTo>
                    <a:pt x="593318" y="450710"/>
                  </a:lnTo>
                  <a:lnTo>
                    <a:pt x="594575" y="450189"/>
                  </a:lnTo>
                  <a:lnTo>
                    <a:pt x="596658" y="448106"/>
                  </a:lnTo>
                  <a:lnTo>
                    <a:pt x="597179" y="446849"/>
                  </a:lnTo>
                  <a:lnTo>
                    <a:pt x="597179" y="422579"/>
                  </a:lnTo>
                  <a:close/>
                </a:path>
                <a:path w="1036954" h="3063875">
                  <a:moveTo>
                    <a:pt x="597179" y="369252"/>
                  </a:moveTo>
                  <a:lnTo>
                    <a:pt x="596658" y="367995"/>
                  </a:lnTo>
                  <a:lnTo>
                    <a:pt x="594575" y="365912"/>
                  </a:lnTo>
                  <a:lnTo>
                    <a:pt x="593318" y="365391"/>
                  </a:lnTo>
                  <a:lnTo>
                    <a:pt x="590372" y="365391"/>
                  </a:lnTo>
                  <a:lnTo>
                    <a:pt x="589114" y="365912"/>
                  </a:lnTo>
                  <a:lnTo>
                    <a:pt x="587032" y="367995"/>
                  </a:lnTo>
                  <a:lnTo>
                    <a:pt x="586511" y="369252"/>
                  </a:lnTo>
                  <a:lnTo>
                    <a:pt x="586511" y="393534"/>
                  </a:lnTo>
                  <a:lnTo>
                    <a:pt x="587032" y="394779"/>
                  </a:lnTo>
                  <a:lnTo>
                    <a:pt x="589114" y="396875"/>
                  </a:lnTo>
                  <a:lnTo>
                    <a:pt x="590372" y="397395"/>
                  </a:lnTo>
                  <a:lnTo>
                    <a:pt x="593318" y="397395"/>
                  </a:lnTo>
                  <a:lnTo>
                    <a:pt x="594575" y="396875"/>
                  </a:lnTo>
                  <a:lnTo>
                    <a:pt x="596658" y="394779"/>
                  </a:lnTo>
                  <a:lnTo>
                    <a:pt x="597179" y="393534"/>
                  </a:lnTo>
                  <a:lnTo>
                    <a:pt x="597179" y="369252"/>
                  </a:lnTo>
                  <a:close/>
                </a:path>
                <a:path w="1036954" h="3063875">
                  <a:moveTo>
                    <a:pt x="597179" y="315937"/>
                  </a:moveTo>
                  <a:lnTo>
                    <a:pt x="596658" y="314680"/>
                  </a:lnTo>
                  <a:lnTo>
                    <a:pt x="594575" y="312597"/>
                  </a:lnTo>
                  <a:lnTo>
                    <a:pt x="593318" y="312077"/>
                  </a:lnTo>
                  <a:lnTo>
                    <a:pt x="590372" y="312077"/>
                  </a:lnTo>
                  <a:lnTo>
                    <a:pt x="589114" y="312597"/>
                  </a:lnTo>
                  <a:lnTo>
                    <a:pt x="587032" y="314680"/>
                  </a:lnTo>
                  <a:lnTo>
                    <a:pt x="586511" y="315937"/>
                  </a:lnTo>
                  <a:lnTo>
                    <a:pt x="586511" y="340207"/>
                  </a:lnTo>
                  <a:lnTo>
                    <a:pt x="587032" y="341464"/>
                  </a:lnTo>
                  <a:lnTo>
                    <a:pt x="589114" y="343547"/>
                  </a:lnTo>
                  <a:lnTo>
                    <a:pt x="590372" y="344068"/>
                  </a:lnTo>
                  <a:lnTo>
                    <a:pt x="593318" y="344068"/>
                  </a:lnTo>
                  <a:lnTo>
                    <a:pt x="594575" y="343547"/>
                  </a:lnTo>
                  <a:lnTo>
                    <a:pt x="596658" y="341464"/>
                  </a:lnTo>
                  <a:lnTo>
                    <a:pt x="597179" y="340207"/>
                  </a:lnTo>
                  <a:lnTo>
                    <a:pt x="597179" y="315937"/>
                  </a:lnTo>
                  <a:close/>
                </a:path>
                <a:path w="1036954" h="3063875">
                  <a:moveTo>
                    <a:pt x="597179" y="262623"/>
                  </a:moveTo>
                  <a:lnTo>
                    <a:pt x="596658" y="261366"/>
                  </a:lnTo>
                  <a:lnTo>
                    <a:pt x="594575" y="259283"/>
                  </a:lnTo>
                  <a:lnTo>
                    <a:pt x="593318" y="258762"/>
                  </a:lnTo>
                  <a:lnTo>
                    <a:pt x="590372" y="258762"/>
                  </a:lnTo>
                  <a:lnTo>
                    <a:pt x="589114" y="259283"/>
                  </a:lnTo>
                  <a:lnTo>
                    <a:pt x="587032" y="261366"/>
                  </a:lnTo>
                  <a:lnTo>
                    <a:pt x="586511" y="262623"/>
                  </a:lnTo>
                  <a:lnTo>
                    <a:pt x="586511" y="286893"/>
                  </a:lnTo>
                  <a:lnTo>
                    <a:pt x="587032" y="288150"/>
                  </a:lnTo>
                  <a:lnTo>
                    <a:pt x="589114" y="290233"/>
                  </a:lnTo>
                  <a:lnTo>
                    <a:pt x="590372" y="290753"/>
                  </a:lnTo>
                  <a:lnTo>
                    <a:pt x="593318" y="290753"/>
                  </a:lnTo>
                  <a:lnTo>
                    <a:pt x="594575" y="290233"/>
                  </a:lnTo>
                  <a:lnTo>
                    <a:pt x="596658" y="288150"/>
                  </a:lnTo>
                  <a:lnTo>
                    <a:pt x="597179" y="286893"/>
                  </a:lnTo>
                  <a:lnTo>
                    <a:pt x="597179" y="262623"/>
                  </a:lnTo>
                  <a:close/>
                </a:path>
                <a:path w="1036954" h="3063875">
                  <a:moveTo>
                    <a:pt x="1036523" y="53809"/>
                  </a:moveTo>
                  <a:lnTo>
                    <a:pt x="1016990" y="14198"/>
                  </a:lnTo>
                  <a:lnTo>
                    <a:pt x="982726" y="0"/>
                  </a:lnTo>
                  <a:lnTo>
                    <a:pt x="57581" y="0"/>
                  </a:lnTo>
                  <a:lnTo>
                    <a:pt x="53797" y="0"/>
                  </a:lnTo>
                  <a:lnTo>
                    <a:pt x="14185" y="19545"/>
                  </a:lnTo>
                  <a:lnTo>
                    <a:pt x="0" y="53809"/>
                  </a:lnTo>
                  <a:lnTo>
                    <a:pt x="0" y="154457"/>
                  </a:lnTo>
                  <a:lnTo>
                    <a:pt x="19532" y="194081"/>
                  </a:lnTo>
                  <a:lnTo>
                    <a:pt x="53797" y="208267"/>
                  </a:lnTo>
                  <a:lnTo>
                    <a:pt x="586930" y="208267"/>
                  </a:lnTo>
                  <a:lnTo>
                    <a:pt x="586511" y="209296"/>
                  </a:lnTo>
                  <a:lnTo>
                    <a:pt x="586511" y="233578"/>
                  </a:lnTo>
                  <a:lnTo>
                    <a:pt x="587032" y="234835"/>
                  </a:lnTo>
                  <a:lnTo>
                    <a:pt x="589114" y="236918"/>
                  </a:lnTo>
                  <a:lnTo>
                    <a:pt x="590372" y="237439"/>
                  </a:lnTo>
                  <a:lnTo>
                    <a:pt x="593318" y="237439"/>
                  </a:lnTo>
                  <a:lnTo>
                    <a:pt x="594575" y="236918"/>
                  </a:lnTo>
                  <a:lnTo>
                    <a:pt x="596658" y="234835"/>
                  </a:lnTo>
                  <a:lnTo>
                    <a:pt x="597179" y="233578"/>
                  </a:lnTo>
                  <a:lnTo>
                    <a:pt x="597179" y="209296"/>
                  </a:lnTo>
                  <a:lnTo>
                    <a:pt x="596747" y="208267"/>
                  </a:lnTo>
                  <a:lnTo>
                    <a:pt x="982726" y="208267"/>
                  </a:lnTo>
                  <a:lnTo>
                    <a:pt x="1022337" y="188722"/>
                  </a:lnTo>
                  <a:lnTo>
                    <a:pt x="1036523" y="154457"/>
                  </a:lnTo>
                  <a:lnTo>
                    <a:pt x="1036523" y="53809"/>
                  </a:lnTo>
                  <a:close/>
                </a:path>
              </a:pathLst>
            </a:custGeom>
            <a:solidFill>
              <a:srgbClr val="1D20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702225" y="2193969"/>
            <a:ext cx="961390" cy="139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Average</a:t>
            </a:r>
            <a:r>
              <a:rPr sz="750" spc="90" dirty="0">
                <a:solidFill>
                  <a:srgbClr val="FFFFFF"/>
                </a:solidFill>
                <a:latin typeface="Tahoma"/>
                <a:cs typeface="Tahoma"/>
              </a:rPr>
              <a:t xml:space="preserve"> </a:t>
            </a:r>
            <a:r>
              <a:rPr sz="750" spc="10" dirty="0">
                <a:solidFill>
                  <a:srgbClr val="FFFFFF"/>
                </a:solidFill>
                <a:latin typeface="Tahoma"/>
                <a:cs typeface="Tahoma"/>
              </a:rPr>
              <a:t>Margin:</a:t>
            </a:r>
            <a:r>
              <a:rPr sz="750" spc="95" dirty="0">
                <a:solidFill>
                  <a:srgbClr val="FFFFFF"/>
                </a:solidFill>
                <a:latin typeface="Tahoma"/>
                <a:cs typeface="Tahoma"/>
              </a:rPr>
              <a:t xml:space="preserve"> </a:t>
            </a:r>
            <a:r>
              <a:rPr sz="750" spc="-20" dirty="0">
                <a:solidFill>
                  <a:srgbClr val="FFFFFF"/>
                </a:solidFill>
                <a:latin typeface="Tahoma"/>
                <a:cs typeface="Tahoma"/>
              </a:rPr>
              <a:t>17.5</a:t>
            </a:r>
            <a:endParaRPr sz="75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35"/>
              </a:spcBef>
            </a:pPr>
            <a:r>
              <a:rPr spc="160" dirty="0">
                <a:latin typeface="Calibri"/>
                <a:cs typeface="Calibri"/>
              </a:rPr>
              <a:t>Consistent</a:t>
            </a:r>
            <a:r>
              <a:rPr spc="30" dirty="0">
                <a:latin typeface="Calibri"/>
                <a:cs typeface="Calibri"/>
              </a:rPr>
              <a:t xml:space="preserve"> </a:t>
            </a:r>
            <a:r>
              <a:rPr spc="155" dirty="0">
                <a:latin typeface="Calibri"/>
                <a:cs typeface="Calibri"/>
              </a:rPr>
              <a:t>Efficiency</a:t>
            </a:r>
            <a:r>
              <a:rPr spc="35" dirty="0">
                <a:latin typeface="Calibri"/>
                <a:cs typeface="Calibri"/>
              </a:rPr>
              <a:t xml:space="preserve"> </a:t>
            </a:r>
            <a:r>
              <a:rPr spc="155" dirty="0">
                <a:latin typeface="Calibri"/>
                <a:cs typeface="Calibri"/>
              </a:rPr>
              <a:t>Across</a:t>
            </a:r>
            <a:r>
              <a:rPr spc="30" dirty="0">
                <a:latin typeface="Calibri"/>
                <a:cs typeface="Calibri"/>
              </a:rPr>
              <a:t xml:space="preserve"> </a:t>
            </a:r>
            <a:r>
              <a:rPr spc="165" dirty="0">
                <a:latin typeface="Calibri"/>
                <a:cs typeface="Calibri"/>
              </a:rPr>
              <a:t>Regions</a:t>
            </a:r>
          </a:p>
          <a:p>
            <a:pPr marL="12065" marR="5080">
              <a:lnSpc>
                <a:spcPct val="132700"/>
              </a:lnSpc>
              <a:spcBef>
                <a:spcPts val="940"/>
              </a:spcBef>
            </a:pPr>
            <a:r>
              <a:rPr sz="1350" b="0" spc="-40" dirty="0">
                <a:solidFill>
                  <a:srgbClr val="4B4A4A"/>
                </a:solidFill>
                <a:latin typeface="Verdana"/>
                <a:cs typeface="Verdana"/>
              </a:rPr>
              <a:t>All</a:t>
            </a:r>
            <a:r>
              <a:rPr sz="1350" b="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60" dirty="0">
                <a:solidFill>
                  <a:srgbClr val="4B4A4A"/>
                </a:solidFill>
                <a:latin typeface="Verdana"/>
                <a:cs typeface="Verdana"/>
              </a:rPr>
              <a:t>four</a:t>
            </a:r>
            <a:r>
              <a:rPr sz="1350" b="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75" dirty="0">
                <a:solidFill>
                  <a:srgbClr val="4B4A4A"/>
                </a:solidFill>
                <a:latin typeface="Verdana"/>
                <a:cs typeface="Verdana"/>
              </a:rPr>
              <a:t>regions</a:t>
            </a:r>
            <a:r>
              <a:rPr sz="1350" b="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85" dirty="0">
                <a:solidFill>
                  <a:srgbClr val="4B4A4A"/>
                </a:solidFill>
                <a:latin typeface="Verdana"/>
                <a:cs typeface="Verdana"/>
              </a:rPr>
              <a:t>maintain</a:t>
            </a:r>
            <a:r>
              <a:rPr sz="1350" b="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75" dirty="0">
                <a:solidFill>
                  <a:srgbClr val="4B4A4A"/>
                </a:solidFill>
                <a:latin typeface="Verdana"/>
                <a:cs typeface="Verdana"/>
              </a:rPr>
              <a:t>profit</a:t>
            </a:r>
            <a:r>
              <a:rPr sz="1350" b="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85" dirty="0">
                <a:solidFill>
                  <a:srgbClr val="4B4A4A"/>
                </a:solidFill>
                <a:latin typeface="Verdana"/>
                <a:cs typeface="Verdana"/>
              </a:rPr>
              <a:t>margins</a:t>
            </a:r>
            <a:r>
              <a:rPr sz="1350" b="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70" dirty="0">
                <a:solidFill>
                  <a:srgbClr val="4B4A4A"/>
                </a:solidFill>
                <a:latin typeface="Verdana"/>
                <a:cs typeface="Verdana"/>
              </a:rPr>
              <a:t>tightly</a:t>
            </a:r>
            <a:r>
              <a:rPr sz="1350" b="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10" dirty="0">
                <a:solidFill>
                  <a:srgbClr val="4B4A4A"/>
                </a:solidFill>
                <a:latin typeface="Verdana"/>
                <a:cs typeface="Verdana"/>
              </a:rPr>
              <a:t xml:space="preserve">clustered </a:t>
            </a:r>
            <a:r>
              <a:rPr sz="1350" b="0" spc="-65" dirty="0">
                <a:solidFill>
                  <a:srgbClr val="4B4A4A"/>
                </a:solidFill>
                <a:latin typeface="Verdana"/>
                <a:cs typeface="Verdana"/>
              </a:rPr>
              <a:t>between</a:t>
            </a:r>
            <a:r>
              <a:rPr sz="1350" b="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Arial"/>
                <a:cs typeface="Arial"/>
              </a:rPr>
              <a:t>17.2%</a:t>
            </a:r>
            <a:r>
              <a:rPr sz="1350" spc="-40" dirty="0">
                <a:solidFill>
                  <a:srgbClr val="4B4A4A"/>
                </a:solidFill>
                <a:latin typeface="Arial"/>
                <a:cs typeface="Arial"/>
              </a:rPr>
              <a:t xml:space="preserve"> </a:t>
            </a:r>
            <a:r>
              <a:rPr sz="1350" dirty="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sz="1350" spc="-40" dirty="0">
                <a:solidFill>
                  <a:srgbClr val="4B4A4A"/>
                </a:solidFill>
                <a:latin typeface="Arial"/>
                <a:cs typeface="Arial"/>
              </a:rPr>
              <a:t xml:space="preserve"> </a:t>
            </a:r>
            <a:r>
              <a:rPr sz="1350" spc="-85" dirty="0">
                <a:solidFill>
                  <a:srgbClr val="4B4A4A"/>
                </a:solidFill>
                <a:latin typeface="Arial"/>
                <a:cs typeface="Arial"/>
              </a:rPr>
              <a:t>17.9%</a:t>
            </a:r>
            <a:r>
              <a:rPr sz="1350" spc="-10" dirty="0">
                <a:solidFill>
                  <a:srgbClr val="4B4A4A"/>
                </a:solidFill>
                <a:latin typeface="Arial"/>
                <a:cs typeface="Arial"/>
              </a:rPr>
              <a:t xml:space="preserve"> </a:t>
            </a:r>
            <a:r>
              <a:rPr sz="1350" b="0" spc="0" dirty="0">
                <a:solidFill>
                  <a:srgbClr val="4B4A4A"/>
                </a:solidFill>
                <a:latin typeface="Verdana"/>
                <a:cs typeface="Verdana"/>
              </a:rPr>
              <a:t>—</a:t>
            </a:r>
            <a:r>
              <a:rPr sz="1350" b="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80" dirty="0">
                <a:solidFill>
                  <a:srgbClr val="4B4A4A"/>
                </a:solidFill>
                <a:latin typeface="Verdana"/>
                <a:cs typeface="Verdana"/>
              </a:rPr>
              <a:t>a</a:t>
            </a:r>
            <a:r>
              <a:rPr sz="1350" b="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80" dirty="0">
                <a:solidFill>
                  <a:srgbClr val="4B4A4A"/>
                </a:solidFill>
                <a:latin typeface="Verdana"/>
                <a:cs typeface="Verdana"/>
              </a:rPr>
              <a:t>variance</a:t>
            </a:r>
            <a:r>
              <a:rPr sz="1350" b="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30" dirty="0">
                <a:solidFill>
                  <a:srgbClr val="4B4A4A"/>
                </a:solidFill>
                <a:latin typeface="Verdana"/>
                <a:cs typeface="Verdana"/>
              </a:rPr>
              <a:t>of</a:t>
            </a:r>
            <a:r>
              <a:rPr sz="1350" b="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35" dirty="0">
                <a:solidFill>
                  <a:srgbClr val="4B4A4A"/>
                </a:solidFill>
                <a:latin typeface="Verdana"/>
                <a:cs typeface="Verdana"/>
              </a:rPr>
              <a:t>less</a:t>
            </a:r>
            <a:r>
              <a:rPr sz="1350" b="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75" dirty="0">
                <a:solidFill>
                  <a:srgbClr val="4B4A4A"/>
                </a:solidFill>
                <a:latin typeface="Verdana"/>
                <a:cs typeface="Verdana"/>
              </a:rPr>
              <a:t>than</a:t>
            </a:r>
            <a:r>
              <a:rPr sz="1350" b="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395" dirty="0">
                <a:solidFill>
                  <a:srgbClr val="4B4A4A"/>
                </a:solidFill>
                <a:latin typeface="Verdana"/>
                <a:cs typeface="Verdana"/>
              </a:rPr>
              <a:t>1</a:t>
            </a:r>
            <a:r>
              <a:rPr sz="1350" b="0" spc="-70" dirty="0">
                <a:solidFill>
                  <a:srgbClr val="4B4A4A"/>
                </a:solidFill>
                <a:latin typeface="Verdana"/>
                <a:cs typeface="Verdana"/>
              </a:rPr>
              <a:t xml:space="preserve"> percentage</a:t>
            </a:r>
            <a:r>
              <a:rPr sz="1350" b="0" spc="-90" dirty="0">
                <a:solidFill>
                  <a:srgbClr val="4B4A4A"/>
                </a:solidFill>
                <a:latin typeface="Verdana"/>
                <a:cs typeface="Verdana"/>
              </a:rPr>
              <a:t xml:space="preserve"> point. </a:t>
            </a:r>
            <a:r>
              <a:rPr sz="1350" b="0" spc="-80" dirty="0">
                <a:solidFill>
                  <a:srgbClr val="4B4A4A"/>
                </a:solidFill>
                <a:latin typeface="Verdana"/>
                <a:cs typeface="Verdana"/>
              </a:rPr>
              <a:t>This</a:t>
            </a:r>
            <a:r>
              <a:rPr sz="1350" b="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90" dirty="0">
                <a:solidFill>
                  <a:srgbClr val="4B4A4A"/>
                </a:solidFill>
                <a:latin typeface="Verdana"/>
                <a:cs typeface="Verdana"/>
              </a:rPr>
              <a:t xml:space="preserve">uniformity </a:t>
            </a:r>
            <a:r>
              <a:rPr sz="1350" b="0" spc="-50" dirty="0">
                <a:solidFill>
                  <a:srgbClr val="4B4A4A"/>
                </a:solidFill>
                <a:latin typeface="Verdana"/>
                <a:cs typeface="Verdana"/>
              </a:rPr>
              <a:t>signals</a:t>
            </a:r>
            <a:r>
              <a:rPr sz="1350" b="0" spc="-90" dirty="0">
                <a:solidFill>
                  <a:srgbClr val="4B4A4A"/>
                </a:solidFill>
                <a:latin typeface="Verdana"/>
                <a:cs typeface="Verdana"/>
              </a:rPr>
              <a:t xml:space="preserve"> strong,</a:t>
            </a:r>
            <a:r>
              <a:rPr sz="1350" b="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50" dirty="0">
                <a:solidFill>
                  <a:srgbClr val="4B4A4A"/>
                </a:solidFill>
                <a:latin typeface="Verdana"/>
                <a:cs typeface="Verdana"/>
              </a:rPr>
              <a:t xml:space="preserve">standardized </a:t>
            </a:r>
            <a:r>
              <a:rPr sz="1350" b="0" spc="-80" dirty="0">
                <a:solidFill>
                  <a:srgbClr val="4B4A4A"/>
                </a:solidFill>
                <a:latin typeface="Verdana"/>
                <a:cs typeface="Verdana"/>
              </a:rPr>
              <a:t>operational</a:t>
            </a:r>
            <a:r>
              <a:rPr sz="1350" b="0" spc="-4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55" dirty="0">
                <a:solidFill>
                  <a:srgbClr val="4B4A4A"/>
                </a:solidFill>
                <a:latin typeface="Verdana"/>
                <a:cs typeface="Verdana"/>
              </a:rPr>
              <a:t>practices</a:t>
            </a:r>
            <a:r>
              <a:rPr sz="1350" b="0" spc="-3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b="0" spc="-85" dirty="0">
                <a:solidFill>
                  <a:srgbClr val="4B4A4A"/>
                </a:solidFill>
                <a:latin typeface="Verdana"/>
                <a:cs typeface="Verdana"/>
              </a:rPr>
              <a:t>company-</a:t>
            </a:r>
            <a:r>
              <a:rPr sz="1350" b="0" spc="-20" dirty="0">
                <a:solidFill>
                  <a:srgbClr val="4B4A4A"/>
                </a:solidFill>
                <a:latin typeface="Verdana"/>
                <a:cs typeface="Verdana"/>
              </a:rPr>
              <a:t>wide.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00075" y="6000750"/>
            <a:ext cx="5029200" cy="1028700"/>
            <a:chOff x="600075" y="6000750"/>
            <a:chExt cx="5029200" cy="1028700"/>
          </a:xfrm>
        </p:grpSpPr>
        <p:sp>
          <p:nvSpPr>
            <p:cNvPr id="25" name="object 25"/>
            <p:cNvSpPr/>
            <p:nvPr/>
          </p:nvSpPr>
          <p:spPr>
            <a:xfrm>
              <a:off x="609600" y="6010275"/>
              <a:ext cx="5010150" cy="1009650"/>
            </a:xfrm>
            <a:custGeom>
              <a:avLst/>
              <a:gdLst/>
              <a:ahLst/>
              <a:cxnLst/>
              <a:rect l="l" t="t" r="r" b="b"/>
              <a:pathLst>
                <a:path w="5010150" h="1009650">
                  <a:moveTo>
                    <a:pt x="4898910" y="0"/>
                  </a:moveTo>
                  <a:lnTo>
                    <a:pt x="111244" y="0"/>
                  </a:lnTo>
                  <a:lnTo>
                    <a:pt x="103499" y="762"/>
                  </a:lnTo>
                  <a:lnTo>
                    <a:pt x="66278" y="12052"/>
                  </a:lnTo>
                  <a:lnTo>
                    <a:pt x="29343" y="40398"/>
                  </a:lnTo>
                  <a:lnTo>
                    <a:pt x="6071" y="80721"/>
                  </a:lnTo>
                  <a:lnTo>
                    <a:pt x="0" y="111239"/>
                  </a:lnTo>
                  <a:lnTo>
                    <a:pt x="0" y="890588"/>
                  </a:lnTo>
                  <a:lnTo>
                    <a:pt x="0" y="898401"/>
                  </a:lnTo>
                  <a:lnTo>
                    <a:pt x="12054" y="943372"/>
                  </a:lnTo>
                  <a:lnTo>
                    <a:pt x="40402" y="980301"/>
                  </a:lnTo>
                  <a:lnTo>
                    <a:pt x="80719" y="1003579"/>
                  </a:lnTo>
                  <a:lnTo>
                    <a:pt x="111244" y="1009646"/>
                  </a:lnTo>
                  <a:lnTo>
                    <a:pt x="4898910" y="1009646"/>
                  </a:lnTo>
                  <a:lnTo>
                    <a:pt x="4943868" y="997596"/>
                  </a:lnTo>
                  <a:lnTo>
                    <a:pt x="4980800" y="969248"/>
                  </a:lnTo>
                  <a:lnTo>
                    <a:pt x="5004079" y="928926"/>
                  </a:lnTo>
                  <a:lnTo>
                    <a:pt x="5010150" y="898401"/>
                  </a:lnTo>
                  <a:lnTo>
                    <a:pt x="5010150" y="111239"/>
                  </a:lnTo>
                  <a:lnTo>
                    <a:pt x="4998097" y="66268"/>
                  </a:lnTo>
                  <a:lnTo>
                    <a:pt x="4969751" y="29349"/>
                  </a:lnTo>
                  <a:lnTo>
                    <a:pt x="4929428" y="6070"/>
                  </a:lnTo>
                  <a:lnTo>
                    <a:pt x="4906645" y="762"/>
                  </a:lnTo>
                  <a:lnTo>
                    <a:pt x="4898910" y="0"/>
                  </a:lnTo>
                  <a:close/>
                </a:path>
              </a:pathLst>
            </a:custGeom>
            <a:solidFill>
              <a:srgbClr val="E5F9F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9600" y="6010275"/>
              <a:ext cx="5010150" cy="1009650"/>
            </a:xfrm>
            <a:custGeom>
              <a:avLst/>
              <a:gdLst/>
              <a:ahLst/>
              <a:cxnLst/>
              <a:rect l="l" t="t" r="r" b="b"/>
              <a:pathLst>
                <a:path w="5010150" h="1009650">
                  <a:moveTo>
                    <a:pt x="0" y="890588"/>
                  </a:moveTo>
                  <a:lnTo>
                    <a:pt x="0" y="119062"/>
                  </a:lnTo>
                  <a:lnTo>
                    <a:pt x="0" y="111239"/>
                  </a:lnTo>
                  <a:lnTo>
                    <a:pt x="764" y="103505"/>
                  </a:lnTo>
                  <a:lnTo>
                    <a:pt x="2287" y="95834"/>
                  </a:lnTo>
                  <a:lnTo>
                    <a:pt x="3815" y="88163"/>
                  </a:lnTo>
                  <a:lnTo>
                    <a:pt x="6071" y="80721"/>
                  </a:lnTo>
                  <a:lnTo>
                    <a:pt x="9063" y="73494"/>
                  </a:lnTo>
                  <a:lnTo>
                    <a:pt x="12054" y="66268"/>
                  </a:lnTo>
                  <a:lnTo>
                    <a:pt x="34870" y="34874"/>
                  </a:lnTo>
                  <a:lnTo>
                    <a:pt x="66278" y="12052"/>
                  </a:lnTo>
                  <a:lnTo>
                    <a:pt x="95835" y="2286"/>
                  </a:lnTo>
                  <a:lnTo>
                    <a:pt x="103499" y="762"/>
                  </a:lnTo>
                  <a:lnTo>
                    <a:pt x="111244" y="0"/>
                  </a:lnTo>
                  <a:lnTo>
                    <a:pt x="119062" y="0"/>
                  </a:lnTo>
                  <a:lnTo>
                    <a:pt x="4891087" y="0"/>
                  </a:lnTo>
                  <a:lnTo>
                    <a:pt x="4898910" y="0"/>
                  </a:lnTo>
                  <a:lnTo>
                    <a:pt x="4906645" y="762"/>
                  </a:lnTo>
                  <a:lnTo>
                    <a:pt x="4943868" y="12052"/>
                  </a:lnTo>
                  <a:lnTo>
                    <a:pt x="4957229" y="20066"/>
                  </a:lnTo>
                  <a:lnTo>
                    <a:pt x="4963731" y="24409"/>
                  </a:lnTo>
                  <a:lnTo>
                    <a:pt x="4969751" y="29349"/>
                  </a:lnTo>
                  <a:lnTo>
                    <a:pt x="4975275" y="34874"/>
                  </a:lnTo>
                  <a:lnTo>
                    <a:pt x="4980800" y="40398"/>
                  </a:lnTo>
                  <a:lnTo>
                    <a:pt x="5001082" y="73494"/>
                  </a:lnTo>
                  <a:lnTo>
                    <a:pt x="5004079" y="80721"/>
                  </a:lnTo>
                  <a:lnTo>
                    <a:pt x="5006340" y="88163"/>
                  </a:lnTo>
                  <a:lnTo>
                    <a:pt x="5007864" y="95834"/>
                  </a:lnTo>
                  <a:lnTo>
                    <a:pt x="5009388" y="103505"/>
                  </a:lnTo>
                  <a:lnTo>
                    <a:pt x="5010150" y="111239"/>
                  </a:lnTo>
                  <a:lnTo>
                    <a:pt x="5010150" y="119062"/>
                  </a:lnTo>
                  <a:lnTo>
                    <a:pt x="5010150" y="890588"/>
                  </a:lnTo>
                  <a:lnTo>
                    <a:pt x="5010150" y="898401"/>
                  </a:lnTo>
                  <a:lnTo>
                    <a:pt x="5009388" y="906146"/>
                  </a:lnTo>
                  <a:lnTo>
                    <a:pt x="5007864" y="913815"/>
                  </a:lnTo>
                  <a:lnTo>
                    <a:pt x="5006340" y="921480"/>
                  </a:lnTo>
                  <a:lnTo>
                    <a:pt x="5004079" y="928926"/>
                  </a:lnTo>
                  <a:lnTo>
                    <a:pt x="5001082" y="936150"/>
                  </a:lnTo>
                  <a:lnTo>
                    <a:pt x="4998097" y="943372"/>
                  </a:lnTo>
                  <a:lnTo>
                    <a:pt x="4994427" y="950234"/>
                  </a:lnTo>
                  <a:lnTo>
                    <a:pt x="4990084" y="956732"/>
                  </a:lnTo>
                  <a:lnTo>
                    <a:pt x="4985740" y="963231"/>
                  </a:lnTo>
                  <a:lnTo>
                    <a:pt x="4957229" y="989584"/>
                  </a:lnTo>
                  <a:lnTo>
                    <a:pt x="4921986" y="1005836"/>
                  </a:lnTo>
                  <a:lnTo>
                    <a:pt x="4914315" y="1007358"/>
                  </a:lnTo>
                  <a:lnTo>
                    <a:pt x="4906645" y="1008886"/>
                  </a:lnTo>
                  <a:lnTo>
                    <a:pt x="4898910" y="1009646"/>
                  </a:lnTo>
                  <a:lnTo>
                    <a:pt x="4891087" y="1009651"/>
                  </a:lnTo>
                  <a:lnTo>
                    <a:pt x="119062" y="1009651"/>
                  </a:lnTo>
                  <a:lnTo>
                    <a:pt x="111244" y="1009646"/>
                  </a:lnTo>
                  <a:lnTo>
                    <a:pt x="103499" y="1008886"/>
                  </a:lnTo>
                  <a:lnTo>
                    <a:pt x="95835" y="1007358"/>
                  </a:lnTo>
                  <a:lnTo>
                    <a:pt x="88165" y="1005836"/>
                  </a:lnTo>
                  <a:lnTo>
                    <a:pt x="80719" y="1003579"/>
                  </a:lnTo>
                  <a:lnTo>
                    <a:pt x="73501" y="1000587"/>
                  </a:lnTo>
                  <a:lnTo>
                    <a:pt x="66278" y="997596"/>
                  </a:lnTo>
                  <a:lnTo>
                    <a:pt x="34870" y="974775"/>
                  </a:lnTo>
                  <a:lnTo>
                    <a:pt x="20067" y="956732"/>
                  </a:lnTo>
                  <a:lnTo>
                    <a:pt x="15721" y="950234"/>
                  </a:lnTo>
                  <a:lnTo>
                    <a:pt x="12054" y="943372"/>
                  </a:lnTo>
                  <a:lnTo>
                    <a:pt x="9063" y="936150"/>
                  </a:lnTo>
                  <a:lnTo>
                    <a:pt x="6071" y="928926"/>
                  </a:lnTo>
                  <a:lnTo>
                    <a:pt x="3815" y="921480"/>
                  </a:lnTo>
                  <a:lnTo>
                    <a:pt x="2287" y="913815"/>
                  </a:lnTo>
                  <a:lnTo>
                    <a:pt x="764" y="906146"/>
                  </a:lnTo>
                  <a:lnTo>
                    <a:pt x="0" y="898401"/>
                  </a:lnTo>
                  <a:lnTo>
                    <a:pt x="0" y="890588"/>
                  </a:lnTo>
                  <a:close/>
                </a:path>
              </a:pathLst>
            </a:custGeom>
            <a:ln w="19050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77875" y="6044010"/>
            <a:ext cx="1605915" cy="75628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b="1" spc="155" dirty="0">
                <a:solidFill>
                  <a:srgbClr val="4B4A4A"/>
                </a:solidFill>
                <a:latin typeface="Times New Roman"/>
                <a:cs typeface="Times New Roman"/>
              </a:rPr>
              <a:t>Best</a:t>
            </a:r>
            <a:r>
              <a:rPr sz="1650" b="1" spc="15" dirty="0">
                <a:solidFill>
                  <a:srgbClr val="4B4A4A"/>
                </a:solidFill>
                <a:latin typeface="Times New Roman"/>
                <a:cs typeface="Times New Roman"/>
              </a:rPr>
              <a:t xml:space="preserve"> </a:t>
            </a:r>
            <a:r>
              <a:rPr sz="1650" b="1" spc="130" dirty="0">
                <a:solidFill>
                  <a:srgbClr val="4B4A4A"/>
                </a:solidFill>
                <a:latin typeface="Times New Roman"/>
                <a:cs typeface="Times New Roman"/>
              </a:rPr>
              <a:t>Margin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East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Region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at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285" dirty="0">
                <a:solidFill>
                  <a:srgbClr val="4B4A4A"/>
                </a:solidFill>
                <a:latin typeface="Verdana"/>
                <a:cs typeface="Verdana"/>
              </a:rPr>
              <a:t>17.9%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800725" y="6000750"/>
            <a:ext cx="5029200" cy="1028700"/>
            <a:chOff x="5800725" y="6000750"/>
            <a:chExt cx="5029200" cy="1028700"/>
          </a:xfrm>
        </p:grpSpPr>
        <p:sp>
          <p:nvSpPr>
            <p:cNvPr id="29" name="object 29"/>
            <p:cNvSpPr/>
            <p:nvPr/>
          </p:nvSpPr>
          <p:spPr>
            <a:xfrm>
              <a:off x="5810250" y="6010275"/>
              <a:ext cx="5010150" cy="1009650"/>
            </a:xfrm>
            <a:custGeom>
              <a:avLst/>
              <a:gdLst/>
              <a:ahLst/>
              <a:cxnLst/>
              <a:rect l="l" t="t" r="r" b="b"/>
              <a:pathLst>
                <a:path w="5010150" h="1009650">
                  <a:moveTo>
                    <a:pt x="4898910" y="0"/>
                  </a:moveTo>
                  <a:lnTo>
                    <a:pt x="111239" y="0"/>
                  </a:lnTo>
                  <a:lnTo>
                    <a:pt x="103505" y="762"/>
                  </a:lnTo>
                  <a:lnTo>
                    <a:pt x="66281" y="12052"/>
                  </a:lnTo>
                  <a:lnTo>
                    <a:pt x="29349" y="40398"/>
                  </a:lnTo>
                  <a:lnTo>
                    <a:pt x="6070" y="80721"/>
                  </a:lnTo>
                  <a:lnTo>
                    <a:pt x="0" y="111239"/>
                  </a:lnTo>
                  <a:lnTo>
                    <a:pt x="0" y="890588"/>
                  </a:lnTo>
                  <a:lnTo>
                    <a:pt x="0" y="898401"/>
                  </a:lnTo>
                  <a:lnTo>
                    <a:pt x="12052" y="943372"/>
                  </a:lnTo>
                  <a:lnTo>
                    <a:pt x="40398" y="980301"/>
                  </a:lnTo>
                  <a:lnTo>
                    <a:pt x="80721" y="1003579"/>
                  </a:lnTo>
                  <a:lnTo>
                    <a:pt x="111239" y="1009646"/>
                  </a:lnTo>
                  <a:lnTo>
                    <a:pt x="4898910" y="1009646"/>
                  </a:lnTo>
                  <a:lnTo>
                    <a:pt x="4943868" y="997596"/>
                  </a:lnTo>
                  <a:lnTo>
                    <a:pt x="4980800" y="969248"/>
                  </a:lnTo>
                  <a:lnTo>
                    <a:pt x="5004079" y="928926"/>
                  </a:lnTo>
                  <a:lnTo>
                    <a:pt x="5010150" y="898401"/>
                  </a:lnTo>
                  <a:lnTo>
                    <a:pt x="5010150" y="111239"/>
                  </a:lnTo>
                  <a:lnTo>
                    <a:pt x="4998097" y="66268"/>
                  </a:lnTo>
                  <a:lnTo>
                    <a:pt x="4969751" y="29349"/>
                  </a:lnTo>
                  <a:lnTo>
                    <a:pt x="4929428" y="6070"/>
                  </a:lnTo>
                  <a:lnTo>
                    <a:pt x="4906645" y="762"/>
                  </a:lnTo>
                  <a:lnTo>
                    <a:pt x="4898910" y="0"/>
                  </a:lnTo>
                  <a:close/>
                </a:path>
              </a:pathLst>
            </a:custGeom>
            <a:solidFill>
              <a:srgbClr val="E5F9F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10250" y="6010275"/>
              <a:ext cx="5010150" cy="1009650"/>
            </a:xfrm>
            <a:custGeom>
              <a:avLst/>
              <a:gdLst/>
              <a:ahLst/>
              <a:cxnLst/>
              <a:rect l="l" t="t" r="r" b="b"/>
              <a:pathLst>
                <a:path w="5010150" h="1009650">
                  <a:moveTo>
                    <a:pt x="0" y="890588"/>
                  </a:moveTo>
                  <a:lnTo>
                    <a:pt x="0" y="119062"/>
                  </a:lnTo>
                  <a:lnTo>
                    <a:pt x="0" y="111239"/>
                  </a:lnTo>
                  <a:lnTo>
                    <a:pt x="762" y="103505"/>
                  </a:lnTo>
                  <a:lnTo>
                    <a:pt x="2286" y="95834"/>
                  </a:lnTo>
                  <a:lnTo>
                    <a:pt x="3810" y="88163"/>
                  </a:lnTo>
                  <a:lnTo>
                    <a:pt x="6070" y="80721"/>
                  </a:lnTo>
                  <a:lnTo>
                    <a:pt x="9067" y="73494"/>
                  </a:lnTo>
                  <a:lnTo>
                    <a:pt x="12052" y="66268"/>
                  </a:lnTo>
                  <a:lnTo>
                    <a:pt x="15722" y="59410"/>
                  </a:lnTo>
                  <a:lnTo>
                    <a:pt x="20066" y="52908"/>
                  </a:lnTo>
                  <a:lnTo>
                    <a:pt x="24409" y="46418"/>
                  </a:lnTo>
                  <a:lnTo>
                    <a:pt x="29349" y="40398"/>
                  </a:lnTo>
                  <a:lnTo>
                    <a:pt x="34874" y="34874"/>
                  </a:lnTo>
                  <a:lnTo>
                    <a:pt x="40398" y="29349"/>
                  </a:lnTo>
                  <a:lnTo>
                    <a:pt x="73507" y="9055"/>
                  </a:lnTo>
                  <a:lnTo>
                    <a:pt x="111239" y="0"/>
                  </a:lnTo>
                  <a:lnTo>
                    <a:pt x="119062" y="0"/>
                  </a:lnTo>
                  <a:lnTo>
                    <a:pt x="4891087" y="0"/>
                  </a:lnTo>
                  <a:lnTo>
                    <a:pt x="4898910" y="0"/>
                  </a:lnTo>
                  <a:lnTo>
                    <a:pt x="4906645" y="762"/>
                  </a:lnTo>
                  <a:lnTo>
                    <a:pt x="4943868" y="12052"/>
                  </a:lnTo>
                  <a:lnTo>
                    <a:pt x="4975275" y="34874"/>
                  </a:lnTo>
                  <a:lnTo>
                    <a:pt x="4998097" y="66268"/>
                  </a:lnTo>
                  <a:lnTo>
                    <a:pt x="5001082" y="73494"/>
                  </a:lnTo>
                  <a:lnTo>
                    <a:pt x="5004079" y="80721"/>
                  </a:lnTo>
                  <a:lnTo>
                    <a:pt x="5006340" y="88163"/>
                  </a:lnTo>
                  <a:lnTo>
                    <a:pt x="5007864" y="95834"/>
                  </a:lnTo>
                  <a:lnTo>
                    <a:pt x="5009388" y="103505"/>
                  </a:lnTo>
                  <a:lnTo>
                    <a:pt x="5010150" y="111239"/>
                  </a:lnTo>
                  <a:lnTo>
                    <a:pt x="5010150" y="119062"/>
                  </a:lnTo>
                  <a:lnTo>
                    <a:pt x="5010150" y="890588"/>
                  </a:lnTo>
                  <a:lnTo>
                    <a:pt x="5010150" y="898401"/>
                  </a:lnTo>
                  <a:lnTo>
                    <a:pt x="5009388" y="906146"/>
                  </a:lnTo>
                  <a:lnTo>
                    <a:pt x="5007864" y="913815"/>
                  </a:lnTo>
                  <a:lnTo>
                    <a:pt x="5006340" y="921480"/>
                  </a:lnTo>
                  <a:lnTo>
                    <a:pt x="5004079" y="928926"/>
                  </a:lnTo>
                  <a:lnTo>
                    <a:pt x="5001082" y="936150"/>
                  </a:lnTo>
                  <a:lnTo>
                    <a:pt x="4998097" y="943372"/>
                  </a:lnTo>
                  <a:lnTo>
                    <a:pt x="4994427" y="950234"/>
                  </a:lnTo>
                  <a:lnTo>
                    <a:pt x="4990084" y="956732"/>
                  </a:lnTo>
                  <a:lnTo>
                    <a:pt x="4985740" y="963231"/>
                  </a:lnTo>
                  <a:lnTo>
                    <a:pt x="4957241" y="989584"/>
                  </a:lnTo>
                  <a:lnTo>
                    <a:pt x="4921986" y="1005836"/>
                  </a:lnTo>
                  <a:lnTo>
                    <a:pt x="4914315" y="1007358"/>
                  </a:lnTo>
                  <a:lnTo>
                    <a:pt x="4906645" y="1008886"/>
                  </a:lnTo>
                  <a:lnTo>
                    <a:pt x="4898910" y="1009646"/>
                  </a:lnTo>
                  <a:lnTo>
                    <a:pt x="4891087" y="1009651"/>
                  </a:lnTo>
                  <a:lnTo>
                    <a:pt x="119062" y="1009651"/>
                  </a:lnTo>
                  <a:lnTo>
                    <a:pt x="111239" y="1009646"/>
                  </a:lnTo>
                  <a:lnTo>
                    <a:pt x="103505" y="1008886"/>
                  </a:lnTo>
                  <a:lnTo>
                    <a:pt x="95834" y="1007358"/>
                  </a:lnTo>
                  <a:lnTo>
                    <a:pt x="88163" y="1005836"/>
                  </a:lnTo>
                  <a:lnTo>
                    <a:pt x="80721" y="1003579"/>
                  </a:lnTo>
                  <a:lnTo>
                    <a:pt x="73507" y="1000587"/>
                  </a:lnTo>
                  <a:lnTo>
                    <a:pt x="66281" y="997596"/>
                  </a:lnTo>
                  <a:lnTo>
                    <a:pt x="34874" y="974775"/>
                  </a:lnTo>
                  <a:lnTo>
                    <a:pt x="20066" y="956732"/>
                  </a:lnTo>
                  <a:lnTo>
                    <a:pt x="15722" y="950234"/>
                  </a:lnTo>
                  <a:lnTo>
                    <a:pt x="12052" y="943372"/>
                  </a:lnTo>
                  <a:lnTo>
                    <a:pt x="9067" y="936150"/>
                  </a:lnTo>
                  <a:lnTo>
                    <a:pt x="6070" y="928926"/>
                  </a:lnTo>
                  <a:lnTo>
                    <a:pt x="3810" y="921480"/>
                  </a:lnTo>
                  <a:lnTo>
                    <a:pt x="2286" y="913815"/>
                  </a:lnTo>
                  <a:lnTo>
                    <a:pt x="762" y="906146"/>
                  </a:lnTo>
                  <a:lnTo>
                    <a:pt x="0" y="898401"/>
                  </a:lnTo>
                  <a:lnTo>
                    <a:pt x="0" y="890588"/>
                  </a:lnTo>
                  <a:close/>
                </a:path>
              </a:pathLst>
            </a:custGeom>
            <a:ln w="19050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978525" y="6044010"/>
            <a:ext cx="1973580" cy="75628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b="1" spc="175" dirty="0">
                <a:solidFill>
                  <a:srgbClr val="4B4A4A"/>
                </a:solidFill>
                <a:latin typeface="Times New Roman"/>
                <a:cs typeface="Times New Roman"/>
              </a:rPr>
              <a:t>Company</a:t>
            </a:r>
            <a:r>
              <a:rPr sz="1650" b="1" spc="15" dirty="0">
                <a:solidFill>
                  <a:srgbClr val="4B4A4A"/>
                </a:solidFill>
                <a:latin typeface="Times New Roman"/>
                <a:cs typeface="Times New Roman"/>
              </a:rPr>
              <a:t xml:space="preserve"> </a:t>
            </a:r>
            <a:r>
              <a:rPr sz="1650" b="1" spc="114" dirty="0">
                <a:solidFill>
                  <a:srgbClr val="4B4A4A"/>
                </a:solidFill>
                <a:latin typeface="Times New Roman"/>
                <a:cs typeface="Times New Roman"/>
              </a:rPr>
              <a:t>Average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350" spc="-260" dirty="0">
                <a:solidFill>
                  <a:srgbClr val="4B4A4A"/>
                </a:solidFill>
                <a:latin typeface="Verdana"/>
                <a:cs typeface="Verdana"/>
              </a:rPr>
              <a:t>17.5%</a:t>
            </a:r>
            <a:r>
              <a:rPr sz="1350" spc="-12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overall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310" dirty="0">
                <a:latin typeface="Calibri"/>
                <a:cs typeface="Calibri"/>
              </a:rPr>
              <a:t>Regional</a:t>
            </a:r>
            <a:r>
              <a:rPr spc="30" dirty="0">
                <a:latin typeface="Calibri"/>
                <a:cs typeface="Calibri"/>
              </a:rPr>
              <a:t xml:space="preserve"> </a:t>
            </a:r>
            <a:r>
              <a:rPr spc="330" dirty="0">
                <a:latin typeface="Calibri"/>
                <a:cs typeface="Calibri"/>
              </a:rPr>
              <a:t>Performance</a:t>
            </a:r>
            <a:r>
              <a:rPr spc="35" dirty="0">
                <a:latin typeface="Calibri"/>
                <a:cs typeface="Calibri"/>
              </a:rPr>
              <a:t xml:space="preserve"> </a:t>
            </a:r>
            <a:r>
              <a:rPr spc="350" dirty="0">
                <a:latin typeface="Calibri"/>
                <a:cs typeface="Calibri"/>
              </a:rPr>
              <a:t>Summary</a:t>
            </a:r>
          </a:p>
        </p:txBody>
      </p:sp>
      <p:sp>
        <p:nvSpPr>
          <p:cNvPr id="3" name="object 3"/>
          <p:cNvSpPr/>
          <p:nvPr/>
        </p:nvSpPr>
        <p:spPr>
          <a:xfrm>
            <a:off x="604837" y="1433512"/>
            <a:ext cx="2581275" cy="333375"/>
          </a:xfrm>
          <a:custGeom>
            <a:avLst/>
            <a:gdLst/>
            <a:ahLst/>
            <a:cxnLst/>
            <a:rect l="l" t="t" r="r" b="b"/>
            <a:pathLst>
              <a:path w="2581275" h="333375">
                <a:moveTo>
                  <a:pt x="0" y="235267"/>
                </a:moveTo>
                <a:lnTo>
                  <a:pt x="0" y="98107"/>
                </a:lnTo>
                <a:lnTo>
                  <a:pt x="0" y="91668"/>
                </a:lnTo>
                <a:lnTo>
                  <a:pt x="629" y="85280"/>
                </a:lnTo>
                <a:lnTo>
                  <a:pt x="1884" y="78968"/>
                </a:lnTo>
                <a:lnTo>
                  <a:pt x="3140" y="72644"/>
                </a:lnTo>
                <a:lnTo>
                  <a:pt x="5001" y="66509"/>
                </a:lnTo>
                <a:lnTo>
                  <a:pt x="7466" y="60566"/>
                </a:lnTo>
                <a:lnTo>
                  <a:pt x="9931" y="54610"/>
                </a:lnTo>
                <a:lnTo>
                  <a:pt x="12952" y="48958"/>
                </a:lnTo>
                <a:lnTo>
                  <a:pt x="16535" y="43599"/>
                </a:lnTo>
                <a:lnTo>
                  <a:pt x="20111" y="38239"/>
                </a:lnTo>
                <a:lnTo>
                  <a:pt x="24179" y="33286"/>
                </a:lnTo>
                <a:lnTo>
                  <a:pt x="28733" y="28740"/>
                </a:lnTo>
                <a:lnTo>
                  <a:pt x="33287" y="24180"/>
                </a:lnTo>
                <a:lnTo>
                  <a:pt x="38243" y="20116"/>
                </a:lnTo>
                <a:lnTo>
                  <a:pt x="43601" y="16535"/>
                </a:lnTo>
                <a:lnTo>
                  <a:pt x="48959" y="12954"/>
                </a:lnTo>
                <a:lnTo>
                  <a:pt x="54610" y="9931"/>
                </a:lnTo>
                <a:lnTo>
                  <a:pt x="60563" y="7467"/>
                </a:lnTo>
                <a:lnTo>
                  <a:pt x="66516" y="5003"/>
                </a:lnTo>
                <a:lnTo>
                  <a:pt x="72647" y="3136"/>
                </a:lnTo>
                <a:lnTo>
                  <a:pt x="78968" y="1892"/>
                </a:lnTo>
                <a:lnTo>
                  <a:pt x="85283" y="622"/>
                </a:lnTo>
                <a:lnTo>
                  <a:pt x="91663" y="0"/>
                </a:lnTo>
                <a:lnTo>
                  <a:pt x="98107" y="0"/>
                </a:lnTo>
                <a:lnTo>
                  <a:pt x="2483167" y="0"/>
                </a:lnTo>
                <a:lnTo>
                  <a:pt x="2489606" y="0"/>
                </a:lnTo>
                <a:lnTo>
                  <a:pt x="2495994" y="622"/>
                </a:lnTo>
                <a:lnTo>
                  <a:pt x="2502306" y="1892"/>
                </a:lnTo>
                <a:lnTo>
                  <a:pt x="2508631" y="3136"/>
                </a:lnTo>
                <a:lnTo>
                  <a:pt x="2514765" y="5003"/>
                </a:lnTo>
                <a:lnTo>
                  <a:pt x="2520708" y="7467"/>
                </a:lnTo>
                <a:lnTo>
                  <a:pt x="2526665" y="9931"/>
                </a:lnTo>
                <a:lnTo>
                  <a:pt x="2557094" y="33286"/>
                </a:lnTo>
                <a:lnTo>
                  <a:pt x="2573807" y="60566"/>
                </a:lnTo>
                <a:lnTo>
                  <a:pt x="2576271" y="66509"/>
                </a:lnTo>
                <a:lnTo>
                  <a:pt x="2578138" y="72644"/>
                </a:lnTo>
                <a:lnTo>
                  <a:pt x="2579395" y="78968"/>
                </a:lnTo>
                <a:lnTo>
                  <a:pt x="2580640" y="85280"/>
                </a:lnTo>
                <a:lnTo>
                  <a:pt x="2581275" y="91668"/>
                </a:lnTo>
                <a:lnTo>
                  <a:pt x="2581275" y="98107"/>
                </a:lnTo>
                <a:lnTo>
                  <a:pt x="2581275" y="235267"/>
                </a:lnTo>
                <a:lnTo>
                  <a:pt x="2581275" y="241706"/>
                </a:lnTo>
                <a:lnTo>
                  <a:pt x="2580640" y="248081"/>
                </a:lnTo>
                <a:lnTo>
                  <a:pt x="2579395" y="254406"/>
                </a:lnTo>
                <a:lnTo>
                  <a:pt x="2578138" y="260718"/>
                </a:lnTo>
                <a:lnTo>
                  <a:pt x="2576271" y="266865"/>
                </a:lnTo>
                <a:lnTo>
                  <a:pt x="2573807" y="272808"/>
                </a:lnTo>
                <a:lnTo>
                  <a:pt x="2571343" y="278765"/>
                </a:lnTo>
                <a:lnTo>
                  <a:pt x="2547988" y="309194"/>
                </a:lnTo>
                <a:lnTo>
                  <a:pt x="2520708" y="325907"/>
                </a:lnTo>
                <a:lnTo>
                  <a:pt x="2514765" y="328371"/>
                </a:lnTo>
                <a:lnTo>
                  <a:pt x="2508631" y="330225"/>
                </a:lnTo>
                <a:lnTo>
                  <a:pt x="2502306" y="331495"/>
                </a:lnTo>
                <a:lnTo>
                  <a:pt x="2495994" y="332740"/>
                </a:lnTo>
                <a:lnTo>
                  <a:pt x="2489606" y="333375"/>
                </a:lnTo>
                <a:lnTo>
                  <a:pt x="2483167" y="333375"/>
                </a:lnTo>
                <a:lnTo>
                  <a:pt x="98107" y="333375"/>
                </a:lnTo>
                <a:lnTo>
                  <a:pt x="91663" y="333375"/>
                </a:lnTo>
                <a:lnTo>
                  <a:pt x="85283" y="332740"/>
                </a:lnTo>
                <a:lnTo>
                  <a:pt x="78968" y="331495"/>
                </a:lnTo>
                <a:lnTo>
                  <a:pt x="72647" y="330225"/>
                </a:lnTo>
                <a:lnTo>
                  <a:pt x="66516" y="328371"/>
                </a:lnTo>
                <a:lnTo>
                  <a:pt x="60563" y="325907"/>
                </a:lnTo>
                <a:lnTo>
                  <a:pt x="54610" y="323443"/>
                </a:lnTo>
                <a:lnTo>
                  <a:pt x="28733" y="304634"/>
                </a:lnTo>
                <a:lnTo>
                  <a:pt x="24179" y="300088"/>
                </a:lnTo>
                <a:lnTo>
                  <a:pt x="7466" y="272808"/>
                </a:lnTo>
                <a:lnTo>
                  <a:pt x="5001" y="266865"/>
                </a:lnTo>
                <a:lnTo>
                  <a:pt x="3140" y="260718"/>
                </a:lnTo>
                <a:lnTo>
                  <a:pt x="1884" y="254406"/>
                </a:lnTo>
                <a:lnTo>
                  <a:pt x="629" y="248081"/>
                </a:lnTo>
                <a:lnTo>
                  <a:pt x="0" y="241706"/>
                </a:lnTo>
                <a:lnTo>
                  <a:pt x="0" y="235267"/>
                </a:lnTo>
                <a:close/>
              </a:path>
            </a:pathLst>
          </a:custGeom>
          <a:ln w="9525">
            <a:solidFill>
              <a:srgbClr val="006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9740" y="1497964"/>
            <a:ext cx="239077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30" dirty="0">
                <a:solidFill>
                  <a:srgbClr val="006646"/>
                </a:solidFill>
                <a:latin typeface="Verdana"/>
                <a:cs typeface="Verdana"/>
              </a:rPr>
              <a:t>EXCEL</a:t>
            </a:r>
            <a:r>
              <a:rPr sz="1050" spc="-70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050" spc="-75" dirty="0">
                <a:solidFill>
                  <a:srgbClr val="006646"/>
                </a:solidFill>
                <a:latin typeface="Verdana"/>
                <a:cs typeface="Verdana"/>
              </a:rPr>
              <a:t>TOOL:</a:t>
            </a:r>
            <a:r>
              <a:rPr sz="1050" spc="-70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050" spc="-65" dirty="0">
                <a:solidFill>
                  <a:srgbClr val="006646"/>
                </a:solidFill>
                <a:latin typeface="Verdana"/>
                <a:cs typeface="Verdana"/>
              </a:rPr>
              <a:t>PIVOT</a:t>
            </a:r>
            <a:r>
              <a:rPr sz="1050" spc="-70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050" spc="-50" dirty="0">
                <a:solidFill>
                  <a:srgbClr val="006646"/>
                </a:solidFill>
                <a:latin typeface="Verdana"/>
                <a:cs typeface="Verdana"/>
              </a:rPr>
              <a:t>TABLE</a:t>
            </a:r>
            <a:r>
              <a:rPr sz="1050" spc="-70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050" spc="-270" dirty="0">
                <a:solidFill>
                  <a:srgbClr val="006646"/>
                </a:solidFill>
                <a:latin typeface="Verdana"/>
                <a:cs typeface="Verdana"/>
              </a:rPr>
              <a:t>+</a:t>
            </a:r>
            <a:r>
              <a:rPr sz="1050" spc="-65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050" spc="-10" dirty="0">
                <a:solidFill>
                  <a:srgbClr val="006646"/>
                </a:solidFill>
                <a:latin typeface="Verdana"/>
                <a:cs typeface="Verdana"/>
              </a:rPr>
              <a:t>CHARTS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0074" y="2162175"/>
            <a:ext cx="1045210" cy="213360"/>
            <a:chOff x="600074" y="2162175"/>
            <a:chExt cx="1045210" cy="213360"/>
          </a:xfrm>
        </p:grpSpPr>
        <p:sp>
          <p:nvSpPr>
            <p:cNvPr id="6" name="object 6"/>
            <p:cNvSpPr/>
            <p:nvPr/>
          </p:nvSpPr>
          <p:spPr>
            <a:xfrm>
              <a:off x="600074" y="2162175"/>
              <a:ext cx="1045210" cy="213360"/>
            </a:xfrm>
            <a:custGeom>
              <a:avLst/>
              <a:gdLst/>
              <a:ahLst/>
              <a:cxnLst/>
              <a:rect l="l" t="t" r="r" b="b"/>
              <a:pathLst>
                <a:path w="1045210" h="213360">
                  <a:moveTo>
                    <a:pt x="938415" y="0"/>
                  </a:moveTo>
                  <a:lnTo>
                    <a:pt x="106640" y="0"/>
                  </a:lnTo>
                  <a:lnTo>
                    <a:pt x="96134" y="507"/>
                  </a:lnTo>
                  <a:lnTo>
                    <a:pt x="56319" y="12603"/>
                  </a:lnTo>
                  <a:lnTo>
                    <a:pt x="24163" y="39020"/>
                  </a:lnTo>
                  <a:lnTo>
                    <a:pt x="4564" y="75725"/>
                  </a:lnTo>
                  <a:lnTo>
                    <a:pt x="0" y="106641"/>
                  </a:lnTo>
                  <a:lnTo>
                    <a:pt x="507" y="117143"/>
                  </a:lnTo>
                  <a:lnTo>
                    <a:pt x="12605" y="156960"/>
                  </a:lnTo>
                  <a:lnTo>
                    <a:pt x="39021" y="189114"/>
                  </a:lnTo>
                  <a:lnTo>
                    <a:pt x="75729" y="208711"/>
                  </a:lnTo>
                  <a:lnTo>
                    <a:pt x="106640" y="213271"/>
                  </a:lnTo>
                  <a:lnTo>
                    <a:pt x="938415" y="213271"/>
                  </a:lnTo>
                  <a:lnTo>
                    <a:pt x="979233" y="205155"/>
                  </a:lnTo>
                  <a:lnTo>
                    <a:pt x="1013828" y="182041"/>
                  </a:lnTo>
                  <a:lnTo>
                    <a:pt x="1036942" y="147446"/>
                  </a:lnTo>
                  <a:lnTo>
                    <a:pt x="1045057" y="106641"/>
                  </a:lnTo>
                  <a:lnTo>
                    <a:pt x="1044550" y="96133"/>
                  </a:lnTo>
                  <a:lnTo>
                    <a:pt x="1032453" y="56318"/>
                  </a:lnTo>
                  <a:lnTo>
                    <a:pt x="1006036" y="24161"/>
                  </a:lnTo>
                  <a:lnTo>
                    <a:pt x="969332" y="4564"/>
                  </a:lnTo>
                  <a:lnTo>
                    <a:pt x="93841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0074" y="2162175"/>
              <a:ext cx="1045210" cy="213360"/>
            </a:xfrm>
            <a:custGeom>
              <a:avLst/>
              <a:gdLst/>
              <a:ahLst/>
              <a:cxnLst/>
              <a:rect l="l" t="t" r="r" b="b"/>
              <a:pathLst>
                <a:path w="1045210" h="213360">
                  <a:moveTo>
                    <a:pt x="938415" y="0"/>
                  </a:moveTo>
                  <a:lnTo>
                    <a:pt x="106640" y="0"/>
                  </a:lnTo>
                  <a:lnTo>
                    <a:pt x="96134" y="507"/>
                  </a:lnTo>
                  <a:lnTo>
                    <a:pt x="56319" y="12603"/>
                  </a:lnTo>
                  <a:lnTo>
                    <a:pt x="24163" y="39020"/>
                  </a:lnTo>
                  <a:lnTo>
                    <a:pt x="4563" y="75730"/>
                  </a:lnTo>
                  <a:lnTo>
                    <a:pt x="0" y="106641"/>
                  </a:lnTo>
                  <a:lnTo>
                    <a:pt x="507" y="117143"/>
                  </a:lnTo>
                  <a:lnTo>
                    <a:pt x="12605" y="156960"/>
                  </a:lnTo>
                  <a:lnTo>
                    <a:pt x="39021" y="189114"/>
                  </a:lnTo>
                  <a:lnTo>
                    <a:pt x="75729" y="208711"/>
                  </a:lnTo>
                  <a:lnTo>
                    <a:pt x="106640" y="213271"/>
                  </a:lnTo>
                  <a:lnTo>
                    <a:pt x="938415" y="213271"/>
                  </a:lnTo>
                  <a:lnTo>
                    <a:pt x="979233" y="205155"/>
                  </a:lnTo>
                  <a:lnTo>
                    <a:pt x="984614" y="202615"/>
                  </a:lnTo>
                  <a:lnTo>
                    <a:pt x="100335" y="202615"/>
                  </a:lnTo>
                  <a:lnTo>
                    <a:pt x="94094" y="201993"/>
                  </a:lnTo>
                  <a:lnTo>
                    <a:pt x="48075" y="182930"/>
                  </a:lnTo>
                  <a:lnTo>
                    <a:pt x="20379" y="149186"/>
                  </a:lnTo>
                  <a:lnTo>
                    <a:pt x="10665" y="112941"/>
                  </a:lnTo>
                  <a:lnTo>
                    <a:pt x="10665" y="100329"/>
                  </a:lnTo>
                  <a:lnTo>
                    <a:pt x="23336" y="58559"/>
                  </a:lnTo>
                  <a:lnTo>
                    <a:pt x="58558" y="23342"/>
                  </a:lnTo>
                  <a:lnTo>
                    <a:pt x="100335" y="10667"/>
                  </a:lnTo>
                  <a:lnTo>
                    <a:pt x="984639" y="10667"/>
                  </a:lnTo>
                  <a:lnTo>
                    <a:pt x="979233" y="8115"/>
                  </a:lnTo>
                  <a:lnTo>
                    <a:pt x="969332" y="4564"/>
                  </a:lnTo>
                  <a:lnTo>
                    <a:pt x="959229" y="2028"/>
                  </a:lnTo>
                  <a:lnTo>
                    <a:pt x="948924" y="507"/>
                  </a:lnTo>
                  <a:lnTo>
                    <a:pt x="938415" y="0"/>
                  </a:lnTo>
                  <a:close/>
                </a:path>
                <a:path w="1045210" h="213360">
                  <a:moveTo>
                    <a:pt x="984639" y="10667"/>
                  </a:moveTo>
                  <a:lnTo>
                    <a:pt x="944727" y="10667"/>
                  </a:lnTo>
                  <a:lnTo>
                    <a:pt x="950963" y="11277"/>
                  </a:lnTo>
                  <a:lnTo>
                    <a:pt x="963320" y="13741"/>
                  </a:lnTo>
                  <a:lnTo>
                    <a:pt x="1001826" y="34315"/>
                  </a:lnTo>
                  <a:lnTo>
                    <a:pt x="1029500" y="75730"/>
                  </a:lnTo>
                  <a:lnTo>
                    <a:pt x="1034389" y="100329"/>
                  </a:lnTo>
                  <a:lnTo>
                    <a:pt x="1034389" y="112941"/>
                  </a:lnTo>
                  <a:lnTo>
                    <a:pt x="1021714" y="154711"/>
                  </a:lnTo>
                  <a:lnTo>
                    <a:pt x="986497" y="189941"/>
                  </a:lnTo>
                  <a:lnTo>
                    <a:pt x="944727" y="202615"/>
                  </a:lnTo>
                  <a:lnTo>
                    <a:pt x="984614" y="202615"/>
                  </a:lnTo>
                  <a:lnTo>
                    <a:pt x="1020895" y="174257"/>
                  </a:lnTo>
                  <a:lnTo>
                    <a:pt x="1040492" y="137545"/>
                  </a:lnTo>
                  <a:lnTo>
                    <a:pt x="1045057" y="106641"/>
                  </a:lnTo>
                  <a:lnTo>
                    <a:pt x="1044550" y="96133"/>
                  </a:lnTo>
                  <a:lnTo>
                    <a:pt x="1032453" y="56318"/>
                  </a:lnTo>
                  <a:lnTo>
                    <a:pt x="1006036" y="24161"/>
                  </a:lnTo>
                  <a:lnTo>
                    <a:pt x="988739" y="12603"/>
                  </a:lnTo>
                  <a:lnTo>
                    <a:pt x="984639" y="10667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08984" y="2172938"/>
            <a:ext cx="78613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10" dirty="0">
                <a:solidFill>
                  <a:srgbClr val="4B4A4A"/>
                </a:solidFill>
                <a:latin typeface="Tahoma"/>
                <a:cs typeface="Tahoma"/>
              </a:rPr>
              <a:t>Revenue</a:t>
            </a:r>
            <a:r>
              <a:rPr sz="900" spc="170" dirty="0">
                <a:solidFill>
                  <a:srgbClr val="4B4A4A"/>
                </a:solidFill>
                <a:latin typeface="Tahoma"/>
                <a:cs typeface="Tahoma"/>
              </a:rPr>
              <a:t xml:space="preserve"> </a:t>
            </a:r>
            <a:r>
              <a:rPr sz="900" spc="-25" dirty="0">
                <a:solidFill>
                  <a:srgbClr val="4B4A4A"/>
                </a:solidFill>
                <a:latin typeface="Tahoma"/>
                <a:cs typeface="Tahoma"/>
              </a:rPr>
              <a:t>(₹M)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30438" y="2162175"/>
            <a:ext cx="875030" cy="213360"/>
            <a:chOff x="1730438" y="2162175"/>
            <a:chExt cx="875030" cy="213360"/>
          </a:xfrm>
        </p:grpSpPr>
        <p:sp>
          <p:nvSpPr>
            <p:cNvPr id="10" name="object 10"/>
            <p:cNvSpPr/>
            <p:nvPr/>
          </p:nvSpPr>
          <p:spPr>
            <a:xfrm>
              <a:off x="1730438" y="2162175"/>
              <a:ext cx="875030" cy="213360"/>
            </a:xfrm>
            <a:custGeom>
              <a:avLst/>
              <a:gdLst/>
              <a:ahLst/>
              <a:cxnLst/>
              <a:rect l="l" t="t" r="r" b="b"/>
              <a:pathLst>
                <a:path w="875030" h="213360">
                  <a:moveTo>
                    <a:pt x="767803" y="0"/>
                  </a:moveTo>
                  <a:lnTo>
                    <a:pt x="106641" y="0"/>
                  </a:lnTo>
                  <a:lnTo>
                    <a:pt x="96140" y="507"/>
                  </a:lnTo>
                  <a:lnTo>
                    <a:pt x="56323" y="12603"/>
                  </a:lnTo>
                  <a:lnTo>
                    <a:pt x="24169" y="39020"/>
                  </a:lnTo>
                  <a:lnTo>
                    <a:pt x="4570" y="75725"/>
                  </a:lnTo>
                  <a:lnTo>
                    <a:pt x="0" y="106641"/>
                  </a:lnTo>
                  <a:lnTo>
                    <a:pt x="507" y="117143"/>
                  </a:lnTo>
                  <a:lnTo>
                    <a:pt x="12614" y="156960"/>
                  </a:lnTo>
                  <a:lnTo>
                    <a:pt x="39026" y="189114"/>
                  </a:lnTo>
                  <a:lnTo>
                    <a:pt x="75738" y="208711"/>
                  </a:lnTo>
                  <a:lnTo>
                    <a:pt x="106641" y="213271"/>
                  </a:lnTo>
                  <a:lnTo>
                    <a:pt x="767803" y="213271"/>
                  </a:lnTo>
                  <a:lnTo>
                    <a:pt x="808608" y="205155"/>
                  </a:lnTo>
                  <a:lnTo>
                    <a:pt x="843203" y="182041"/>
                  </a:lnTo>
                  <a:lnTo>
                    <a:pt x="866330" y="147446"/>
                  </a:lnTo>
                  <a:lnTo>
                    <a:pt x="874445" y="106641"/>
                  </a:lnTo>
                  <a:lnTo>
                    <a:pt x="873938" y="96133"/>
                  </a:lnTo>
                  <a:lnTo>
                    <a:pt x="861836" y="56318"/>
                  </a:lnTo>
                  <a:lnTo>
                    <a:pt x="835419" y="24161"/>
                  </a:lnTo>
                  <a:lnTo>
                    <a:pt x="798707" y="4564"/>
                  </a:lnTo>
                  <a:lnTo>
                    <a:pt x="767803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30438" y="2162175"/>
              <a:ext cx="875030" cy="213360"/>
            </a:xfrm>
            <a:custGeom>
              <a:avLst/>
              <a:gdLst/>
              <a:ahLst/>
              <a:cxnLst/>
              <a:rect l="l" t="t" r="r" b="b"/>
              <a:pathLst>
                <a:path w="875030" h="213360">
                  <a:moveTo>
                    <a:pt x="767803" y="0"/>
                  </a:moveTo>
                  <a:lnTo>
                    <a:pt x="106641" y="0"/>
                  </a:lnTo>
                  <a:lnTo>
                    <a:pt x="96140" y="507"/>
                  </a:lnTo>
                  <a:lnTo>
                    <a:pt x="56323" y="12603"/>
                  </a:lnTo>
                  <a:lnTo>
                    <a:pt x="24169" y="39020"/>
                  </a:lnTo>
                  <a:lnTo>
                    <a:pt x="4569" y="75730"/>
                  </a:lnTo>
                  <a:lnTo>
                    <a:pt x="0" y="106641"/>
                  </a:lnTo>
                  <a:lnTo>
                    <a:pt x="507" y="117143"/>
                  </a:lnTo>
                  <a:lnTo>
                    <a:pt x="12614" y="156960"/>
                  </a:lnTo>
                  <a:lnTo>
                    <a:pt x="39026" y="189114"/>
                  </a:lnTo>
                  <a:lnTo>
                    <a:pt x="75738" y="208711"/>
                  </a:lnTo>
                  <a:lnTo>
                    <a:pt x="106641" y="213271"/>
                  </a:lnTo>
                  <a:lnTo>
                    <a:pt x="767803" y="213271"/>
                  </a:lnTo>
                  <a:lnTo>
                    <a:pt x="808608" y="205155"/>
                  </a:lnTo>
                  <a:lnTo>
                    <a:pt x="813994" y="202615"/>
                  </a:lnTo>
                  <a:lnTo>
                    <a:pt x="100342" y="202615"/>
                  </a:lnTo>
                  <a:lnTo>
                    <a:pt x="94094" y="201993"/>
                  </a:lnTo>
                  <a:lnTo>
                    <a:pt x="48082" y="182930"/>
                  </a:lnTo>
                  <a:lnTo>
                    <a:pt x="20383" y="149186"/>
                  </a:lnTo>
                  <a:lnTo>
                    <a:pt x="10667" y="112941"/>
                  </a:lnTo>
                  <a:lnTo>
                    <a:pt x="10667" y="100329"/>
                  </a:lnTo>
                  <a:lnTo>
                    <a:pt x="23342" y="58559"/>
                  </a:lnTo>
                  <a:lnTo>
                    <a:pt x="58559" y="23342"/>
                  </a:lnTo>
                  <a:lnTo>
                    <a:pt x="100342" y="10667"/>
                  </a:lnTo>
                  <a:lnTo>
                    <a:pt x="814019" y="10667"/>
                  </a:lnTo>
                  <a:lnTo>
                    <a:pt x="808608" y="8115"/>
                  </a:lnTo>
                  <a:lnTo>
                    <a:pt x="798707" y="4564"/>
                  </a:lnTo>
                  <a:lnTo>
                    <a:pt x="788606" y="2028"/>
                  </a:lnTo>
                  <a:lnTo>
                    <a:pt x="778305" y="507"/>
                  </a:lnTo>
                  <a:lnTo>
                    <a:pt x="767803" y="0"/>
                  </a:lnTo>
                  <a:close/>
                </a:path>
                <a:path w="875030" h="213360">
                  <a:moveTo>
                    <a:pt x="814019" y="10667"/>
                  </a:moveTo>
                  <a:lnTo>
                    <a:pt x="774103" y="10667"/>
                  </a:lnTo>
                  <a:lnTo>
                    <a:pt x="780351" y="11277"/>
                  </a:lnTo>
                  <a:lnTo>
                    <a:pt x="792708" y="13741"/>
                  </a:lnTo>
                  <a:lnTo>
                    <a:pt x="831214" y="34315"/>
                  </a:lnTo>
                  <a:lnTo>
                    <a:pt x="858888" y="75730"/>
                  </a:lnTo>
                  <a:lnTo>
                    <a:pt x="863777" y="100329"/>
                  </a:lnTo>
                  <a:lnTo>
                    <a:pt x="863777" y="112941"/>
                  </a:lnTo>
                  <a:lnTo>
                    <a:pt x="851103" y="154711"/>
                  </a:lnTo>
                  <a:lnTo>
                    <a:pt x="815886" y="189941"/>
                  </a:lnTo>
                  <a:lnTo>
                    <a:pt x="774103" y="202615"/>
                  </a:lnTo>
                  <a:lnTo>
                    <a:pt x="813994" y="202615"/>
                  </a:lnTo>
                  <a:lnTo>
                    <a:pt x="850276" y="174257"/>
                  </a:lnTo>
                  <a:lnTo>
                    <a:pt x="869880" y="137545"/>
                  </a:lnTo>
                  <a:lnTo>
                    <a:pt x="874445" y="106641"/>
                  </a:lnTo>
                  <a:lnTo>
                    <a:pt x="873938" y="96133"/>
                  </a:lnTo>
                  <a:lnTo>
                    <a:pt x="861836" y="56318"/>
                  </a:lnTo>
                  <a:lnTo>
                    <a:pt x="835419" y="24161"/>
                  </a:lnTo>
                  <a:lnTo>
                    <a:pt x="818122" y="12603"/>
                  </a:lnTo>
                  <a:lnTo>
                    <a:pt x="814019" y="10667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944522" y="2172938"/>
            <a:ext cx="60769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solidFill>
                  <a:srgbClr val="4B4A4A"/>
                </a:solidFill>
                <a:latin typeface="Tahoma"/>
                <a:cs typeface="Tahoma"/>
              </a:rPr>
              <a:t>Profit</a:t>
            </a:r>
            <a:r>
              <a:rPr sz="900" spc="170" dirty="0">
                <a:solidFill>
                  <a:srgbClr val="4B4A4A"/>
                </a:solidFill>
                <a:latin typeface="Tahoma"/>
                <a:cs typeface="Tahoma"/>
              </a:rPr>
              <a:t xml:space="preserve"> </a:t>
            </a:r>
            <a:r>
              <a:rPr sz="900" spc="-25" dirty="0">
                <a:solidFill>
                  <a:srgbClr val="4B4A4A"/>
                </a:solidFill>
                <a:latin typeface="Tahoma"/>
                <a:cs typeface="Tahoma"/>
              </a:rPr>
              <a:t>(₹M)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244" y="2214422"/>
            <a:ext cx="76761" cy="9594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4278" y="2214422"/>
            <a:ext cx="76758" cy="9594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364784" y="5122243"/>
            <a:ext cx="10033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45" dirty="0">
                <a:solidFill>
                  <a:srgbClr val="4B4A4A"/>
                </a:solidFill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64784" y="3959400"/>
            <a:ext cx="9525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5" dirty="0">
                <a:solidFill>
                  <a:srgbClr val="4B4A4A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64784" y="2796551"/>
            <a:ext cx="14795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25" dirty="0">
                <a:solidFill>
                  <a:srgbClr val="4B4A4A"/>
                </a:solidFill>
                <a:latin typeface="Tahoma"/>
                <a:cs typeface="Tahoma"/>
              </a:rPr>
              <a:t>10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32566" y="5310958"/>
            <a:ext cx="33718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solidFill>
                  <a:srgbClr val="4B4A4A"/>
                </a:solidFill>
                <a:latin typeface="Tahoma"/>
                <a:cs typeface="Tahoma"/>
              </a:rPr>
              <a:t>North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73935" y="5310958"/>
            <a:ext cx="34734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solidFill>
                  <a:srgbClr val="4B4A4A"/>
                </a:solidFill>
                <a:latin typeface="Tahoma"/>
                <a:cs typeface="Tahoma"/>
              </a:rPr>
              <a:t>South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41953" y="5310958"/>
            <a:ext cx="30416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20" dirty="0">
                <a:solidFill>
                  <a:srgbClr val="4B4A4A"/>
                </a:solidFill>
                <a:latin typeface="Tahoma"/>
                <a:cs typeface="Tahoma"/>
              </a:rPr>
              <a:t>West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09642" y="5310958"/>
            <a:ext cx="26162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20" dirty="0">
                <a:solidFill>
                  <a:srgbClr val="4B4A4A"/>
                </a:solidFill>
                <a:latin typeface="Tahoma"/>
                <a:cs typeface="Tahoma"/>
              </a:rPr>
              <a:t>East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8282" y="5502798"/>
            <a:ext cx="40513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solidFill>
                  <a:srgbClr val="4B4A4A"/>
                </a:solidFill>
                <a:latin typeface="Tahoma"/>
                <a:cs typeface="Tahoma"/>
              </a:rPr>
              <a:t>Region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2710" y="2643644"/>
            <a:ext cx="4596126" cy="2654235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5920930" y="2144712"/>
            <a:ext cx="4773930" cy="14935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75" dirty="0">
                <a:solidFill>
                  <a:srgbClr val="006646"/>
                </a:solidFill>
                <a:latin typeface="Times New Roman"/>
                <a:cs typeface="Times New Roman"/>
              </a:rPr>
              <a:t>Unified</a:t>
            </a:r>
            <a:r>
              <a:rPr sz="1650" b="1" spc="20" dirty="0">
                <a:solidFill>
                  <a:srgbClr val="006646"/>
                </a:solidFill>
                <a:latin typeface="Times New Roman"/>
                <a:cs typeface="Times New Roman"/>
              </a:rPr>
              <a:t xml:space="preserve"> </a:t>
            </a:r>
            <a:r>
              <a:rPr sz="1650" b="1" spc="160" dirty="0">
                <a:solidFill>
                  <a:srgbClr val="006646"/>
                </a:solidFill>
                <a:latin typeface="Times New Roman"/>
                <a:cs typeface="Times New Roman"/>
              </a:rPr>
              <a:t>Regional</a:t>
            </a:r>
            <a:r>
              <a:rPr sz="1650" b="1" spc="20" dirty="0">
                <a:solidFill>
                  <a:srgbClr val="006646"/>
                </a:solidFill>
                <a:latin typeface="Times New Roman"/>
                <a:cs typeface="Times New Roman"/>
              </a:rPr>
              <a:t xml:space="preserve"> </a:t>
            </a:r>
            <a:r>
              <a:rPr sz="1650" b="1" spc="130" dirty="0">
                <a:solidFill>
                  <a:srgbClr val="006646"/>
                </a:solidFill>
                <a:latin typeface="Times New Roman"/>
                <a:cs typeface="Times New Roman"/>
              </a:rPr>
              <a:t>View</a:t>
            </a:r>
            <a:endParaRPr sz="1650">
              <a:latin typeface="Times New Roman"/>
              <a:cs typeface="Times New Roman"/>
            </a:endParaRPr>
          </a:p>
          <a:p>
            <a:pPr marL="12700" marR="5080">
              <a:lnSpc>
                <a:spcPct val="132700"/>
              </a:lnSpc>
              <a:spcBef>
                <a:spcPts val="940"/>
              </a:spcBef>
            </a:pP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North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leads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in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both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revenue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80" dirty="0">
                <a:solidFill>
                  <a:srgbClr val="4B4A4A"/>
                </a:solidFill>
                <a:latin typeface="Verdana"/>
                <a:cs typeface="Verdana"/>
              </a:rPr>
              <a:t>(₹10.1M)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and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profit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55" dirty="0">
                <a:solidFill>
                  <a:srgbClr val="4B4A4A"/>
                </a:solidFill>
                <a:latin typeface="Verdana"/>
                <a:cs typeface="Verdana"/>
              </a:rPr>
              <a:t>(₹1.8M),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 xml:space="preserve">while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all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regions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remain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45" dirty="0">
                <a:solidFill>
                  <a:srgbClr val="4B4A4A"/>
                </a:solidFill>
                <a:latin typeface="Verdana"/>
                <a:cs typeface="Verdana"/>
              </a:rPr>
              <a:t>closely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aligned.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The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minimal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 xml:space="preserve">performance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gap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across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regions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reflects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0" dirty="0">
                <a:solidFill>
                  <a:srgbClr val="006646"/>
                </a:solidFill>
                <a:latin typeface="Verdana"/>
                <a:cs typeface="Verdana"/>
              </a:rPr>
              <a:t>balanced</a:t>
            </a:r>
            <a:r>
              <a:rPr sz="1350" spc="-80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350" spc="-95" dirty="0">
                <a:solidFill>
                  <a:srgbClr val="006646"/>
                </a:solidFill>
                <a:latin typeface="Verdana"/>
                <a:cs typeface="Verdana"/>
              </a:rPr>
              <a:t>market</a:t>
            </a:r>
            <a:r>
              <a:rPr sz="1350" spc="-85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350" spc="-80" dirty="0">
                <a:solidFill>
                  <a:srgbClr val="006646"/>
                </a:solidFill>
                <a:latin typeface="Verdana"/>
                <a:cs typeface="Verdana"/>
              </a:rPr>
              <a:t>penetration</a:t>
            </a:r>
            <a:r>
              <a:rPr sz="1350" spc="-85" dirty="0">
                <a:solidFill>
                  <a:srgbClr val="006646"/>
                </a:solidFill>
                <a:latin typeface="Verdana"/>
                <a:cs typeface="Verdana"/>
              </a:rPr>
              <a:t xml:space="preserve"> </a:t>
            </a:r>
            <a:r>
              <a:rPr sz="1350" spc="-25" dirty="0">
                <a:solidFill>
                  <a:srgbClr val="4B4A4A"/>
                </a:solidFill>
                <a:latin typeface="Verdana"/>
                <a:cs typeface="Verdana"/>
              </a:rPr>
              <a:t xml:space="preserve">and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 xml:space="preserve">operational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consistency.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934075" y="3867150"/>
            <a:ext cx="4905375" cy="942975"/>
            <a:chOff x="5934075" y="3867150"/>
            <a:chExt cx="4905375" cy="942975"/>
          </a:xfrm>
        </p:grpSpPr>
        <p:sp>
          <p:nvSpPr>
            <p:cNvPr id="26" name="object 26"/>
            <p:cNvSpPr/>
            <p:nvPr/>
          </p:nvSpPr>
          <p:spPr>
            <a:xfrm>
              <a:off x="5934075" y="3867150"/>
              <a:ext cx="4905375" cy="942975"/>
            </a:xfrm>
            <a:custGeom>
              <a:avLst/>
              <a:gdLst/>
              <a:ahLst/>
              <a:cxnLst/>
              <a:rect l="l" t="t" r="r" b="b"/>
              <a:pathLst>
                <a:path w="4905375" h="942975">
                  <a:moveTo>
                    <a:pt x="4785233" y="0"/>
                  </a:moveTo>
                  <a:lnTo>
                    <a:pt x="120142" y="0"/>
                  </a:lnTo>
                  <a:lnTo>
                    <a:pt x="111785" y="825"/>
                  </a:lnTo>
                  <a:lnTo>
                    <a:pt x="71577" y="13017"/>
                  </a:lnTo>
                  <a:lnTo>
                    <a:pt x="31686" y="43637"/>
                  </a:lnTo>
                  <a:lnTo>
                    <a:pt x="6553" y="87185"/>
                  </a:lnTo>
                  <a:lnTo>
                    <a:pt x="0" y="120142"/>
                  </a:lnTo>
                  <a:lnTo>
                    <a:pt x="0" y="814387"/>
                  </a:lnTo>
                  <a:lnTo>
                    <a:pt x="0" y="822833"/>
                  </a:lnTo>
                  <a:lnTo>
                    <a:pt x="13017" y="871397"/>
                  </a:lnTo>
                  <a:lnTo>
                    <a:pt x="43637" y="911275"/>
                  </a:lnTo>
                  <a:lnTo>
                    <a:pt x="87172" y="936421"/>
                  </a:lnTo>
                  <a:lnTo>
                    <a:pt x="120142" y="942975"/>
                  </a:lnTo>
                  <a:lnTo>
                    <a:pt x="4785233" y="942975"/>
                  </a:lnTo>
                  <a:lnTo>
                    <a:pt x="4833797" y="929957"/>
                  </a:lnTo>
                  <a:lnTo>
                    <a:pt x="4873688" y="899337"/>
                  </a:lnTo>
                  <a:lnTo>
                    <a:pt x="4898821" y="855789"/>
                  </a:lnTo>
                  <a:lnTo>
                    <a:pt x="4905375" y="822833"/>
                  </a:lnTo>
                  <a:lnTo>
                    <a:pt x="4905375" y="120142"/>
                  </a:lnTo>
                  <a:lnTo>
                    <a:pt x="4892357" y="71577"/>
                  </a:lnTo>
                  <a:lnTo>
                    <a:pt x="4861737" y="31686"/>
                  </a:lnTo>
                  <a:lnTo>
                    <a:pt x="4818202" y="6553"/>
                  </a:lnTo>
                  <a:lnTo>
                    <a:pt x="4793589" y="825"/>
                  </a:lnTo>
                  <a:lnTo>
                    <a:pt x="4785233" y="0"/>
                  </a:lnTo>
                  <a:close/>
                </a:path>
              </a:pathLst>
            </a:custGeom>
            <a:solidFill>
              <a:srgbClr val="B5D6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26962" y="4124324"/>
              <a:ext cx="171450" cy="17145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6478142" y="4003040"/>
            <a:ext cx="368363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100" dirty="0">
                <a:latin typeface="Verdana"/>
                <a:cs typeface="Verdana"/>
              </a:rPr>
              <a:t>North:</a:t>
            </a:r>
            <a:r>
              <a:rPr sz="1350" spc="-114" dirty="0">
                <a:latin typeface="Verdana"/>
                <a:cs typeface="Verdana"/>
              </a:rPr>
              <a:t xml:space="preserve"> </a:t>
            </a:r>
            <a:r>
              <a:rPr sz="1350" spc="-155" dirty="0">
                <a:latin typeface="Verdana"/>
                <a:cs typeface="Verdana"/>
              </a:rPr>
              <a:t>₹10.1M</a:t>
            </a:r>
            <a:r>
              <a:rPr sz="1350" spc="-114" dirty="0">
                <a:latin typeface="Verdana"/>
                <a:cs typeface="Verdana"/>
              </a:rPr>
              <a:t xml:space="preserve"> </a:t>
            </a:r>
            <a:r>
              <a:rPr sz="1350" spc="-95" dirty="0">
                <a:latin typeface="Verdana"/>
                <a:cs typeface="Verdana"/>
              </a:rPr>
              <a:t>revenue</a:t>
            </a:r>
            <a:r>
              <a:rPr sz="1350" spc="-114" dirty="0">
                <a:latin typeface="Verdana"/>
                <a:cs typeface="Verdana"/>
              </a:rPr>
              <a:t xml:space="preserve"> </a:t>
            </a:r>
            <a:r>
              <a:rPr sz="1350" spc="-225" dirty="0">
                <a:latin typeface="Verdana"/>
                <a:cs typeface="Verdana"/>
              </a:rPr>
              <a:t>·</a:t>
            </a:r>
            <a:r>
              <a:rPr sz="1350" spc="-114" dirty="0">
                <a:latin typeface="Verdana"/>
                <a:cs typeface="Verdana"/>
              </a:rPr>
              <a:t xml:space="preserve"> </a:t>
            </a:r>
            <a:r>
              <a:rPr sz="1350" spc="-110" dirty="0">
                <a:latin typeface="Verdana"/>
                <a:cs typeface="Verdana"/>
              </a:rPr>
              <a:t>₹1.8M</a:t>
            </a:r>
            <a:r>
              <a:rPr sz="1350" spc="-114" dirty="0">
                <a:latin typeface="Verdana"/>
                <a:cs typeface="Verdana"/>
              </a:rPr>
              <a:t xml:space="preserve"> </a:t>
            </a:r>
            <a:r>
              <a:rPr sz="1350" spc="-75" dirty="0">
                <a:latin typeface="Verdana"/>
                <a:cs typeface="Verdana"/>
              </a:rPr>
              <a:t>profit</a:t>
            </a:r>
            <a:r>
              <a:rPr sz="1350" spc="-114" dirty="0">
                <a:latin typeface="Verdana"/>
                <a:cs typeface="Verdana"/>
              </a:rPr>
              <a:t xml:space="preserve"> </a:t>
            </a:r>
            <a:r>
              <a:rPr sz="1350" spc="0" dirty="0">
                <a:latin typeface="Verdana"/>
                <a:cs typeface="Verdana"/>
              </a:rPr>
              <a:t>—</a:t>
            </a:r>
            <a:r>
              <a:rPr sz="1350" spc="-114" dirty="0">
                <a:latin typeface="Verdana"/>
                <a:cs typeface="Verdana"/>
              </a:rPr>
              <a:t xml:space="preserve"> </a:t>
            </a:r>
            <a:r>
              <a:rPr sz="1350" spc="-65" dirty="0">
                <a:latin typeface="Verdana"/>
                <a:cs typeface="Verdana"/>
              </a:rPr>
              <a:t>the</a:t>
            </a:r>
            <a:r>
              <a:rPr sz="1350" spc="-114" dirty="0">
                <a:latin typeface="Verdana"/>
                <a:cs typeface="Verdana"/>
              </a:rPr>
              <a:t xml:space="preserve"> </a:t>
            </a:r>
            <a:r>
              <a:rPr sz="1350" spc="-20" dirty="0">
                <a:latin typeface="Verdana"/>
                <a:cs typeface="Verdana"/>
              </a:rPr>
              <a:t>top-</a:t>
            </a:r>
            <a:r>
              <a:rPr sz="1350" spc="-85" dirty="0">
                <a:latin typeface="Verdana"/>
                <a:cs typeface="Verdana"/>
              </a:rPr>
              <a:t xml:space="preserve">performing region </a:t>
            </a:r>
            <a:r>
              <a:rPr sz="1350" spc="-10" dirty="0">
                <a:latin typeface="Verdana"/>
                <a:cs typeface="Verdana"/>
              </a:rPr>
              <a:t>overall.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515100"/>
          </a:xfrm>
          <a:custGeom>
            <a:avLst/>
            <a:gdLst/>
            <a:ahLst/>
            <a:cxnLst/>
            <a:rect l="l" t="t" r="r" b="b"/>
            <a:pathLst>
              <a:path w="11430000" h="6515100">
                <a:moveTo>
                  <a:pt x="11430000" y="0"/>
                </a:moveTo>
                <a:lnTo>
                  <a:pt x="0" y="0"/>
                </a:lnTo>
                <a:lnTo>
                  <a:pt x="0" y="6515100"/>
                </a:lnTo>
                <a:lnTo>
                  <a:pt x="11430000" y="65151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E5F9F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514845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87375" y="482600"/>
            <a:ext cx="4274185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340" dirty="0">
                <a:latin typeface="Calibri"/>
                <a:cs typeface="Calibri"/>
              </a:rPr>
              <a:t>Business</a:t>
            </a:r>
            <a:r>
              <a:rPr spc="30" dirty="0">
                <a:latin typeface="Calibri"/>
                <a:cs typeface="Calibri"/>
              </a:rPr>
              <a:t xml:space="preserve"> </a:t>
            </a:r>
            <a:r>
              <a:rPr spc="310" dirty="0">
                <a:latin typeface="Calibri"/>
                <a:cs typeface="Calibri"/>
              </a:rPr>
              <a:t>Insights</a:t>
            </a:r>
            <a:r>
              <a:rPr spc="30" dirty="0">
                <a:latin typeface="Calibri"/>
                <a:cs typeface="Calibri"/>
              </a:rPr>
              <a:t xml:space="preserve"> </a:t>
            </a:r>
            <a:r>
              <a:rPr spc="-50" dirty="0">
                <a:latin typeface="Calibri"/>
                <a:cs typeface="Calibri"/>
              </a:rPr>
              <a:t xml:space="preserve">&amp; </a:t>
            </a:r>
            <a:r>
              <a:rPr spc="365" dirty="0">
                <a:latin typeface="Calibri"/>
                <a:cs typeface="Calibri"/>
              </a:rPr>
              <a:t>Recommendations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581025" y="1800224"/>
            <a:ext cx="5962650" cy="1304925"/>
            <a:chOff x="581025" y="1800224"/>
            <a:chExt cx="5962650" cy="1304925"/>
          </a:xfrm>
        </p:grpSpPr>
        <p:sp>
          <p:nvSpPr>
            <p:cNvPr id="8" name="object 8"/>
            <p:cNvSpPr/>
            <p:nvPr/>
          </p:nvSpPr>
          <p:spPr>
            <a:xfrm>
              <a:off x="600075" y="1809749"/>
              <a:ext cx="5934075" cy="1285875"/>
            </a:xfrm>
            <a:custGeom>
              <a:avLst/>
              <a:gdLst/>
              <a:ahLst/>
              <a:cxnLst/>
              <a:rect l="l" t="t" r="r" b="b"/>
              <a:pathLst>
                <a:path w="5934075" h="1285875">
                  <a:moveTo>
                    <a:pt x="5822835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219200"/>
                  </a:lnTo>
                  <a:lnTo>
                    <a:pt x="0" y="1223581"/>
                  </a:lnTo>
                  <a:lnTo>
                    <a:pt x="15622" y="1259878"/>
                  </a:lnTo>
                  <a:lnTo>
                    <a:pt x="51663" y="1282471"/>
                  </a:lnTo>
                  <a:lnTo>
                    <a:pt x="71194" y="1285875"/>
                  </a:lnTo>
                  <a:lnTo>
                    <a:pt x="5822835" y="1285875"/>
                  </a:lnTo>
                  <a:lnTo>
                    <a:pt x="5867793" y="1273822"/>
                  </a:lnTo>
                  <a:lnTo>
                    <a:pt x="5904725" y="1245476"/>
                  </a:lnTo>
                  <a:lnTo>
                    <a:pt x="5928004" y="1205153"/>
                  </a:lnTo>
                  <a:lnTo>
                    <a:pt x="5934075" y="1174635"/>
                  </a:lnTo>
                  <a:lnTo>
                    <a:pt x="5934075" y="111239"/>
                  </a:lnTo>
                  <a:lnTo>
                    <a:pt x="5922022" y="66268"/>
                  </a:lnTo>
                  <a:lnTo>
                    <a:pt x="5893676" y="29349"/>
                  </a:lnTo>
                  <a:lnTo>
                    <a:pt x="5853353" y="6070"/>
                  </a:lnTo>
                  <a:lnTo>
                    <a:pt x="5830570" y="762"/>
                  </a:lnTo>
                  <a:lnTo>
                    <a:pt x="5822835" y="0"/>
                  </a:lnTo>
                  <a:close/>
                </a:path>
              </a:pathLst>
            </a:custGeom>
            <a:solidFill>
              <a:srgbClr val="E5F9F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913" y="1800237"/>
              <a:ext cx="5942965" cy="1304925"/>
            </a:xfrm>
            <a:custGeom>
              <a:avLst/>
              <a:gdLst/>
              <a:ahLst/>
              <a:cxnLst/>
              <a:rect l="l" t="t" r="r" b="b"/>
              <a:pathLst>
                <a:path w="5942965" h="1304925">
                  <a:moveTo>
                    <a:pt x="5942749" y="128587"/>
                  </a:moveTo>
                  <a:lnTo>
                    <a:pt x="5932957" y="79375"/>
                  </a:lnTo>
                  <a:lnTo>
                    <a:pt x="5905538" y="38163"/>
                  </a:lnTo>
                  <a:lnTo>
                    <a:pt x="5905373" y="37973"/>
                  </a:lnTo>
                  <a:lnTo>
                    <a:pt x="5905093" y="37655"/>
                  </a:lnTo>
                  <a:lnTo>
                    <a:pt x="5895695" y="29121"/>
                  </a:lnTo>
                  <a:lnTo>
                    <a:pt x="5885624" y="21640"/>
                  </a:lnTo>
                  <a:lnTo>
                    <a:pt x="5881281" y="19050"/>
                  </a:lnTo>
                  <a:lnTo>
                    <a:pt x="5874842" y="15189"/>
                  </a:lnTo>
                  <a:lnTo>
                    <a:pt x="5826836" y="609"/>
                  </a:lnTo>
                  <a:lnTo>
                    <a:pt x="58141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814161" y="19050"/>
                  </a:lnTo>
                  <a:lnTo>
                    <a:pt x="5856071" y="27381"/>
                  </a:lnTo>
                  <a:lnTo>
                    <a:pt x="5891619" y="51130"/>
                  </a:lnTo>
                  <a:lnTo>
                    <a:pt x="5915355" y="86664"/>
                  </a:lnTo>
                  <a:lnTo>
                    <a:pt x="5923699" y="128587"/>
                  </a:lnTo>
                  <a:lnTo>
                    <a:pt x="5923699" y="1176337"/>
                  </a:lnTo>
                  <a:lnTo>
                    <a:pt x="5915355" y="1218247"/>
                  </a:lnTo>
                  <a:lnTo>
                    <a:pt x="5892076" y="1253286"/>
                  </a:lnTo>
                  <a:lnTo>
                    <a:pt x="5891619" y="1253794"/>
                  </a:lnTo>
                  <a:lnTo>
                    <a:pt x="5856071" y="1277531"/>
                  </a:lnTo>
                  <a:lnTo>
                    <a:pt x="5814161" y="1285875"/>
                  </a:lnTo>
                  <a:lnTo>
                    <a:pt x="75349" y="1285875"/>
                  </a:lnTo>
                  <a:lnTo>
                    <a:pt x="33007" y="1276248"/>
                  </a:lnTo>
                  <a:lnTo>
                    <a:pt x="1092" y="1243596"/>
                  </a:lnTo>
                  <a:lnTo>
                    <a:pt x="0" y="1239481"/>
                  </a:lnTo>
                  <a:lnTo>
                    <a:pt x="609" y="1243596"/>
                  </a:lnTo>
                  <a:lnTo>
                    <a:pt x="2413" y="1250797"/>
                  </a:lnTo>
                  <a:lnTo>
                    <a:pt x="4851" y="1257592"/>
                  </a:lnTo>
                  <a:lnTo>
                    <a:pt x="4953" y="1257884"/>
                  </a:lnTo>
                  <a:lnTo>
                    <a:pt x="33007" y="1292085"/>
                  </a:lnTo>
                  <a:lnTo>
                    <a:pt x="75349" y="1304925"/>
                  </a:lnTo>
                  <a:lnTo>
                    <a:pt x="5814161" y="1304925"/>
                  </a:lnTo>
                  <a:lnTo>
                    <a:pt x="5863374" y="1295133"/>
                  </a:lnTo>
                  <a:lnTo>
                    <a:pt x="5905081" y="1267256"/>
                  </a:lnTo>
                  <a:lnTo>
                    <a:pt x="5905538" y="1266748"/>
                  </a:lnTo>
                  <a:lnTo>
                    <a:pt x="5913602" y="1257884"/>
                  </a:lnTo>
                  <a:lnTo>
                    <a:pt x="5937250" y="1213599"/>
                  </a:lnTo>
                  <a:lnTo>
                    <a:pt x="5942749" y="1176337"/>
                  </a:lnTo>
                  <a:lnTo>
                    <a:pt x="5942749" y="128587"/>
                  </a:lnTo>
                  <a:close/>
                </a:path>
              </a:pathLst>
            </a:custGeom>
            <a:solidFill>
              <a:srgbClr val="B6D5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1025" y="1800224"/>
              <a:ext cx="76200" cy="1304925"/>
            </a:xfrm>
            <a:custGeom>
              <a:avLst/>
              <a:gdLst/>
              <a:ahLst/>
              <a:cxnLst/>
              <a:rect l="l" t="t" r="r" b="b"/>
              <a:pathLst>
                <a:path w="76200" h="1304925">
                  <a:moveTo>
                    <a:pt x="76200" y="0"/>
                  </a:moveTo>
                  <a:lnTo>
                    <a:pt x="71194" y="0"/>
                  </a:lnTo>
                  <a:lnTo>
                    <a:pt x="66243" y="482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1228725"/>
                  </a:lnTo>
                  <a:lnTo>
                    <a:pt x="0" y="1233728"/>
                  </a:lnTo>
                  <a:lnTo>
                    <a:pt x="15622" y="1275219"/>
                  </a:lnTo>
                  <a:lnTo>
                    <a:pt x="51663" y="1301038"/>
                  </a:lnTo>
                  <a:lnTo>
                    <a:pt x="71194" y="1304925"/>
                  </a:lnTo>
                  <a:lnTo>
                    <a:pt x="76200" y="13049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6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81025" y="3276600"/>
            <a:ext cx="5962650" cy="1295400"/>
            <a:chOff x="581025" y="3276600"/>
            <a:chExt cx="5962650" cy="1295400"/>
          </a:xfrm>
        </p:grpSpPr>
        <p:sp>
          <p:nvSpPr>
            <p:cNvPr id="12" name="object 12"/>
            <p:cNvSpPr/>
            <p:nvPr/>
          </p:nvSpPr>
          <p:spPr>
            <a:xfrm>
              <a:off x="600075" y="3286125"/>
              <a:ext cx="5934075" cy="1276350"/>
            </a:xfrm>
            <a:custGeom>
              <a:avLst/>
              <a:gdLst/>
              <a:ahLst/>
              <a:cxnLst/>
              <a:rect l="l" t="t" r="r" b="b"/>
              <a:pathLst>
                <a:path w="5934075" h="1276350">
                  <a:moveTo>
                    <a:pt x="5822835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209675"/>
                  </a:lnTo>
                  <a:lnTo>
                    <a:pt x="0" y="1214056"/>
                  </a:lnTo>
                  <a:lnTo>
                    <a:pt x="15622" y="1250353"/>
                  </a:lnTo>
                  <a:lnTo>
                    <a:pt x="51663" y="1272946"/>
                  </a:lnTo>
                  <a:lnTo>
                    <a:pt x="71194" y="1276350"/>
                  </a:lnTo>
                  <a:lnTo>
                    <a:pt x="5822835" y="1276350"/>
                  </a:lnTo>
                  <a:lnTo>
                    <a:pt x="5867793" y="1264297"/>
                  </a:lnTo>
                  <a:lnTo>
                    <a:pt x="5904725" y="1235951"/>
                  </a:lnTo>
                  <a:lnTo>
                    <a:pt x="5928004" y="1195628"/>
                  </a:lnTo>
                  <a:lnTo>
                    <a:pt x="5934075" y="1165110"/>
                  </a:lnTo>
                  <a:lnTo>
                    <a:pt x="5934075" y="111239"/>
                  </a:lnTo>
                  <a:lnTo>
                    <a:pt x="5922022" y="66268"/>
                  </a:lnTo>
                  <a:lnTo>
                    <a:pt x="5893676" y="29349"/>
                  </a:lnTo>
                  <a:lnTo>
                    <a:pt x="5853353" y="6070"/>
                  </a:lnTo>
                  <a:lnTo>
                    <a:pt x="5830570" y="762"/>
                  </a:lnTo>
                  <a:lnTo>
                    <a:pt x="5822835" y="0"/>
                  </a:lnTo>
                  <a:close/>
                </a:path>
              </a:pathLst>
            </a:custGeom>
            <a:solidFill>
              <a:srgbClr val="E5F9F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0913" y="3276612"/>
              <a:ext cx="5942965" cy="1295400"/>
            </a:xfrm>
            <a:custGeom>
              <a:avLst/>
              <a:gdLst/>
              <a:ahLst/>
              <a:cxnLst/>
              <a:rect l="l" t="t" r="r" b="b"/>
              <a:pathLst>
                <a:path w="5942965" h="1295400">
                  <a:moveTo>
                    <a:pt x="5942749" y="128587"/>
                  </a:moveTo>
                  <a:lnTo>
                    <a:pt x="5932957" y="79375"/>
                  </a:lnTo>
                  <a:lnTo>
                    <a:pt x="5905538" y="38163"/>
                  </a:lnTo>
                  <a:lnTo>
                    <a:pt x="5905373" y="37973"/>
                  </a:lnTo>
                  <a:lnTo>
                    <a:pt x="5905093" y="37655"/>
                  </a:lnTo>
                  <a:lnTo>
                    <a:pt x="5895695" y="29121"/>
                  </a:lnTo>
                  <a:lnTo>
                    <a:pt x="5885624" y="21640"/>
                  </a:lnTo>
                  <a:lnTo>
                    <a:pt x="5881281" y="19050"/>
                  </a:lnTo>
                  <a:lnTo>
                    <a:pt x="5874842" y="15189"/>
                  </a:lnTo>
                  <a:lnTo>
                    <a:pt x="5826836" y="609"/>
                  </a:lnTo>
                  <a:lnTo>
                    <a:pt x="58141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814161" y="19050"/>
                  </a:lnTo>
                  <a:lnTo>
                    <a:pt x="5856071" y="27381"/>
                  </a:lnTo>
                  <a:lnTo>
                    <a:pt x="5891619" y="51130"/>
                  </a:lnTo>
                  <a:lnTo>
                    <a:pt x="5915355" y="86664"/>
                  </a:lnTo>
                  <a:lnTo>
                    <a:pt x="5923699" y="128587"/>
                  </a:lnTo>
                  <a:lnTo>
                    <a:pt x="5923699" y="1166812"/>
                  </a:lnTo>
                  <a:lnTo>
                    <a:pt x="5915355" y="1208722"/>
                  </a:lnTo>
                  <a:lnTo>
                    <a:pt x="5892076" y="1243761"/>
                  </a:lnTo>
                  <a:lnTo>
                    <a:pt x="5891619" y="1244269"/>
                  </a:lnTo>
                  <a:lnTo>
                    <a:pt x="5856071" y="1268006"/>
                  </a:lnTo>
                  <a:lnTo>
                    <a:pt x="5814161" y="1276350"/>
                  </a:lnTo>
                  <a:lnTo>
                    <a:pt x="75349" y="1276350"/>
                  </a:lnTo>
                  <a:lnTo>
                    <a:pt x="33007" y="1266723"/>
                  </a:lnTo>
                  <a:lnTo>
                    <a:pt x="1092" y="1234071"/>
                  </a:lnTo>
                  <a:lnTo>
                    <a:pt x="0" y="1229956"/>
                  </a:lnTo>
                  <a:lnTo>
                    <a:pt x="609" y="1234071"/>
                  </a:lnTo>
                  <a:lnTo>
                    <a:pt x="2413" y="1241272"/>
                  </a:lnTo>
                  <a:lnTo>
                    <a:pt x="4851" y="1248067"/>
                  </a:lnTo>
                  <a:lnTo>
                    <a:pt x="4953" y="1248359"/>
                  </a:lnTo>
                  <a:lnTo>
                    <a:pt x="33007" y="1282560"/>
                  </a:lnTo>
                  <a:lnTo>
                    <a:pt x="75349" y="1295400"/>
                  </a:lnTo>
                  <a:lnTo>
                    <a:pt x="5814161" y="1295400"/>
                  </a:lnTo>
                  <a:lnTo>
                    <a:pt x="5863374" y="1285608"/>
                  </a:lnTo>
                  <a:lnTo>
                    <a:pt x="5905081" y="1257731"/>
                  </a:lnTo>
                  <a:lnTo>
                    <a:pt x="5905538" y="1257223"/>
                  </a:lnTo>
                  <a:lnTo>
                    <a:pt x="5913602" y="1248359"/>
                  </a:lnTo>
                  <a:lnTo>
                    <a:pt x="5937250" y="1204074"/>
                  </a:lnTo>
                  <a:lnTo>
                    <a:pt x="5942749" y="1166812"/>
                  </a:lnTo>
                  <a:lnTo>
                    <a:pt x="5942749" y="128587"/>
                  </a:lnTo>
                  <a:close/>
                </a:path>
              </a:pathLst>
            </a:custGeom>
            <a:solidFill>
              <a:srgbClr val="B6D5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1025" y="3276600"/>
              <a:ext cx="76200" cy="1295400"/>
            </a:xfrm>
            <a:custGeom>
              <a:avLst/>
              <a:gdLst/>
              <a:ahLst/>
              <a:cxnLst/>
              <a:rect l="l" t="t" r="r" b="b"/>
              <a:pathLst>
                <a:path w="76200" h="1295400">
                  <a:moveTo>
                    <a:pt x="76200" y="0"/>
                  </a:moveTo>
                  <a:lnTo>
                    <a:pt x="71194" y="0"/>
                  </a:lnTo>
                  <a:lnTo>
                    <a:pt x="66243" y="482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1219200"/>
                  </a:lnTo>
                  <a:lnTo>
                    <a:pt x="0" y="1224203"/>
                  </a:lnTo>
                  <a:lnTo>
                    <a:pt x="15622" y="1265694"/>
                  </a:lnTo>
                  <a:lnTo>
                    <a:pt x="51663" y="1291513"/>
                  </a:lnTo>
                  <a:lnTo>
                    <a:pt x="71194" y="1295400"/>
                  </a:lnTo>
                  <a:lnTo>
                    <a:pt x="76200" y="12954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6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81025" y="4743450"/>
            <a:ext cx="5962650" cy="1304925"/>
            <a:chOff x="581025" y="4743450"/>
            <a:chExt cx="5962650" cy="1304925"/>
          </a:xfrm>
        </p:grpSpPr>
        <p:sp>
          <p:nvSpPr>
            <p:cNvPr id="16" name="object 16"/>
            <p:cNvSpPr/>
            <p:nvPr/>
          </p:nvSpPr>
          <p:spPr>
            <a:xfrm>
              <a:off x="600075" y="4752975"/>
              <a:ext cx="5934075" cy="1285875"/>
            </a:xfrm>
            <a:custGeom>
              <a:avLst/>
              <a:gdLst/>
              <a:ahLst/>
              <a:cxnLst/>
              <a:rect l="l" t="t" r="r" b="b"/>
              <a:pathLst>
                <a:path w="5934075" h="1285875">
                  <a:moveTo>
                    <a:pt x="5822835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219201"/>
                  </a:lnTo>
                  <a:lnTo>
                    <a:pt x="0" y="1223576"/>
                  </a:lnTo>
                  <a:lnTo>
                    <a:pt x="15622" y="1259880"/>
                  </a:lnTo>
                  <a:lnTo>
                    <a:pt x="51663" y="1282472"/>
                  </a:lnTo>
                  <a:lnTo>
                    <a:pt x="71194" y="1285871"/>
                  </a:lnTo>
                  <a:lnTo>
                    <a:pt x="5822835" y="1285871"/>
                  </a:lnTo>
                  <a:lnTo>
                    <a:pt x="5867793" y="1273816"/>
                  </a:lnTo>
                  <a:lnTo>
                    <a:pt x="5904725" y="1245473"/>
                  </a:lnTo>
                  <a:lnTo>
                    <a:pt x="5928004" y="1205151"/>
                  </a:lnTo>
                  <a:lnTo>
                    <a:pt x="5934075" y="1174626"/>
                  </a:lnTo>
                  <a:lnTo>
                    <a:pt x="5934075" y="111239"/>
                  </a:lnTo>
                  <a:lnTo>
                    <a:pt x="5922022" y="66268"/>
                  </a:lnTo>
                  <a:lnTo>
                    <a:pt x="5893676" y="29349"/>
                  </a:lnTo>
                  <a:lnTo>
                    <a:pt x="5853353" y="6070"/>
                  </a:lnTo>
                  <a:lnTo>
                    <a:pt x="5830570" y="762"/>
                  </a:lnTo>
                  <a:lnTo>
                    <a:pt x="5822835" y="0"/>
                  </a:lnTo>
                  <a:close/>
                </a:path>
              </a:pathLst>
            </a:custGeom>
            <a:solidFill>
              <a:srgbClr val="E5F9F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0913" y="4743462"/>
              <a:ext cx="5942965" cy="1304925"/>
            </a:xfrm>
            <a:custGeom>
              <a:avLst/>
              <a:gdLst/>
              <a:ahLst/>
              <a:cxnLst/>
              <a:rect l="l" t="t" r="r" b="b"/>
              <a:pathLst>
                <a:path w="5942965" h="1304925">
                  <a:moveTo>
                    <a:pt x="5942749" y="128587"/>
                  </a:moveTo>
                  <a:lnTo>
                    <a:pt x="5932957" y="79375"/>
                  </a:lnTo>
                  <a:lnTo>
                    <a:pt x="5905538" y="38163"/>
                  </a:lnTo>
                  <a:lnTo>
                    <a:pt x="5905373" y="37973"/>
                  </a:lnTo>
                  <a:lnTo>
                    <a:pt x="5905093" y="37655"/>
                  </a:lnTo>
                  <a:lnTo>
                    <a:pt x="5895695" y="29121"/>
                  </a:lnTo>
                  <a:lnTo>
                    <a:pt x="5885624" y="21640"/>
                  </a:lnTo>
                  <a:lnTo>
                    <a:pt x="5881281" y="19050"/>
                  </a:lnTo>
                  <a:lnTo>
                    <a:pt x="5874842" y="15189"/>
                  </a:lnTo>
                  <a:lnTo>
                    <a:pt x="5826836" y="609"/>
                  </a:lnTo>
                  <a:lnTo>
                    <a:pt x="58141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5814161" y="19050"/>
                  </a:lnTo>
                  <a:lnTo>
                    <a:pt x="5856071" y="27381"/>
                  </a:lnTo>
                  <a:lnTo>
                    <a:pt x="5891619" y="51130"/>
                  </a:lnTo>
                  <a:lnTo>
                    <a:pt x="5915355" y="86664"/>
                  </a:lnTo>
                  <a:lnTo>
                    <a:pt x="5923699" y="128587"/>
                  </a:lnTo>
                  <a:lnTo>
                    <a:pt x="5923699" y="1176337"/>
                  </a:lnTo>
                  <a:lnTo>
                    <a:pt x="5915355" y="1218247"/>
                  </a:lnTo>
                  <a:lnTo>
                    <a:pt x="5892076" y="1253286"/>
                  </a:lnTo>
                  <a:lnTo>
                    <a:pt x="5856071" y="1277531"/>
                  </a:lnTo>
                  <a:lnTo>
                    <a:pt x="5814161" y="1285875"/>
                  </a:lnTo>
                  <a:lnTo>
                    <a:pt x="75349" y="1285875"/>
                  </a:lnTo>
                  <a:lnTo>
                    <a:pt x="33007" y="1276248"/>
                  </a:lnTo>
                  <a:lnTo>
                    <a:pt x="1092" y="1243584"/>
                  </a:lnTo>
                  <a:lnTo>
                    <a:pt x="0" y="1239469"/>
                  </a:lnTo>
                  <a:lnTo>
                    <a:pt x="609" y="1243584"/>
                  </a:lnTo>
                  <a:lnTo>
                    <a:pt x="2413" y="1250810"/>
                  </a:lnTo>
                  <a:lnTo>
                    <a:pt x="4851" y="1257592"/>
                  </a:lnTo>
                  <a:lnTo>
                    <a:pt x="4953" y="1257884"/>
                  </a:lnTo>
                  <a:lnTo>
                    <a:pt x="33007" y="1292085"/>
                  </a:lnTo>
                  <a:lnTo>
                    <a:pt x="75349" y="1304925"/>
                  </a:lnTo>
                  <a:lnTo>
                    <a:pt x="5814161" y="1304925"/>
                  </a:lnTo>
                  <a:lnTo>
                    <a:pt x="5863374" y="1295133"/>
                  </a:lnTo>
                  <a:lnTo>
                    <a:pt x="5905081" y="1267256"/>
                  </a:lnTo>
                  <a:lnTo>
                    <a:pt x="5932957" y="1225537"/>
                  </a:lnTo>
                  <a:lnTo>
                    <a:pt x="5942749" y="1176337"/>
                  </a:lnTo>
                  <a:lnTo>
                    <a:pt x="5942749" y="128587"/>
                  </a:lnTo>
                  <a:close/>
                </a:path>
              </a:pathLst>
            </a:custGeom>
            <a:solidFill>
              <a:srgbClr val="B6D5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1025" y="4743450"/>
              <a:ext cx="76200" cy="1304925"/>
            </a:xfrm>
            <a:custGeom>
              <a:avLst/>
              <a:gdLst/>
              <a:ahLst/>
              <a:cxnLst/>
              <a:rect l="l" t="t" r="r" b="b"/>
              <a:pathLst>
                <a:path w="76200" h="1304925">
                  <a:moveTo>
                    <a:pt x="76200" y="0"/>
                  </a:moveTo>
                  <a:lnTo>
                    <a:pt x="71194" y="0"/>
                  </a:lnTo>
                  <a:lnTo>
                    <a:pt x="66243" y="482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1228726"/>
                  </a:lnTo>
                  <a:lnTo>
                    <a:pt x="0" y="1233726"/>
                  </a:lnTo>
                  <a:lnTo>
                    <a:pt x="15622" y="1275219"/>
                  </a:lnTo>
                  <a:lnTo>
                    <a:pt x="51663" y="1301036"/>
                  </a:lnTo>
                  <a:lnTo>
                    <a:pt x="76200" y="1304926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6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35025" y="1843484"/>
            <a:ext cx="5521325" cy="397573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b="1" spc="160" dirty="0">
                <a:solidFill>
                  <a:srgbClr val="4B4A4A"/>
                </a:solidFill>
                <a:latin typeface="Times New Roman"/>
                <a:cs typeface="Times New Roman"/>
              </a:rPr>
              <a:t>North</a:t>
            </a:r>
            <a:r>
              <a:rPr sz="1650" b="1" spc="10" dirty="0">
                <a:solidFill>
                  <a:srgbClr val="4B4A4A"/>
                </a:solidFill>
                <a:latin typeface="Times New Roman"/>
                <a:cs typeface="Times New Roman"/>
              </a:rPr>
              <a:t xml:space="preserve"> </a:t>
            </a:r>
            <a:r>
              <a:rPr sz="1650" b="1" spc="155" dirty="0">
                <a:solidFill>
                  <a:srgbClr val="4B4A4A"/>
                </a:solidFill>
                <a:latin typeface="Times New Roman"/>
                <a:cs typeface="Times New Roman"/>
              </a:rPr>
              <a:t>Region</a:t>
            </a:r>
            <a:endParaRPr sz="1650">
              <a:latin typeface="Times New Roman"/>
              <a:cs typeface="Times New Roman"/>
            </a:endParaRPr>
          </a:p>
          <a:p>
            <a:pPr marL="12700" marR="466090">
              <a:lnSpc>
                <a:spcPct val="134300"/>
              </a:lnSpc>
              <a:spcBef>
                <a:spcPts val="385"/>
              </a:spcBef>
            </a:pP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Highest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revenue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and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profit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0" dirty="0">
                <a:solidFill>
                  <a:srgbClr val="4B4A4A"/>
                </a:solidFill>
                <a:latin typeface="Verdana"/>
                <a:cs typeface="Verdana"/>
              </a:rPr>
              <a:t>—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consider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increased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investment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25" dirty="0">
                <a:solidFill>
                  <a:srgbClr val="4B4A4A"/>
                </a:solidFill>
                <a:latin typeface="Verdana"/>
                <a:cs typeface="Verdana"/>
              </a:rPr>
              <a:t xml:space="preserve">and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resource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allocation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to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accelerate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growth.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50" b="1" spc="170" dirty="0">
                <a:solidFill>
                  <a:srgbClr val="4B4A4A"/>
                </a:solidFill>
                <a:latin typeface="Times New Roman"/>
                <a:cs typeface="Times New Roman"/>
              </a:rPr>
              <a:t>South,</a:t>
            </a:r>
            <a:r>
              <a:rPr sz="1650" b="1" spc="5" dirty="0">
                <a:solidFill>
                  <a:srgbClr val="4B4A4A"/>
                </a:solidFill>
                <a:latin typeface="Times New Roman"/>
                <a:cs typeface="Times New Roman"/>
              </a:rPr>
              <a:t xml:space="preserve"> </a:t>
            </a:r>
            <a:r>
              <a:rPr sz="1650" b="1" spc="135" dirty="0">
                <a:solidFill>
                  <a:srgbClr val="4B4A4A"/>
                </a:solidFill>
                <a:latin typeface="Times New Roman"/>
                <a:cs typeface="Times New Roman"/>
              </a:rPr>
              <a:t>West</a:t>
            </a:r>
            <a:r>
              <a:rPr sz="1650" b="1" spc="5" dirty="0">
                <a:solidFill>
                  <a:srgbClr val="4B4A4A"/>
                </a:solidFill>
                <a:latin typeface="Times New Roman"/>
                <a:cs typeface="Times New Roman"/>
              </a:rPr>
              <a:t xml:space="preserve"> </a:t>
            </a:r>
            <a:r>
              <a:rPr sz="1650" b="1" dirty="0">
                <a:solidFill>
                  <a:srgbClr val="4B4A4A"/>
                </a:solidFill>
                <a:latin typeface="Times New Roman"/>
                <a:cs typeface="Times New Roman"/>
              </a:rPr>
              <a:t>&amp;</a:t>
            </a:r>
            <a:r>
              <a:rPr sz="1650" b="1" spc="10" dirty="0">
                <a:solidFill>
                  <a:srgbClr val="4B4A4A"/>
                </a:solidFill>
                <a:latin typeface="Times New Roman"/>
                <a:cs typeface="Times New Roman"/>
              </a:rPr>
              <a:t xml:space="preserve"> </a:t>
            </a:r>
            <a:r>
              <a:rPr sz="1650" b="1" spc="120" dirty="0">
                <a:solidFill>
                  <a:srgbClr val="4B4A4A"/>
                </a:solidFill>
                <a:latin typeface="Times New Roman"/>
                <a:cs typeface="Times New Roman"/>
              </a:rPr>
              <a:t>East</a:t>
            </a:r>
            <a:r>
              <a:rPr sz="1650" b="1" spc="5" dirty="0">
                <a:solidFill>
                  <a:srgbClr val="4B4A4A"/>
                </a:solidFill>
                <a:latin typeface="Times New Roman"/>
                <a:cs typeface="Times New Roman"/>
              </a:rPr>
              <a:t xml:space="preserve"> </a:t>
            </a:r>
            <a:r>
              <a:rPr sz="1650" b="1" spc="165" dirty="0">
                <a:solidFill>
                  <a:srgbClr val="4B4A4A"/>
                </a:solidFill>
                <a:latin typeface="Times New Roman"/>
                <a:cs typeface="Times New Roman"/>
              </a:rPr>
              <a:t>Regions</a:t>
            </a:r>
            <a:endParaRPr sz="1650">
              <a:latin typeface="Times New Roman"/>
              <a:cs typeface="Times New Roman"/>
            </a:endParaRPr>
          </a:p>
          <a:p>
            <a:pPr marL="12700" marR="551815">
              <a:lnSpc>
                <a:spcPct val="134300"/>
              </a:lnSpc>
              <a:spcBef>
                <a:spcPts val="315"/>
              </a:spcBef>
            </a:pP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Consistent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performers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with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stable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margins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0" dirty="0">
                <a:solidFill>
                  <a:srgbClr val="4B4A4A"/>
                </a:solidFill>
                <a:latin typeface="Verdana"/>
                <a:cs typeface="Verdana"/>
              </a:rPr>
              <a:t>—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35" dirty="0">
                <a:solidFill>
                  <a:srgbClr val="4B4A4A"/>
                </a:solidFill>
                <a:latin typeface="Verdana"/>
                <a:cs typeface="Verdana"/>
              </a:rPr>
              <a:t>focus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on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35" dirty="0">
                <a:solidFill>
                  <a:srgbClr val="4B4A4A"/>
                </a:solidFill>
                <a:latin typeface="Verdana"/>
                <a:cs typeface="Verdana"/>
              </a:rPr>
              <a:t xml:space="preserve">targeted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campaigns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to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35" dirty="0">
                <a:solidFill>
                  <a:srgbClr val="4B4A4A"/>
                </a:solidFill>
                <a:latin typeface="Verdana"/>
                <a:cs typeface="Verdana"/>
              </a:rPr>
              <a:t>close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the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gap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with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North.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50" b="1" spc="140" dirty="0">
                <a:solidFill>
                  <a:srgbClr val="4B4A4A"/>
                </a:solidFill>
                <a:latin typeface="Times New Roman"/>
                <a:cs typeface="Times New Roman"/>
              </a:rPr>
              <a:t>Strategic</a:t>
            </a:r>
            <a:r>
              <a:rPr sz="1650" b="1" spc="10" dirty="0">
                <a:solidFill>
                  <a:srgbClr val="4B4A4A"/>
                </a:solidFill>
                <a:latin typeface="Times New Roman"/>
                <a:cs typeface="Times New Roman"/>
              </a:rPr>
              <a:t xml:space="preserve"> </a:t>
            </a:r>
            <a:r>
              <a:rPr sz="1650" b="1" spc="150" dirty="0">
                <a:solidFill>
                  <a:srgbClr val="4B4A4A"/>
                </a:solidFill>
                <a:latin typeface="Times New Roman"/>
                <a:cs typeface="Times New Roman"/>
              </a:rPr>
              <a:t>Outlook</a:t>
            </a:r>
            <a:endParaRPr sz="1650">
              <a:latin typeface="Times New Roman"/>
              <a:cs typeface="Times New Roman"/>
            </a:endParaRPr>
          </a:p>
          <a:p>
            <a:pPr marL="12700" marR="5080">
              <a:lnSpc>
                <a:spcPct val="134300"/>
              </a:lnSpc>
              <a:spcBef>
                <a:spcPts val="390"/>
              </a:spcBef>
            </a:pP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Balanced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regional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contribution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reduces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risk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0" dirty="0">
                <a:solidFill>
                  <a:srgbClr val="4B4A4A"/>
                </a:solidFill>
                <a:latin typeface="Verdana"/>
                <a:cs typeface="Verdana"/>
              </a:rPr>
              <a:t>—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leverage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this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stability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25" dirty="0">
                <a:solidFill>
                  <a:srgbClr val="4B4A4A"/>
                </a:solidFill>
                <a:latin typeface="Verdana"/>
                <a:cs typeface="Verdana"/>
              </a:rPr>
              <a:t xml:space="preserve">to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pursue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aggressive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expansion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goals.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696200"/>
          </a:xfrm>
          <a:custGeom>
            <a:avLst/>
            <a:gdLst/>
            <a:ahLst/>
            <a:cxnLst/>
            <a:rect l="l" t="t" r="r" b="b"/>
            <a:pathLst>
              <a:path w="11430000" h="7696200">
                <a:moveTo>
                  <a:pt x="11430000" y="0"/>
                </a:moveTo>
                <a:lnTo>
                  <a:pt x="0" y="0"/>
                </a:lnTo>
                <a:lnTo>
                  <a:pt x="0" y="7696200"/>
                </a:lnTo>
                <a:lnTo>
                  <a:pt x="11430000" y="76962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E5F9F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0"/>
            <a:ext cx="4286250" cy="7696199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87375" y="482600"/>
            <a:ext cx="236220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315" dirty="0">
                <a:latin typeface="Calibri"/>
                <a:cs typeface="Calibri"/>
              </a:rPr>
              <a:t>Thank</a:t>
            </a:r>
            <a:r>
              <a:rPr spc="20" dirty="0">
                <a:latin typeface="Calibri"/>
                <a:cs typeface="Calibri"/>
              </a:rPr>
              <a:t xml:space="preserve"> </a:t>
            </a:r>
            <a:r>
              <a:rPr spc="110" dirty="0">
                <a:latin typeface="Calibri"/>
                <a:cs typeface="Calibri"/>
              </a:rPr>
              <a:t>You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00075" y="4762500"/>
            <a:ext cx="5943600" cy="1000125"/>
            <a:chOff x="600075" y="4762500"/>
            <a:chExt cx="5943600" cy="1000125"/>
          </a:xfrm>
        </p:grpSpPr>
        <p:sp>
          <p:nvSpPr>
            <p:cNvPr id="8" name="object 8"/>
            <p:cNvSpPr/>
            <p:nvPr/>
          </p:nvSpPr>
          <p:spPr>
            <a:xfrm>
              <a:off x="604837" y="4767262"/>
              <a:ext cx="5934075" cy="990600"/>
            </a:xfrm>
            <a:custGeom>
              <a:avLst/>
              <a:gdLst/>
              <a:ahLst/>
              <a:cxnLst/>
              <a:rect l="l" t="t" r="r" b="b"/>
              <a:pathLst>
                <a:path w="5934075" h="990600">
                  <a:moveTo>
                    <a:pt x="5818378" y="0"/>
                  </a:moveTo>
                  <a:lnTo>
                    <a:pt x="115694" y="0"/>
                  </a:lnTo>
                  <a:lnTo>
                    <a:pt x="107642" y="787"/>
                  </a:lnTo>
                  <a:lnTo>
                    <a:pt x="68926" y="12534"/>
                  </a:lnTo>
                  <a:lnTo>
                    <a:pt x="30519" y="42011"/>
                  </a:lnTo>
                  <a:lnTo>
                    <a:pt x="6315" y="83947"/>
                  </a:lnTo>
                  <a:lnTo>
                    <a:pt x="0" y="115697"/>
                  </a:lnTo>
                  <a:lnTo>
                    <a:pt x="0" y="866775"/>
                  </a:lnTo>
                  <a:lnTo>
                    <a:pt x="0" y="874903"/>
                  </a:lnTo>
                  <a:lnTo>
                    <a:pt x="12536" y="921677"/>
                  </a:lnTo>
                  <a:lnTo>
                    <a:pt x="42014" y="960081"/>
                  </a:lnTo>
                  <a:lnTo>
                    <a:pt x="83949" y="984288"/>
                  </a:lnTo>
                  <a:lnTo>
                    <a:pt x="115694" y="990600"/>
                  </a:lnTo>
                  <a:lnTo>
                    <a:pt x="5818378" y="990600"/>
                  </a:lnTo>
                  <a:lnTo>
                    <a:pt x="5865152" y="978052"/>
                  </a:lnTo>
                  <a:lnTo>
                    <a:pt x="5903556" y="948575"/>
                  </a:lnTo>
                  <a:lnTo>
                    <a:pt x="5927763" y="906640"/>
                  </a:lnTo>
                  <a:lnTo>
                    <a:pt x="5934075" y="874903"/>
                  </a:lnTo>
                  <a:lnTo>
                    <a:pt x="5934075" y="115697"/>
                  </a:lnTo>
                  <a:lnTo>
                    <a:pt x="5921540" y="68922"/>
                  </a:lnTo>
                  <a:lnTo>
                    <a:pt x="5892050" y="30518"/>
                  </a:lnTo>
                  <a:lnTo>
                    <a:pt x="5850128" y="6311"/>
                  </a:lnTo>
                  <a:lnTo>
                    <a:pt x="5826429" y="787"/>
                  </a:lnTo>
                  <a:lnTo>
                    <a:pt x="5818378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4837" y="4767262"/>
              <a:ext cx="5934075" cy="990600"/>
            </a:xfrm>
            <a:custGeom>
              <a:avLst/>
              <a:gdLst/>
              <a:ahLst/>
              <a:cxnLst/>
              <a:rect l="l" t="t" r="r" b="b"/>
              <a:pathLst>
                <a:path w="5934075" h="990600">
                  <a:moveTo>
                    <a:pt x="0" y="866775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793" y="107645"/>
                  </a:lnTo>
                  <a:lnTo>
                    <a:pt x="2381" y="99669"/>
                  </a:lnTo>
                  <a:lnTo>
                    <a:pt x="3963" y="91694"/>
                  </a:lnTo>
                  <a:lnTo>
                    <a:pt x="6315" y="83947"/>
                  </a:lnTo>
                  <a:lnTo>
                    <a:pt x="9425" y="76441"/>
                  </a:lnTo>
                  <a:lnTo>
                    <a:pt x="12536" y="68922"/>
                  </a:lnTo>
                  <a:lnTo>
                    <a:pt x="16351" y="61798"/>
                  </a:lnTo>
                  <a:lnTo>
                    <a:pt x="20866" y="55029"/>
                  </a:lnTo>
                  <a:lnTo>
                    <a:pt x="25384" y="48272"/>
                  </a:lnTo>
                  <a:lnTo>
                    <a:pt x="30519" y="42011"/>
                  </a:lnTo>
                  <a:lnTo>
                    <a:pt x="36269" y="36271"/>
                  </a:lnTo>
                  <a:lnTo>
                    <a:pt x="42014" y="30518"/>
                  </a:lnTo>
                  <a:lnTo>
                    <a:pt x="48270" y="25387"/>
                  </a:lnTo>
                  <a:lnTo>
                    <a:pt x="55031" y="20866"/>
                  </a:lnTo>
                  <a:lnTo>
                    <a:pt x="61793" y="16344"/>
                  </a:lnTo>
                  <a:lnTo>
                    <a:pt x="68926" y="12534"/>
                  </a:lnTo>
                  <a:lnTo>
                    <a:pt x="76438" y="9423"/>
                  </a:lnTo>
                  <a:lnTo>
                    <a:pt x="83949" y="6311"/>
                  </a:lnTo>
                  <a:lnTo>
                    <a:pt x="91692" y="3962"/>
                  </a:lnTo>
                  <a:lnTo>
                    <a:pt x="99669" y="2374"/>
                  </a:lnTo>
                  <a:lnTo>
                    <a:pt x="107642" y="787"/>
                  </a:lnTo>
                  <a:lnTo>
                    <a:pt x="115694" y="0"/>
                  </a:lnTo>
                  <a:lnTo>
                    <a:pt x="123825" y="0"/>
                  </a:lnTo>
                  <a:lnTo>
                    <a:pt x="5810250" y="0"/>
                  </a:lnTo>
                  <a:lnTo>
                    <a:pt x="5818378" y="0"/>
                  </a:lnTo>
                  <a:lnTo>
                    <a:pt x="5826429" y="787"/>
                  </a:lnTo>
                  <a:lnTo>
                    <a:pt x="5834405" y="2374"/>
                  </a:lnTo>
                  <a:lnTo>
                    <a:pt x="5842381" y="3962"/>
                  </a:lnTo>
                  <a:lnTo>
                    <a:pt x="5850128" y="6311"/>
                  </a:lnTo>
                  <a:lnTo>
                    <a:pt x="5857633" y="9423"/>
                  </a:lnTo>
                  <a:lnTo>
                    <a:pt x="5865152" y="12534"/>
                  </a:lnTo>
                  <a:lnTo>
                    <a:pt x="5897803" y="36271"/>
                  </a:lnTo>
                  <a:lnTo>
                    <a:pt x="5903556" y="42011"/>
                  </a:lnTo>
                  <a:lnTo>
                    <a:pt x="5924651" y="76441"/>
                  </a:lnTo>
                  <a:lnTo>
                    <a:pt x="5927763" y="83947"/>
                  </a:lnTo>
                  <a:lnTo>
                    <a:pt x="5930112" y="91694"/>
                  </a:lnTo>
                  <a:lnTo>
                    <a:pt x="5931700" y="99669"/>
                  </a:lnTo>
                  <a:lnTo>
                    <a:pt x="5933287" y="107645"/>
                  </a:lnTo>
                  <a:lnTo>
                    <a:pt x="5934075" y="115697"/>
                  </a:lnTo>
                  <a:lnTo>
                    <a:pt x="5934075" y="123825"/>
                  </a:lnTo>
                  <a:lnTo>
                    <a:pt x="5934075" y="866775"/>
                  </a:lnTo>
                  <a:lnTo>
                    <a:pt x="5934075" y="874903"/>
                  </a:lnTo>
                  <a:lnTo>
                    <a:pt x="5933287" y="882954"/>
                  </a:lnTo>
                  <a:lnTo>
                    <a:pt x="5931700" y="890930"/>
                  </a:lnTo>
                  <a:lnTo>
                    <a:pt x="5930112" y="898906"/>
                  </a:lnTo>
                  <a:lnTo>
                    <a:pt x="5927763" y="906640"/>
                  </a:lnTo>
                  <a:lnTo>
                    <a:pt x="5924651" y="914158"/>
                  </a:lnTo>
                  <a:lnTo>
                    <a:pt x="5921540" y="921677"/>
                  </a:lnTo>
                  <a:lnTo>
                    <a:pt x="5897803" y="954328"/>
                  </a:lnTo>
                  <a:lnTo>
                    <a:pt x="5892050" y="960081"/>
                  </a:lnTo>
                  <a:lnTo>
                    <a:pt x="5857633" y="981176"/>
                  </a:lnTo>
                  <a:lnTo>
                    <a:pt x="5818378" y="990600"/>
                  </a:lnTo>
                  <a:lnTo>
                    <a:pt x="5810250" y="990600"/>
                  </a:lnTo>
                  <a:lnTo>
                    <a:pt x="123825" y="990600"/>
                  </a:lnTo>
                  <a:lnTo>
                    <a:pt x="115694" y="990600"/>
                  </a:lnTo>
                  <a:lnTo>
                    <a:pt x="107642" y="989799"/>
                  </a:lnTo>
                  <a:lnTo>
                    <a:pt x="99669" y="988212"/>
                  </a:lnTo>
                  <a:lnTo>
                    <a:pt x="91692" y="986624"/>
                  </a:lnTo>
                  <a:lnTo>
                    <a:pt x="55031" y="969733"/>
                  </a:lnTo>
                  <a:lnTo>
                    <a:pt x="36269" y="954328"/>
                  </a:lnTo>
                  <a:lnTo>
                    <a:pt x="30519" y="948575"/>
                  </a:lnTo>
                  <a:lnTo>
                    <a:pt x="9425" y="914158"/>
                  </a:lnTo>
                  <a:lnTo>
                    <a:pt x="6315" y="906640"/>
                  </a:lnTo>
                  <a:lnTo>
                    <a:pt x="3963" y="898906"/>
                  </a:lnTo>
                  <a:lnTo>
                    <a:pt x="2381" y="890930"/>
                  </a:lnTo>
                  <a:lnTo>
                    <a:pt x="793" y="882954"/>
                  </a:lnTo>
                  <a:lnTo>
                    <a:pt x="0" y="874903"/>
                  </a:lnTo>
                  <a:lnTo>
                    <a:pt x="0" y="866775"/>
                  </a:lnTo>
                  <a:close/>
                </a:path>
              </a:pathLst>
            </a:custGeom>
            <a:ln w="9525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00075" y="5934075"/>
            <a:ext cx="5943600" cy="1285875"/>
            <a:chOff x="600075" y="5934075"/>
            <a:chExt cx="5943600" cy="1285875"/>
          </a:xfrm>
        </p:grpSpPr>
        <p:sp>
          <p:nvSpPr>
            <p:cNvPr id="11" name="object 11"/>
            <p:cNvSpPr/>
            <p:nvPr/>
          </p:nvSpPr>
          <p:spPr>
            <a:xfrm>
              <a:off x="604837" y="5938837"/>
              <a:ext cx="5934075" cy="1276350"/>
            </a:xfrm>
            <a:custGeom>
              <a:avLst/>
              <a:gdLst/>
              <a:ahLst/>
              <a:cxnLst/>
              <a:rect l="l" t="t" r="r" b="b"/>
              <a:pathLst>
                <a:path w="5934075" h="1276350">
                  <a:moveTo>
                    <a:pt x="5818378" y="0"/>
                  </a:moveTo>
                  <a:lnTo>
                    <a:pt x="115694" y="0"/>
                  </a:lnTo>
                  <a:lnTo>
                    <a:pt x="107642" y="787"/>
                  </a:lnTo>
                  <a:lnTo>
                    <a:pt x="68926" y="12534"/>
                  </a:lnTo>
                  <a:lnTo>
                    <a:pt x="30519" y="42011"/>
                  </a:lnTo>
                  <a:lnTo>
                    <a:pt x="6315" y="83947"/>
                  </a:lnTo>
                  <a:lnTo>
                    <a:pt x="0" y="115697"/>
                  </a:lnTo>
                  <a:lnTo>
                    <a:pt x="0" y="1152525"/>
                  </a:lnTo>
                  <a:lnTo>
                    <a:pt x="0" y="1160655"/>
                  </a:lnTo>
                  <a:lnTo>
                    <a:pt x="12536" y="1207423"/>
                  </a:lnTo>
                  <a:lnTo>
                    <a:pt x="42014" y="1245830"/>
                  </a:lnTo>
                  <a:lnTo>
                    <a:pt x="83949" y="1270034"/>
                  </a:lnTo>
                  <a:lnTo>
                    <a:pt x="115694" y="1276350"/>
                  </a:lnTo>
                  <a:lnTo>
                    <a:pt x="5818378" y="1276350"/>
                  </a:lnTo>
                  <a:lnTo>
                    <a:pt x="5865152" y="1263808"/>
                  </a:lnTo>
                  <a:lnTo>
                    <a:pt x="5903556" y="1234330"/>
                  </a:lnTo>
                  <a:lnTo>
                    <a:pt x="5927763" y="1192396"/>
                  </a:lnTo>
                  <a:lnTo>
                    <a:pt x="5934075" y="1160655"/>
                  </a:lnTo>
                  <a:lnTo>
                    <a:pt x="5934075" y="115697"/>
                  </a:lnTo>
                  <a:lnTo>
                    <a:pt x="5921540" y="68922"/>
                  </a:lnTo>
                  <a:lnTo>
                    <a:pt x="5892050" y="30518"/>
                  </a:lnTo>
                  <a:lnTo>
                    <a:pt x="5850128" y="6311"/>
                  </a:lnTo>
                  <a:lnTo>
                    <a:pt x="5826429" y="787"/>
                  </a:lnTo>
                  <a:lnTo>
                    <a:pt x="5818378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4837" y="5938837"/>
              <a:ext cx="5934075" cy="1276350"/>
            </a:xfrm>
            <a:custGeom>
              <a:avLst/>
              <a:gdLst/>
              <a:ahLst/>
              <a:cxnLst/>
              <a:rect l="l" t="t" r="r" b="b"/>
              <a:pathLst>
                <a:path w="5934075" h="1276350">
                  <a:moveTo>
                    <a:pt x="0" y="1152525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793" y="107645"/>
                  </a:lnTo>
                  <a:lnTo>
                    <a:pt x="2381" y="99669"/>
                  </a:lnTo>
                  <a:lnTo>
                    <a:pt x="3963" y="91694"/>
                  </a:lnTo>
                  <a:lnTo>
                    <a:pt x="6315" y="83947"/>
                  </a:lnTo>
                  <a:lnTo>
                    <a:pt x="9425" y="76441"/>
                  </a:lnTo>
                  <a:lnTo>
                    <a:pt x="12536" y="68922"/>
                  </a:lnTo>
                  <a:lnTo>
                    <a:pt x="16351" y="61785"/>
                  </a:lnTo>
                  <a:lnTo>
                    <a:pt x="42014" y="30518"/>
                  </a:lnTo>
                  <a:lnTo>
                    <a:pt x="76438" y="9423"/>
                  </a:lnTo>
                  <a:lnTo>
                    <a:pt x="83949" y="6311"/>
                  </a:lnTo>
                  <a:lnTo>
                    <a:pt x="91692" y="3962"/>
                  </a:lnTo>
                  <a:lnTo>
                    <a:pt x="99669" y="2374"/>
                  </a:lnTo>
                  <a:lnTo>
                    <a:pt x="107642" y="787"/>
                  </a:lnTo>
                  <a:lnTo>
                    <a:pt x="115694" y="0"/>
                  </a:lnTo>
                  <a:lnTo>
                    <a:pt x="123825" y="0"/>
                  </a:lnTo>
                  <a:lnTo>
                    <a:pt x="5810250" y="0"/>
                  </a:lnTo>
                  <a:lnTo>
                    <a:pt x="5818378" y="0"/>
                  </a:lnTo>
                  <a:lnTo>
                    <a:pt x="5826429" y="787"/>
                  </a:lnTo>
                  <a:lnTo>
                    <a:pt x="5834405" y="2374"/>
                  </a:lnTo>
                  <a:lnTo>
                    <a:pt x="5842381" y="3962"/>
                  </a:lnTo>
                  <a:lnTo>
                    <a:pt x="5850128" y="6311"/>
                  </a:lnTo>
                  <a:lnTo>
                    <a:pt x="5857633" y="9423"/>
                  </a:lnTo>
                  <a:lnTo>
                    <a:pt x="5865152" y="12534"/>
                  </a:lnTo>
                  <a:lnTo>
                    <a:pt x="5897803" y="36258"/>
                  </a:lnTo>
                  <a:lnTo>
                    <a:pt x="5913208" y="55029"/>
                  </a:lnTo>
                  <a:lnTo>
                    <a:pt x="5917730" y="61785"/>
                  </a:lnTo>
                  <a:lnTo>
                    <a:pt x="5921540" y="68922"/>
                  </a:lnTo>
                  <a:lnTo>
                    <a:pt x="5924651" y="76441"/>
                  </a:lnTo>
                  <a:lnTo>
                    <a:pt x="5927763" y="83947"/>
                  </a:lnTo>
                  <a:lnTo>
                    <a:pt x="5930112" y="91694"/>
                  </a:lnTo>
                  <a:lnTo>
                    <a:pt x="5931700" y="99669"/>
                  </a:lnTo>
                  <a:lnTo>
                    <a:pt x="5933287" y="107645"/>
                  </a:lnTo>
                  <a:lnTo>
                    <a:pt x="5934075" y="115697"/>
                  </a:lnTo>
                  <a:lnTo>
                    <a:pt x="5934075" y="123825"/>
                  </a:lnTo>
                  <a:lnTo>
                    <a:pt x="5934075" y="1152525"/>
                  </a:lnTo>
                  <a:lnTo>
                    <a:pt x="5934075" y="1160655"/>
                  </a:lnTo>
                  <a:lnTo>
                    <a:pt x="5933287" y="1168707"/>
                  </a:lnTo>
                  <a:lnTo>
                    <a:pt x="5931700" y="1176680"/>
                  </a:lnTo>
                  <a:lnTo>
                    <a:pt x="5930112" y="1184657"/>
                  </a:lnTo>
                  <a:lnTo>
                    <a:pt x="5913208" y="1221318"/>
                  </a:lnTo>
                  <a:lnTo>
                    <a:pt x="5897803" y="1240080"/>
                  </a:lnTo>
                  <a:lnTo>
                    <a:pt x="5892050" y="1245830"/>
                  </a:lnTo>
                  <a:lnTo>
                    <a:pt x="5857633" y="1266924"/>
                  </a:lnTo>
                  <a:lnTo>
                    <a:pt x="5850128" y="1270034"/>
                  </a:lnTo>
                  <a:lnTo>
                    <a:pt x="5842381" y="1272381"/>
                  </a:lnTo>
                  <a:lnTo>
                    <a:pt x="5834405" y="1273968"/>
                  </a:lnTo>
                  <a:lnTo>
                    <a:pt x="5826429" y="1275556"/>
                  </a:lnTo>
                  <a:lnTo>
                    <a:pt x="5818378" y="1276350"/>
                  </a:lnTo>
                  <a:lnTo>
                    <a:pt x="5810250" y="1276350"/>
                  </a:lnTo>
                  <a:lnTo>
                    <a:pt x="123825" y="1276350"/>
                  </a:lnTo>
                  <a:lnTo>
                    <a:pt x="115694" y="1276350"/>
                  </a:lnTo>
                  <a:lnTo>
                    <a:pt x="107642" y="1275556"/>
                  </a:lnTo>
                  <a:lnTo>
                    <a:pt x="99669" y="1273968"/>
                  </a:lnTo>
                  <a:lnTo>
                    <a:pt x="91692" y="1272381"/>
                  </a:lnTo>
                  <a:lnTo>
                    <a:pt x="55031" y="1255478"/>
                  </a:lnTo>
                  <a:lnTo>
                    <a:pt x="48270" y="1250965"/>
                  </a:lnTo>
                  <a:lnTo>
                    <a:pt x="42014" y="1245830"/>
                  </a:lnTo>
                  <a:lnTo>
                    <a:pt x="36269" y="1240080"/>
                  </a:lnTo>
                  <a:lnTo>
                    <a:pt x="30519" y="1234330"/>
                  </a:lnTo>
                  <a:lnTo>
                    <a:pt x="9425" y="1199907"/>
                  </a:lnTo>
                  <a:lnTo>
                    <a:pt x="6315" y="1192396"/>
                  </a:lnTo>
                  <a:lnTo>
                    <a:pt x="3963" y="1184657"/>
                  </a:lnTo>
                  <a:lnTo>
                    <a:pt x="2381" y="1176680"/>
                  </a:lnTo>
                  <a:lnTo>
                    <a:pt x="793" y="1168707"/>
                  </a:lnTo>
                  <a:lnTo>
                    <a:pt x="0" y="1160655"/>
                  </a:lnTo>
                  <a:lnTo>
                    <a:pt x="0" y="1152525"/>
                  </a:lnTo>
                  <a:close/>
                </a:path>
              </a:pathLst>
            </a:custGeom>
            <a:ln w="9525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87375" y="1281747"/>
            <a:ext cx="5659755" cy="5718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650" b="1" spc="290" dirty="0">
                <a:solidFill>
                  <a:srgbClr val="006646"/>
                </a:solidFill>
                <a:latin typeface="Times New Roman"/>
                <a:cs typeface="Times New Roman"/>
              </a:rPr>
              <a:t>Data-</a:t>
            </a:r>
            <a:r>
              <a:rPr sz="4650" b="1" spc="365" dirty="0">
                <a:solidFill>
                  <a:srgbClr val="006646"/>
                </a:solidFill>
                <a:latin typeface="Times New Roman"/>
                <a:cs typeface="Times New Roman"/>
              </a:rPr>
              <a:t>Driven</a:t>
            </a:r>
            <a:endParaRPr sz="4650">
              <a:latin typeface="Times New Roman"/>
              <a:cs typeface="Times New Roman"/>
            </a:endParaRPr>
          </a:p>
          <a:p>
            <a:pPr marL="12700" marR="1118870">
              <a:lnSpc>
                <a:spcPct val="103499"/>
              </a:lnSpc>
              <a:spcBef>
                <a:spcPts val="75"/>
              </a:spcBef>
            </a:pPr>
            <a:r>
              <a:rPr sz="4650" b="1" spc="470" dirty="0">
                <a:solidFill>
                  <a:srgbClr val="006646"/>
                </a:solidFill>
                <a:latin typeface="Times New Roman"/>
                <a:cs typeface="Times New Roman"/>
              </a:rPr>
              <a:t>Decisions</a:t>
            </a:r>
            <a:r>
              <a:rPr sz="4650" b="1" spc="20" dirty="0">
                <a:solidFill>
                  <a:srgbClr val="006646"/>
                </a:solidFill>
                <a:latin typeface="Times New Roman"/>
                <a:cs typeface="Times New Roman"/>
              </a:rPr>
              <a:t xml:space="preserve"> </a:t>
            </a:r>
            <a:r>
              <a:rPr sz="4650" b="1" spc="245" dirty="0">
                <a:solidFill>
                  <a:srgbClr val="006646"/>
                </a:solidFill>
                <a:latin typeface="Times New Roman"/>
                <a:cs typeface="Times New Roman"/>
              </a:rPr>
              <a:t xml:space="preserve">Start </a:t>
            </a:r>
            <a:r>
              <a:rPr sz="4650" b="1" spc="375" dirty="0">
                <a:solidFill>
                  <a:srgbClr val="006646"/>
                </a:solidFill>
                <a:latin typeface="Times New Roman"/>
                <a:cs typeface="Times New Roman"/>
              </a:rPr>
              <a:t>Here</a:t>
            </a:r>
            <a:endParaRPr sz="4650">
              <a:latin typeface="Times New Roman"/>
              <a:cs typeface="Times New Roman"/>
            </a:endParaRPr>
          </a:p>
          <a:p>
            <a:pPr marL="12700" marR="5080">
              <a:lnSpc>
                <a:spcPct val="134300"/>
              </a:lnSpc>
              <a:spcBef>
                <a:spcPts val="1664"/>
              </a:spcBef>
            </a:pP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 xml:space="preserve">This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analysis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 xml:space="preserve"> demonstrates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how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Excel-based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Business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 xml:space="preserve">Intelligence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transforms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raw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regional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40" dirty="0">
                <a:solidFill>
                  <a:srgbClr val="4B4A4A"/>
                </a:solidFill>
                <a:latin typeface="Verdana"/>
                <a:cs typeface="Verdana"/>
              </a:rPr>
              <a:t>sales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data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into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strategic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insights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0" dirty="0">
                <a:solidFill>
                  <a:srgbClr val="4B4A4A"/>
                </a:solidFill>
                <a:latin typeface="Verdana"/>
                <a:cs typeface="Verdana"/>
              </a:rPr>
              <a:t>—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 xml:space="preserve">empowering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DMart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leadership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to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drive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growth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with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confidence.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350">
              <a:latin typeface="Verdana"/>
              <a:cs typeface="Verdana"/>
            </a:endParaRPr>
          </a:p>
          <a:p>
            <a:pPr marL="193675">
              <a:lnSpc>
                <a:spcPct val="100000"/>
              </a:lnSpc>
            </a:pPr>
            <a:r>
              <a:rPr sz="1650" b="1" spc="140" dirty="0">
                <a:solidFill>
                  <a:srgbClr val="4B4A4A"/>
                </a:solidFill>
                <a:latin typeface="Times New Roman"/>
                <a:cs typeface="Times New Roman"/>
              </a:rPr>
              <a:t>Tools</a:t>
            </a:r>
            <a:r>
              <a:rPr sz="1650" b="1" spc="20" dirty="0">
                <a:solidFill>
                  <a:srgbClr val="4B4A4A"/>
                </a:solidFill>
                <a:latin typeface="Times New Roman"/>
                <a:cs typeface="Times New Roman"/>
              </a:rPr>
              <a:t xml:space="preserve"> </a:t>
            </a:r>
            <a:r>
              <a:rPr sz="1650" b="1" spc="160" dirty="0">
                <a:solidFill>
                  <a:srgbClr val="4B4A4A"/>
                </a:solidFill>
                <a:latin typeface="Times New Roman"/>
                <a:cs typeface="Times New Roman"/>
              </a:rPr>
              <a:t>Used</a:t>
            </a:r>
            <a:endParaRPr sz="1650">
              <a:latin typeface="Times New Roman"/>
              <a:cs typeface="Times New Roman"/>
            </a:endParaRPr>
          </a:p>
          <a:p>
            <a:pPr marL="193675">
              <a:lnSpc>
                <a:spcPct val="100000"/>
              </a:lnSpc>
              <a:spcBef>
                <a:spcPts val="944"/>
              </a:spcBef>
            </a:pP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Excel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Formulas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225" dirty="0">
                <a:solidFill>
                  <a:srgbClr val="4B4A4A"/>
                </a:solidFill>
                <a:latin typeface="Verdana"/>
                <a:cs typeface="Verdana"/>
              </a:rPr>
              <a:t>·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Pivot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Tables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225" dirty="0">
                <a:solidFill>
                  <a:srgbClr val="4B4A4A"/>
                </a:solidFill>
                <a:latin typeface="Verdana"/>
                <a:cs typeface="Verdana"/>
              </a:rPr>
              <a:t>·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Charts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225" dirty="0">
                <a:solidFill>
                  <a:srgbClr val="4B4A4A"/>
                </a:solidFill>
                <a:latin typeface="Verdana"/>
                <a:cs typeface="Verdana"/>
              </a:rPr>
              <a:t>·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Dashboards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95"/>
              </a:spcBef>
            </a:pPr>
            <a:endParaRPr sz="1350">
              <a:latin typeface="Verdana"/>
              <a:cs typeface="Verdana"/>
            </a:endParaRPr>
          </a:p>
          <a:p>
            <a:pPr marL="193675">
              <a:lnSpc>
                <a:spcPct val="100000"/>
              </a:lnSpc>
            </a:pPr>
            <a:r>
              <a:rPr sz="1650" b="1" spc="105" dirty="0">
                <a:solidFill>
                  <a:srgbClr val="4B4A4A"/>
                </a:solidFill>
                <a:latin typeface="Times New Roman"/>
                <a:cs typeface="Times New Roman"/>
              </a:rPr>
              <a:t>Key</a:t>
            </a:r>
            <a:r>
              <a:rPr sz="1650" b="1" spc="10" dirty="0">
                <a:solidFill>
                  <a:srgbClr val="4B4A4A"/>
                </a:solidFill>
                <a:latin typeface="Times New Roman"/>
                <a:cs typeface="Times New Roman"/>
              </a:rPr>
              <a:t xml:space="preserve"> </a:t>
            </a:r>
            <a:r>
              <a:rPr sz="1650" b="1" spc="145" dirty="0">
                <a:solidFill>
                  <a:srgbClr val="4B4A4A"/>
                </a:solidFill>
                <a:latin typeface="Times New Roman"/>
                <a:cs typeface="Times New Roman"/>
              </a:rPr>
              <a:t>Deliverables</a:t>
            </a:r>
            <a:endParaRPr sz="1650">
              <a:latin typeface="Times New Roman"/>
              <a:cs typeface="Times New Roman"/>
            </a:endParaRPr>
          </a:p>
          <a:p>
            <a:pPr marL="193675" marR="506095">
              <a:lnSpc>
                <a:spcPct val="134300"/>
              </a:lnSpc>
              <a:spcBef>
                <a:spcPts val="390"/>
              </a:spcBef>
            </a:pP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KPI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Summary </a:t>
            </a:r>
            <a:r>
              <a:rPr sz="1350" spc="-225" dirty="0">
                <a:solidFill>
                  <a:srgbClr val="4B4A4A"/>
                </a:solidFill>
                <a:latin typeface="Verdana"/>
                <a:cs typeface="Verdana"/>
              </a:rPr>
              <a:t>·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Revenue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Analysis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225" dirty="0">
                <a:solidFill>
                  <a:srgbClr val="4B4A4A"/>
                </a:solidFill>
                <a:latin typeface="Verdana"/>
                <a:cs typeface="Verdana"/>
              </a:rPr>
              <a:t>·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Profit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Comparison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225" dirty="0">
                <a:solidFill>
                  <a:srgbClr val="4B4A4A"/>
                </a:solidFill>
                <a:latin typeface="Verdana"/>
                <a:cs typeface="Verdana"/>
              </a:rPr>
              <a:t>·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 xml:space="preserve"> </a:t>
            </a:r>
            <a:r>
              <a:rPr sz="1350" spc="-40" dirty="0">
                <a:solidFill>
                  <a:srgbClr val="4B4A4A"/>
                </a:solidFill>
                <a:latin typeface="Verdana"/>
                <a:cs typeface="Verdana"/>
              </a:rPr>
              <a:t xml:space="preserve">Executive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Dashboard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647</Words>
  <Application>Microsoft Office PowerPoint</Application>
  <PresentationFormat>Custom</PresentationFormat>
  <Paragraphs>137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Tahoma</vt:lpstr>
      <vt:lpstr>Times New Roman</vt:lpstr>
      <vt:lpstr>Verdana</vt:lpstr>
      <vt:lpstr>Office Theme</vt:lpstr>
      <vt:lpstr>Sprin” 7 – EX7: Rcgional Salcs Ẩnalysis</vt:lpstr>
      <vt:lpstr>Business Problem &amp; Objective</vt:lpstr>
      <vt:lpstr>Dataset Overview &amp; KPIs</vt:lpstr>
      <vt:lpstr>Region-wise Revenue Analysis</vt:lpstr>
      <vt:lpstr>Revenue Contribution by Region</vt:lpstr>
      <vt:lpstr>Region-wise Profit Analysis</vt:lpstr>
      <vt:lpstr>Profit Margin Comparison</vt:lpstr>
      <vt:lpstr>Regional Performance Summary</vt:lpstr>
      <vt:lpstr>Business Insights &amp; Recommendations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Chaitali Badhe</cp:lastModifiedBy>
  <cp:revision>1</cp:revision>
  <dcterms:created xsi:type="dcterms:W3CDTF">2026-06-19T06:52:21Z</dcterms:created>
  <dcterms:modified xsi:type="dcterms:W3CDTF">2026-06-19T06:59:05Z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2026-06-16T00:00:00Z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2026-06-19T00:00:00Z</vt:filetime>
  </property>
  <property fmtid="{D5CDD505-2E9C-101B-9397-08002B2CF9AE}" pid="6" name="Producer">
    <vt:lpwstr>GPL Ghostscript 9.56.1</vt:lpwstr>
  </property>
</Properties>
</file>