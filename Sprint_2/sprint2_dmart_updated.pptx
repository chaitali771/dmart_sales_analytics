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8807450"/>
  <p:notesSz cx="11430000" cy="88074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69" autoAdjust="0"/>
    <p:restoredTop sz="94660"/>
  </p:normalViewPr>
  <p:slideViewPr>
    <p:cSldViewPr>
      <p:cViewPr varScale="1">
        <p:scale>
          <a:sx n="61" d="100"/>
          <a:sy n="61" d="100"/>
        </p:scale>
        <p:origin x="221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0075" y="552449"/>
            <a:ext cx="1362075" cy="323850"/>
          </a:xfrm>
          <a:custGeom>
            <a:avLst/>
            <a:gdLst/>
            <a:ahLst/>
            <a:cxnLst/>
            <a:rect l="l" t="t" r="r" b="b"/>
            <a:pathLst>
              <a:path w="1362075" h="323850">
                <a:moveTo>
                  <a:pt x="1265961" y="0"/>
                </a:moveTo>
                <a:lnTo>
                  <a:pt x="96113" y="0"/>
                </a:lnTo>
                <a:lnTo>
                  <a:pt x="89425" y="660"/>
                </a:lnTo>
                <a:lnTo>
                  <a:pt x="51335" y="13589"/>
                </a:lnTo>
                <a:lnTo>
                  <a:pt x="21088" y="40093"/>
                </a:lnTo>
                <a:lnTo>
                  <a:pt x="3294" y="76174"/>
                </a:lnTo>
                <a:lnTo>
                  <a:pt x="0" y="96113"/>
                </a:lnTo>
                <a:lnTo>
                  <a:pt x="0" y="220980"/>
                </a:lnTo>
                <a:lnTo>
                  <a:pt x="0" y="227736"/>
                </a:lnTo>
                <a:lnTo>
                  <a:pt x="10412" y="266585"/>
                </a:lnTo>
                <a:lnTo>
                  <a:pt x="34904" y="298500"/>
                </a:lnTo>
                <a:lnTo>
                  <a:pt x="69745" y="318604"/>
                </a:lnTo>
                <a:lnTo>
                  <a:pt x="96113" y="323850"/>
                </a:lnTo>
                <a:lnTo>
                  <a:pt x="1265961" y="323850"/>
                </a:lnTo>
                <a:lnTo>
                  <a:pt x="1304810" y="313436"/>
                </a:lnTo>
                <a:lnTo>
                  <a:pt x="1336725" y="288937"/>
                </a:lnTo>
                <a:lnTo>
                  <a:pt x="1356829" y="254101"/>
                </a:lnTo>
                <a:lnTo>
                  <a:pt x="1362075" y="227736"/>
                </a:lnTo>
                <a:lnTo>
                  <a:pt x="1362075" y="96113"/>
                </a:lnTo>
                <a:lnTo>
                  <a:pt x="1351661" y="57264"/>
                </a:lnTo>
                <a:lnTo>
                  <a:pt x="1327175" y="25349"/>
                </a:lnTo>
                <a:lnTo>
                  <a:pt x="1292326" y="5245"/>
                </a:lnTo>
                <a:lnTo>
                  <a:pt x="1272654" y="660"/>
                </a:lnTo>
                <a:lnTo>
                  <a:pt x="1265961" y="0"/>
                </a:lnTo>
                <a:close/>
              </a:path>
            </a:pathLst>
          </a:custGeom>
          <a:solidFill>
            <a:srgbClr val="CCF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87375" y="1906587"/>
            <a:ext cx="4738370" cy="3589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873125"/>
            <a:ext cx="554037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2285142"/>
            <a:ext cx="10287000" cy="384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00664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3756" y="0"/>
            <a:ext cx="11430000" cy="8807197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88071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73625" y="1682750"/>
            <a:ext cx="4777105" cy="137024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25"/>
              </a:spcBef>
            </a:pPr>
            <a:r>
              <a:rPr lang="en-US" sz="4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DMART SALES   ANALYTICS</a:t>
            </a:r>
            <a:r>
              <a:rPr lang="en-US" sz="40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sz="4000" spc="-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03756" y="3779443"/>
            <a:ext cx="10287000" cy="1666385"/>
          </a:xfrm>
          <a:prstGeom prst="rect">
            <a:avLst/>
          </a:prstGeom>
        </p:spPr>
        <p:txBody>
          <a:bodyPr vert="horz" wrap="square" lIns="0" tIns="222789" rIns="0" bIns="0" rtlCol="0">
            <a:spAutoFit/>
          </a:bodyPr>
          <a:lstStyle/>
          <a:p>
            <a:pPr marL="4314825" marR="5080">
              <a:lnSpc>
                <a:spcPts val="5780"/>
              </a:lnSpc>
              <a:spcBef>
                <a:spcPts val="130"/>
              </a:spcBef>
            </a:pPr>
            <a:r>
              <a:rPr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</a:t>
            </a:r>
            <a:r>
              <a:rPr spc="-4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spc="-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  <a:r>
              <a:rPr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spc="-3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"/>
            <a:ext cx="11430000" cy="8807197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00075" y="714374"/>
            <a:ext cx="1447800" cy="323850"/>
          </a:xfrm>
          <a:custGeom>
            <a:avLst/>
            <a:gdLst/>
            <a:ahLst/>
            <a:cxnLst/>
            <a:rect l="l" t="t" r="r" b="b"/>
            <a:pathLst>
              <a:path w="1447800" h="323850">
                <a:moveTo>
                  <a:pt x="1351686" y="0"/>
                </a:moveTo>
                <a:lnTo>
                  <a:pt x="96113" y="0"/>
                </a:lnTo>
                <a:lnTo>
                  <a:pt x="89425" y="660"/>
                </a:lnTo>
                <a:lnTo>
                  <a:pt x="51335" y="13589"/>
                </a:lnTo>
                <a:lnTo>
                  <a:pt x="21088" y="40093"/>
                </a:lnTo>
                <a:lnTo>
                  <a:pt x="3294" y="76174"/>
                </a:lnTo>
                <a:lnTo>
                  <a:pt x="0" y="96113"/>
                </a:lnTo>
                <a:lnTo>
                  <a:pt x="0" y="220980"/>
                </a:lnTo>
                <a:lnTo>
                  <a:pt x="0" y="227736"/>
                </a:lnTo>
                <a:lnTo>
                  <a:pt x="10412" y="266585"/>
                </a:lnTo>
                <a:lnTo>
                  <a:pt x="34904" y="298500"/>
                </a:lnTo>
                <a:lnTo>
                  <a:pt x="69745" y="318604"/>
                </a:lnTo>
                <a:lnTo>
                  <a:pt x="96113" y="323850"/>
                </a:lnTo>
                <a:lnTo>
                  <a:pt x="1351686" y="323850"/>
                </a:lnTo>
                <a:lnTo>
                  <a:pt x="1390535" y="313436"/>
                </a:lnTo>
                <a:lnTo>
                  <a:pt x="1422450" y="288937"/>
                </a:lnTo>
                <a:lnTo>
                  <a:pt x="1442554" y="254101"/>
                </a:lnTo>
                <a:lnTo>
                  <a:pt x="1447800" y="227736"/>
                </a:lnTo>
                <a:lnTo>
                  <a:pt x="1447800" y="96113"/>
                </a:lnTo>
                <a:lnTo>
                  <a:pt x="1437386" y="57264"/>
                </a:lnTo>
                <a:lnTo>
                  <a:pt x="1412900" y="25349"/>
                </a:lnTo>
                <a:lnTo>
                  <a:pt x="1378051" y="5245"/>
                </a:lnTo>
                <a:lnTo>
                  <a:pt x="1358379" y="660"/>
                </a:lnTo>
                <a:lnTo>
                  <a:pt x="1351686" y="0"/>
                </a:lnTo>
                <a:close/>
              </a:path>
            </a:pathLst>
          </a:custGeom>
          <a:solidFill>
            <a:srgbClr val="CCF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0215" y="774065"/>
            <a:ext cx="126809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solidFill>
                  <a:srgbClr val="4B4A4A"/>
                </a:solidFill>
                <a:latin typeface="Verdana"/>
                <a:cs typeface="Verdana"/>
              </a:rPr>
              <a:t>SPRINT </a:t>
            </a:r>
            <a:r>
              <a:rPr sz="1050" spc="-10" dirty="0">
                <a:solidFill>
                  <a:srgbClr val="4B4A4A"/>
                </a:solidFill>
                <a:latin typeface="Verdana"/>
                <a:cs typeface="Verdana"/>
              </a:rPr>
              <a:t>OBJECTIVE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87375" y="1082675"/>
            <a:ext cx="5043170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-185" dirty="0"/>
              <a:t>What</a:t>
            </a:r>
            <a:r>
              <a:rPr spc="-275" dirty="0"/>
              <a:t> </a:t>
            </a:r>
            <a:r>
              <a:rPr spc="-320" dirty="0"/>
              <a:t>We're</a:t>
            </a:r>
            <a:r>
              <a:rPr spc="-275" dirty="0"/>
              <a:t> </a:t>
            </a:r>
            <a:r>
              <a:rPr spc="-100" dirty="0"/>
              <a:t>Building</a:t>
            </a:r>
            <a:r>
              <a:rPr spc="-275" dirty="0"/>
              <a:t> </a:t>
            </a:r>
            <a:r>
              <a:rPr spc="-25" dirty="0"/>
              <a:t>in </a:t>
            </a:r>
            <a:r>
              <a:rPr spc="-140" dirty="0"/>
              <a:t>Sprint</a:t>
            </a:r>
            <a:r>
              <a:rPr spc="-265" dirty="0"/>
              <a:t> </a:t>
            </a:r>
            <a:r>
              <a:rPr spc="-459" dirty="0"/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7375" y="2374264"/>
            <a:ext cx="5847080" cy="8445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35"/>
              </a:spcBef>
            </a:pP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After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completing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data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cleaning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in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Sprint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85" dirty="0">
                <a:solidFill>
                  <a:srgbClr val="4B4A4A"/>
                </a:solidFill>
                <a:latin typeface="Verdana"/>
                <a:cs typeface="Verdana"/>
              </a:rPr>
              <a:t>1,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we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now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build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b="1" spc="65" dirty="0">
                <a:solidFill>
                  <a:srgbClr val="4B4A4A"/>
                </a:solidFill>
                <a:latin typeface="Trebuchet MS"/>
                <a:cs typeface="Trebuchet MS"/>
              </a:rPr>
              <a:t>business-</a:t>
            </a:r>
            <a:r>
              <a:rPr sz="1350" b="1" spc="-10" dirty="0">
                <a:solidFill>
                  <a:srgbClr val="4B4A4A"/>
                </a:solidFill>
                <a:latin typeface="Trebuchet MS"/>
                <a:cs typeface="Trebuchet MS"/>
              </a:rPr>
              <a:t>critical </a:t>
            </a:r>
            <a:r>
              <a:rPr sz="1350" b="1" spc="85" dirty="0">
                <a:solidFill>
                  <a:srgbClr val="4B4A4A"/>
                </a:solidFill>
                <a:latin typeface="Trebuchet MS"/>
                <a:cs typeface="Trebuchet MS"/>
              </a:rPr>
              <a:t>KPIs</a:t>
            </a:r>
            <a:r>
              <a:rPr sz="1350" b="1" spc="-30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using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Excel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formulas.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The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goal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is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clean,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calculation-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ready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dataset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that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B4A4A"/>
                </a:solidFill>
                <a:latin typeface="Verdana"/>
                <a:cs typeface="Verdana"/>
              </a:rPr>
              <a:t>feeds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directly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into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future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dashboard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reporting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senior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management.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0075" y="3448050"/>
            <a:ext cx="5943600" cy="2276475"/>
            <a:chOff x="600075" y="3448050"/>
            <a:chExt cx="5943600" cy="2276475"/>
          </a:xfrm>
        </p:grpSpPr>
        <p:sp>
          <p:nvSpPr>
            <p:cNvPr id="9" name="object 9"/>
            <p:cNvSpPr/>
            <p:nvPr/>
          </p:nvSpPr>
          <p:spPr>
            <a:xfrm>
              <a:off x="604837" y="3452812"/>
              <a:ext cx="5934075" cy="2266950"/>
            </a:xfrm>
            <a:custGeom>
              <a:avLst/>
              <a:gdLst/>
              <a:ahLst/>
              <a:cxnLst/>
              <a:rect l="l" t="t" r="r" b="b"/>
              <a:pathLst>
                <a:path w="5934075" h="2266950">
                  <a:moveTo>
                    <a:pt x="5818378" y="0"/>
                  </a:moveTo>
                  <a:lnTo>
                    <a:pt x="115694" y="0"/>
                  </a:lnTo>
                  <a:lnTo>
                    <a:pt x="107642" y="800"/>
                  </a:lnTo>
                  <a:lnTo>
                    <a:pt x="68926" y="12534"/>
                  </a:lnTo>
                  <a:lnTo>
                    <a:pt x="30519" y="42011"/>
                  </a:lnTo>
                  <a:lnTo>
                    <a:pt x="6315" y="83947"/>
                  </a:lnTo>
                  <a:lnTo>
                    <a:pt x="0" y="115697"/>
                  </a:lnTo>
                  <a:lnTo>
                    <a:pt x="0" y="2143126"/>
                  </a:lnTo>
                  <a:lnTo>
                    <a:pt x="0" y="2151251"/>
                  </a:lnTo>
                  <a:lnTo>
                    <a:pt x="12536" y="2198018"/>
                  </a:lnTo>
                  <a:lnTo>
                    <a:pt x="42014" y="2236431"/>
                  </a:lnTo>
                  <a:lnTo>
                    <a:pt x="83949" y="2260635"/>
                  </a:lnTo>
                  <a:lnTo>
                    <a:pt x="115694" y="2266951"/>
                  </a:lnTo>
                  <a:lnTo>
                    <a:pt x="5818378" y="2266951"/>
                  </a:lnTo>
                  <a:lnTo>
                    <a:pt x="5865152" y="2254410"/>
                  </a:lnTo>
                  <a:lnTo>
                    <a:pt x="5903556" y="2224932"/>
                  </a:lnTo>
                  <a:lnTo>
                    <a:pt x="5927763" y="2182996"/>
                  </a:lnTo>
                  <a:lnTo>
                    <a:pt x="5934075" y="2151251"/>
                  </a:lnTo>
                  <a:lnTo>
                    <a:pt x="5934075" y="115697"/>
                  </a:lnTo>
                  <a:lnTo>
                    <a:pt x="5921540" y="68922"/>
                  </a:lnTo>
                  <a:lnTo>
                    <a:pt x="5892050" y="30518"/>
                  </a:lnTo>
                  <a:lnTo>
                    <a:pt x="5850128" y="6311"/>
                  </a:lnTo>
                  <a:lnTo>
                    <a:pt x="5826429" y="800"/>
                  </a:lnTo>
                  <a:lnTo>
                    <a:pt x="5818378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4837" y="3452812"/>
              <a:ext cx="5934075" cy="2266950"/>
            </a:xfrm>
            <a:custGeom>
              <a:avLst/>
              <a:gdLst/>
              <a:ahLst/>
              <a:cxnLst/>
              <a:rect l="l" t="t" r="r" b="b"/>
              <a:pathLst>
                <a:path w="5934075" h="2266950">
                  <a:moveTo>
                    <a:pt x="0" y="2143126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85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800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5810250" y="0"/>
                  </a:lnTo>
                  <a:lnTo>
                    <a:pt x="5818378" y="0"/>
                  </a:lnTo>
                  <a:lnTo>
                    <a:pt x="5826429" y="800"/>
                  </a:lnTo>
                  <a:lnTo>
                    <a:pt x="5834405" y="2374"/>
                  </a:lnTo>
                  <a:lnTo>
                    <a:pt x="5842381" y="3962"/>
                  </a:lnTo>
                  <a:lnTo>
                    <a:pt x="5850128" y="6311"/>
                  </a:lnTo>
                  <a:lnTo>
                    <a:pt x="5857633" y="9423"/>
                  </a:lnTo>
                  <a:lnTo>
                    <a:pt x="5865152" y="12534"/>
                  </a:lnTo>
                  <a:lnTo>
                    <a:pt x="5897803" y="36271"/>
                  </a:lnTo>
                  <a:lnTo>
                    <a:pt x="5903556" y="42011"/>
                  </a:lnTo>
                  <a:lnTo>
                    <a:pt x="5908687" y="48272"/>
                  </a:lnTo>
                  <a:lnTo>
                    <a:pt x="5913208" y="55029"/>
                  </a:lnTo>
                  <a:lnTo>
                    <a:pt x="5917730" y="61785"/>
                  </a:lnTo>
                  <a:lnTo>
                    <a:pt x="5921540" y="68922"/>
                  </a:lnTo>
                  <a:lnTo>
                    <a:pt x="5924651" y="76441"/>
                  </a:lnTo>
                  <a:lnTo>
                    <a:pt x="5927763" y="83947"/>
                  </a:lnTo>
                  <a:lnTo>
                    <a:pt x="5930112" y="91694"/>
                  </a:lnTo>
                  <a:lnTo>
                    <a:pt x="5931700" y="99669"/>
                  </a:lnTo>
                  <a:lnTo>
                    <a:pt x="5933287" y="107645"/>
                  </a:lnTo>
                  <a:lnTo>
                    <a:pt x="5934075" y="115697"/>
                  </a:lnTo>
                  <a:lnTo>
                    <a:pt x="5934075" y="123825"/>
                  </a:lnTo>
                  <a:lnTo>
                    <a:pt x="5934075" y="2143126"/>
                  </a:lnTo>
                  <a:lnTo>
                    <a:pt x="5934075" y="2151251"/>
                  </a:lnTo>
                  <a:lnTo>
                    <a:pt x="5933287" y="2159308"/>
                  </a:lnTo>
                  <a:lnTo>
                    <a:pt x="5931700" y="2167280"/>
                  </a:lnTo>
                  <a:lnTo>
                    <a:pt x="5930112" y="2175253"/>
                  </a:lnTo>
                  <a:lnTo>
                    <a:pt x="5927763" y="2182996"/>
                  </a:lnTo>
                  <a:lnTo>
                    <a:pt x="5924651" y="2190507"/>
                  </a:lnTo>
                  <a:lnTo>
                    <a:pt x="5921540" y="2198018"/>
                  </a:lnTo>
                  <a:lnTo>
                    <a:pt x="5897803" y="2230681"/>
                  </a:lnTo>
                  <a:lnTo>
                    <a:pt x="5892050" y="2236431"/>
                  </a:lnTo>
                  <a:lnTo>
                    <a:pt x="5857633" y="2257525"/>
                  </a:lnTo>
                  <a:lnTo>
                    <a:pt x="5850128" y="2260635"/>
                  </a:lnTo>
                  <a:lnTo>
                    <a:pt x="5842381" y="2262982"/>
                  </a:lnTo>
                  <a:lnTo>
                    <a:pt x="5834405" y="2264570"/>
                  </a:lnTo>
                  <a:lnTo>
                    <a:pt x="5826429" y="2266157"/>
                  </a:lnTo>
                  <a:lnTo>
                    <a:pt x="5818378" y="2266951"/>
                  </a:lnTo>
                  <a:lnTo>
                    <a:pt x="5810250" y="2266951"/>
                  </a:lnTo>
                  <a:lnTo>
                    <a:pt x="123825" y="2266951"/>
                  </a:lnTo>
                  <a:lnTo>
                    <a:pt x="115694" y="2266951"/>
                  </a:lnTo>
                  <a:lnTo>
                    <a:pt x="107642" y="2266157"/>
                  </a:lnTo>
                  <a:lnTo>
                    <a:pt x="99669" y="2264570"/>
                  </a:lnTo>
                  <a:lnTo>
                    <a:pt x="91692" y="2262982"/>
                  </a:lnTo>
                  <a:lnTo>
                    <a:pt x="55031" y="2246080"/>
                  </a:lnTo>
                  <a:lnTo>
                    <a:pt x="36269" y="2230681"/>
                  </a:lnTo>
                  <a:lnTo>
                    <a:pt x="30519" y="2224932"/>
                  </a:lnTo>
                  <a:lnTo>
                    <a:pt x="9425" y="2190507"/>
                  </a:lnTo>
                  <a:lnTo>
                    <a:pt x="6315" y="2182996"/>
                  </a:lnTo>
                  <a:lnTo>
                    <a:pt x="3963" y="2175253"/>
                  </a:lnTo>
                  <a:lnTo>
                    <a:pt x="2381" y="2167280"/>
                  </a:lnTo>
                  <a:lnTo>
                    <a:pt x="793" y="2159308"/>
                  </a:lnTo>
                  <a:lnTo>
                    <a:pt x="0" y="2151251"/>
                  </a:lnTo>
                  <a:lnTo>
                    <a:pt x="0" y="2143126"/>
                  </a:lnTo>
                  <a:close/>
                </a:path>
              </a:pathLst>
            </a:custGeom>
            <a:ln w="9525">
              <a:solidFill>
                <a:srgbClr val="B6D5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600" y="3457575"/>
              <a:ext cx="2962275" cy="1266825"/>
            </a:xfrm>
            <a:custGeom>
              <a:avLst/>
              <a:gdLst/>
              <a:ahLst/>
              <a:cxnLst/>
              <a:rect l="l" t="t" r="r" b="b"/>
              <a:pathLst>
                <a:path w="2962275" h="1266825">
                  <a:moveTo>
                    <a:pt x="2962275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85"/>
                  </a:lnTo>
                  <a:lnTo>
                    <a:pt x="0" y="120142"/>
                  </a:lnTo>
                  <a:lnTo>
                    <a:pt x="0" y="1266825"/>
                  </a:lnTo>
                  <a:lnTo>
                    <a:pt x="2962275" y="1266825"/>
                  </a:lnTo>
                  <a:lnTo>
                    <a:pt x="2962275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68350" y="3481784"/>
            <a:ext cx="2318385" cy="103251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Input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Cleaned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order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4B4A4A"/>
                </a:solidFill>
                <a:latin typeface="Verdana"/>
                <a:cs typeface="Verdana"/>
              </a:rPr>
              <a:t>&amp;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product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data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from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Sprint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95" dirty="0">
                <a:solidFill>
                  <a:srgbClr val="4B4A4A"/>
                </a:solidFill>
                <a:latin typeface="Verdana"/>
                <a:cs typeface="Verdana"/>
              </a:rPr>
              <a:t>1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71875" y="3457575"/>
            <a:ext cx="2962275" cy="1266825"/>
            <a:chOff x="3571875" y="3457575"/>
            <a:chExt cx="2962275" cy="1266825"/>
          </a:xfrm>
        </p:grpSpPr>
        <p:sp>
          <p:nvSpPr>
            <p:cNvPr id="14" name="object 14"/>
            <p:cNvSpPr/>
            <p:nvPr/>
          </p:nvSpPr>
          <p:spPr>
            <a:xfrm>
              <a:off x="3571875" y="3457575"/>
              <a:ext cx="2962275" cy="1266825"/>
            </a:xfrm>
            <a:custGeom>
              <a:avLst/>
              <a:gdLst/>
              <a:ahLst/>
              <a:cxnLst/>
              <a:rect l="l" t="t" r="r" b="b"/>
              <a:pathLst>
                <a:path w="2962275" h="1266825">
                  <a:moveTo>
                    <a:pt x="2842133" y="0"/>
                  </a:moveTo>
                  <a:lnTo>
                    <a:pt x="0" y="0"/>
                  </a:lnTo>
                  <a:lnTo>
                    <a:pt x="0" y="1266825"/>
                  </a:lnTo>
                  <a:lnTo>
                    <a:pt x="2962275" y="1266825"/>
                  </a:lnTo>
                  <a:lnTo>
                    <a:pt x="2962275" y="120142"/>
                  </a:lnTo>
                  <a:lnTo>
                    <a:pt x="2949257" y="71577"/>
                  </a:lnTo>
                  <a:lnTo>
                    <a:pt x="2918637" y="31686"/>
                  </a:lnTo>
                  <a:lnTo>
                    <a:pt x="2875102" y="6553"/>
                  </a:lnTo>
                  <a:lnTo>
                    <a:pt x="2842133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71875" y="3457575"/>
              <a:ext cx="19050" cy="1266825"/>
            </a:xfrm>
            <a:custGeom>
              <a:avLst/>
              <a:gdLst/>
              <a:ahLst/>
              <a:cxnLst/>
              <a:rect l="l" t="t" r="r" b="b"/>
              <a:pathLst>
                <a:path w="19050" h="126682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1257300"/>
                  </a:lnTo>
                  <a:lnTo>
                    <a:pt x="0" y="1259928"/>
                  </a:lnTo>
                  <a:lnTo>
                    <a:pt x="927" y="1262176"/>
                  </a:lnTo>
                  <a:lnTo>
                    <a:pt x="4648" y="1265897"/>
                  </a:lnTo>
                  <a:lnTo>
                    <a:pt x="6896" y="1266825"/>
                  </a:lnTo>
                  <a:lnTo>
                    <a:pt x="12153" y="1266825"/>
                  </a:lnTo>
                  <a:lnTo>
                    <a:pt x="14401" y="1265897"/>
                  </a:lnTo>
                  <a:lnTo>
                    <a:pt x="18122" y="1262176"/>
                  </a:lnTo>
                  <a:lnTo>
                    <a:pt x="19050" y="1259928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730625" y="3481784"/>
            <a:ext cx="2639695" cy="103251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Process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Excel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formulas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35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Revenue,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Profit,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Margin,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Discount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9600" y="4724400"/>
            <a:ext cx="5924550" cy="990600"/>
            <a:chOff x="609600" y="4724400"/>
            <a:chExt cx="5924550" cy="990600"/>
          </a:xfrm>
        </p:grpSpPr>
        <p:sp>
          <p:nvSpPr>
            <p:cNvPr id="18" name="object 18"/>
            <p:cNvSpPr/>
            <p:nvPr/>
          </p:nvSpPr>
          <p:spPr>
            <a:xfrm>
              <a:off x="609600" y="4724400"/>
              <a:ext cx="5924550" cy="990600"/>
            </a:xfrm>
            <a:custGeom>
              <a:avLst/>
              <a:gdLst/>
              <a:ahLst/>
              <a:cxnLst/>
              <a:rect l="l" t="t" r="r" b="b"/>
              <a:pathLst>
                <a:path w="5924550" h="990600">
                  <a:moveTo>
                    <a:pt x="5924550" y="0"/>
                  </a:moveTo>
                  <a:lnTo>
                    <a:pt x="0" y="0"/>
                  </a:lnTo>
                  <a:lnTo>
                    <a:pt x="0" y="862013"/>
                  </a:lnTo>
                  <a:lnTo>
                    <a:pt x="0" y="870456"/>
                  </a:lnTo>
                  <a:lnTo>
                    <a:pt x="13017" y="919019"/>
                  </a:lnTo>
                  <a:lnTo>
                    <a:pt x="43630" y="958905"/>
                  </a:lnTo>
                  <a:lnTo>
                    <a:pt x="87179" y="984043"/>
                  </a:lnTo>
                  <a:lnTo>
                    <a:pt x="120144" y="990596"/>
                  </a:lnTo>
                  <a:lnTo>
                    <a:pt x="5804408" y="990596"/>
                  </a:lnTo>
                  <a:lnTo>
                    <a:pt x="5852972" y="977578"/>
                  </a:lnTo>
                  <a:lnTo>
                    <a:pt x="5892850" y="946964"/>
                  </a:lnTo>
                  <a:lnTo>
                    <a:pt x="5917996" y="903417"/>
                  </a:lnTo>
                  <a:lnTo>
                    <a:pt x="5924550" y="870456"/>
                  </a:lnTo>
                  <a:lnTo>
                    <a:pt x="5924550" y="0"/>
                  </a:lnTo>
                  <a:close/>
                </a:path>
              </a:pathLst>
            </a:custGeom>
            <a:solidFill>
              <a:srgbClr val="D1EF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9600" y="4724400"/>
              <a:ext cx="5924550" cy="19050"/>
            </a:xfrm>
            <a:custGeom>
              <a:avLst/>
              <a:gdLst/>
              <a:ahLst/>
              <a:cxnLst/>
              <a:rect l="l" t="t" r="r" b="b"/>
              <a:pathLst>
                <a:path w="5924550" h="19050">
                  <a:moveTo>
                    <a:pt x="59176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17653" y="19050"/>
                  </a:lnTo>
                  <a:lnTo>
                    <a:pt x="5919901" y="18122"/>
                  </a:lnTo>
                  <a:lnTo>
                    <a:pt x="5923622" y="14401"/>
                  </a:lnTo>
                  <a:lnTo>
                    <a:pt x="5924550" y="12153"/>
                  </a:lnTo>
                  <a:lnTo>
                    <a:pt x="5924550" y="6896"/>
                  </a:lnTo>
                  <a:lnTo>
                    <a:pt x="5923622" y="4648"/>
                  </a:lnTo>
                  <a:lnTo>
                    <a:pt x="5919901" y="927"/>
                  </a:lnTo>
                  <a:lnTo>
                    <a:pt x="5917653" y="0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68350" y="4748609"/>
            <a:ext cx="3438525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Output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KPI 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summary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ready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dashboard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reporting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07450"/>
          </a:xfrm>
          <a:custGeom>
            <a:avLst/>
            <a:gdLst/>
            <a:ahLst/>
            <a:cxnLst/>
            <a:rect l="l" t="t" r="r" b="b"/>
            <a:pathLst>
              <a:path w="11430000" h="7515225">
                <a:moveTo>
                  <a:pt x="11429999" y="7515224"/>
                </a:moveTo>
                <a:lnTo>
                  <a:pt x="0" y="75152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515224"/>
                </a:lnTo>
                <a:close/>
              </a:path>
            </a:pathLst>
          </a:custGeom>
          <a:solidFill>
            <a:srgbClr val="E4F9F1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4837" y="481012"/>
            <a:ext cx="2743200" cy="323850"/>
          </a:xfrm>
          <a:custGeom>
            <a:avLst/>
            <a:gdLst/>
            <a:ahLst/>
            <a:cxnLst/>
            <a:rect l="l" t="t" r="r" b="b"/>
            <a:pathLst>
              <a:path w="2743200" h="323850">
                <a:moveTo>
                  <a:pt x="0" y="225742"/>
                </a:moveTo>
                <a:lnTo>
                  <a:pt x="0" y="98107"/>
                </a:lnTo>
                <a:lnTo>
                  <a:pt x="0" y="91665"/>
                </a:lnTo>
                <a:lnTo>
                  <a:pt x="628" y="85285"/>
                </a:lnTo>
                <a:lnTo>
                  <a:pt x="12955" y="48958"/>
                </a:lnTo>
                <a:lnTo>
                  <a:pt x="28734" y="28735"/>
                </a:lnTo>
                <a:lnTo>
                  <a:pt x="33290" y="24179"/>
                </a:lnTo>
                <a:lnTo>
                  <a:pt x="60563" y="7467"/>
                </a:lnTo>
                <a:lnTo>
                  <a:pt x="66514" y="5002"/>
                </a:lnTo>
                <a:lnTo>
                  <a:pt x="72649" y="3141"/>
                </a:lnTo>
                <a:lnTo>
                  <a:pt x="78967" y="1885"/>
                </a:lnTo>
                <a:lnTo>
                  <a:pt x="85285" y="628"/>
                </a:lnTo>
                <a:lnTo>
                  <a:pt x="91665" y="0"/>
                </a:lnTo>
                <a:lnTo>
                  <a:pt x="98107" y="0"/>
                </a:lnTo>
                <a:lnTo>
                  <a:pt x="2645092" y="0"/>
                </a:lnTo>
                <a:lnTo>
                  <a:pt x="2651534" y="0"/>
                </a:lnTo>
                <a:lnTo>
                  <a:pt x="2657914" y="628"/>
                </a:lnTo>
                <a:lnTo>
                  <a:pt x="2664231" y="1885"/>
                </a:lnTo>
                <a:lnTo>
                  <a:pt x="2670549" y="3141"/>
                </a:lnTo>
                <a:lnTo>
                  <a:pt x="2699597" y="16534"/>
                </a:lnTo>
                <a:lnTo>
                  <a:pt x="2704954" y="20112"/>
                </a:lnTo>
                <a:lnTo>
                  <a:pt x="2726665" y="43601"/>
                </a:lnTo>
                <a:lnTo>
                  <a:pt x="2730244" y="48958"/>
                </a:lnTo>
                <a:lnTo>
                  <a:pt x="2742571" y="85285"/>
                </a:lnTo>
                <a:lnTo>
                  <a:pt x="2743199" y="98107"/>
                </a:lnTo>
                <a:lnTo>
                  <a:pt x="2743199" y="225742"/>
                </a:lnTo>
                <a:lnTo>
                  <a:pt x="2735731" y="263286"/>
                </a:lnTo>
                <a:lnTo>
                  <a:pt x="2733266" y="269237"/>
                </a:lnTo>
                <a:lnTo>
                  <a:pt x="2730244" y="274891"/>
                </a:lnTo>
                <a:lnTo>
                  <a:pt x="2726665" y="280248"/>
                </a:lnTo>
                <a:lnTo>
                  <a:pt x="2723086" y="285604"/>
                </a:lnTo>
                <a:lnTo>
                  <a:pt x="2699597" y="307315"/>
                </a:lnTo>
                <a:lnTo>
                  <a:pt x="2694241" y="310894"/>
                </a:lnTo>
                <a:lnTo>
                  <a:pt x="2657914" y="323221"/>
                </a:lnTo>
                <a:lnTo>
                  <a:pt x="2645092" y="323849"/>
                </a:lnTo>
                <a:lnTo>
                  <a:pt x="98107" y="323849"/>
                </a:lnTo>
                <a:lnTo>
                  <a:pt x="60563" y="316381"/>
                </a:lnTo>
                <a:lnTo>
                  <a:pt x="43601" y="307315"/>
                </a:lnTo>
                <a:lnTo>
                  <a:pt x="38245" y="303736"/>
                </a:lnTo>
                <a:lnTo>
                  <a:pt x="33290" y="299669"/>
                </a:lnTo>
                <a:lnTo>
                  <a:pt x="28735" y="295114"/>
                </a:lnTo>
                <a:lnTo>
                  <a:pt x="24179" y="290559"/>
                </a:lnTo>
                <a:lnTo>
                  <a:pt x="7467" y="263286"/>
                </a:lnTo>
                <a:lnTo>
                  <a:pt x="5002" y="257334"/>
                </a:lnTo>
                <a:lnTo>
                  <a:pt x="3141" y="251200"/>
                </a:lnTo>
                <a:lnTo>
                  <a:pt x="1885" y="244882"/>
                </a:lnTo>
                <a:lnTo>
                  <a:pt x="628" y="238564"/>
                </a:lnTo>
                <a:lnTo>
                  <a:pt x="0" y="232184"/>
                </a:lnTo>
                <a:lnTo>
                  <a:pt x="0" y="225742"/>
                </a:lnTo>
                <a:close/>
              </a:path>
            </a:pathLst>
          </a:custGeom>
          <a:ln w="9524">
            <a:solidFill>
              <a:srgbClr val="006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9740" y="535940"/>
            <a:ext cx="25552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45" dirty="0">
                <a:solidFill>
                  <a:srgbClr val="006646"/>
                </a:solidFill>
                <a:latin typeface="Verdana"/>
                <a:cs typeface="Verdana"/>
              </a:rPr>
              <a:t>BUSINESS</a:t>
            </a:r>
            <a:r>
              <a:rPr sz="1050" spc="-25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050" spc="-45" dirty="0">
                <a:solidFill>
                  <a:srgbClr val="006646"/>
                </a:solidFill>
                <a:latin typeface="Verdana"/>
                <a:cs typeface="Verdana"/>
              </a:rPr>
              <a:t>REQUIREMENTS</a:t>
            </a:r>
            <a:r>
              <a:rPr sz="1050" spc="-20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6646"/>
                </a:solidFill>
                <a:latin typeface="Verdana"/>
                <a:cs typeface="Verdana"/>
              </a:rPr>
              <a:t>DOCUMENT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4" y="892175"/>
            <a:ext cx="688911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09" dirty="0"/>
              <a:t>7</a:t>
            </a:r>
            <a:r>
              <a:rPr spc="-260" dirty="0"/>
              <a:t> </a:t>
            </a:r>
            <a:r>
              <a:rPr spc="-215" dirty="0"/>
              <a:t>Business</a:t>
            </a:r>
            <a:r>
              <a:rPr spc="-254" dirty="0"/>
              <a:t> </a:t>
            </a:r>
            <a:r>
              <a:rPr spc="-195" dirty="0"/>
              <a:t>Requirements</a:t>
            </a:r>
            <a:r>
              <a:rPr spc="-254" dirty="0"/>
              <a:t> </a:t>
            </a:r>
            <a:r>
              <a:rPr spc="-330" dirty="0"/>
              <a:t>(BRD)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0074" y="2143124"/>
            <a:ext cx="3295650" cy="1524000"/>
            <a:chOff x="600074" y="2143124"/>
            <a:chExt cx="3295650" cy="1524000"/>
          </a:xfrm>
        </p:grpSpPr>
        <p:sp>
          <p:nvSpPr>
            <p:cNvPr id="7" name="object 7"/>
            <p:cNvSpPr/>
            <p:nvPr/>
          </p:nvSpPr>
          <p:spPr>
            <a:xfrm>
              <a:off x="609599" y="2400299"/>
              <a:ext cx="3276600" cy="1257300"/>
            </a:xfrm>
            <a:custGeom>
              <a:avLst/>
              <a:gdLst/>
              <a:ahLst/>
              <a:cxnLst/>
              <a:rect l="l" t="t" r="r" b="b"/>
              <a:pathLst>
                <a:path w="3276600" h="1257300">
                  <a:moveTo>
                    <a:pt x="3165354" y="1257299"/>
                  </a:moveTo>
                  <a:lnTo>
                    <a:pt x="111244" y="1257299"/>
                  </a:lnTo>
                  <a:lnTo>
                    <a:pt x="103502" y="1256536"/>
                  </a:lnTo>
                  <a:lnTo>
                    <a:pt x="66276" y="1245244"/>
                  </a:lnTo>
                  <a:lnTo>
                    <a:pt x="29344" y="1216899"/>
                  </a:lnTo>
                  <a:lnTo>
                    <a:pt x="6071" y="1176577"/>
                  </a:lnTo>
                  <a:lnTo>
                    <a:pt x="0" y="1146054"/>
                  </a:lnTo>
                  <a:lnTo>
                    <a:pt x="0" y="1138237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3214302" y="0"/>
                  </a:lnTo>
                  <a:lnTo>
                    <a:pt x="3250607" y="15621"/>
                  </a:lnTo>
                  <a:lnTo>
                    <a:pt x="3273199" y="51661"/>
                  </a:lnTo>
                  <a:lnTo>
                    <a:pt x="3276599" y="71196"/>
                  </a:lnTo>
                  <a:lnTo>
                    <a:pt x="3276599" y="1146054"/>
                  </a:lnTo>
                  <a:lnTo>
                    <a:pt x="3264544" y="1191022"/>
                  </a:lnTo>
                  <a:lnTo>
                    <a:pt x="3236198" y="1227954"/>
                  </a:lnTo>
                  <a:lnTo>
                    <a:pt x="3195877" y="1251227"/>
                  </a:lnTo>
                  <a:lnTo>
                    <a:pt x="3173097" y="1256536"/>
                  </a:lnTo>
                  <a:lnTo>
                    <a:pt x="3165354" y="1257299"/>
                  </a:lnTo>
                  <a:close/>
                </a:path>
              </a:pathLst>
            </a:custGeom>
            <a:solidFill>
              <a:srgbClr val="E4F9F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0062" y="2401150"/>
              <a:ext cx="3295650" cy="1266190"/>
            </a:xfrm>
            <a:custGeom>
              <a:avLst/>
              <a:gdLst/>
              <a:ahLst/>
              <a:cxnLst/>
              <a:rect l="l" t="t" r="r" b="b"/>
              <a:pathLst>
                <a:path w="3295650" h="1266189">
                  <a:moveTo>
                    <a:pt x="3295650" y="75349"/>
                  </a:moveTo>
                  <a:lnTo>
                    <a:pt x="3282823" y="33007"/>
                  </a:lnTo>
                  <a:lnTo>
                    <a:pt x="3248622" y="4953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29" y="8826"/>
                  </a:lnTo>
                  <a:lnTo>
                    <a:pt x="3272256" y="46189"/>
                  </a:lnTo>
                  <a:lnTo>
                    <a:pt x="3276600" y="75349"/>
                  </a:lnTo>
                  <a:lnTo>
                    <a:pt x="3276600" y="1137386"/>
                  </a:lnTo>
                  <a:lnTo>
                    <a:pt x="3268268" y="1179309"/>
                  </a:lnTo>
                  <a:lnTo>
                    <a:pt x="3244062" y="1215263"/>
                  </a:lnTo>
                  <a:lnTo>
                    <a:pt x="3208985" y="1238592"/>
                  </a:lnTo>
                  <a:lnTo>
                    <a:pt x="3167062" y="1246924"/>
                  </a:lnTo>
                  <a:lnTo>
                    <a:pt x="128587" y="1246924"/>
                  </a:lnTo>
                  <a:lnTo>
                    <a:pt x="86677" y="1238592"/>
                  </a:lnTo>
                  <a:lnTo>
                    <a:pt x="51638" y="1215301"/>
                  </a:lnTo>
                  <a:lnTo>
                    <a:pt x="27393" y="1179309"/>
                  </a:lnTo>
                  <a:lnTo>
                    <a:pt x="19050" y="1137386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137386"/>
                  </a:lnTo>
                  <a:lnTo>
                    <a:pt x="9791" y="1186599"/>
                  </a:lnTo>
                  <a:lnTo>
                    <a:pt x="37706" y="1228280"/>
                  </a:lnTo>
                  <a:lnTo>
                    <a:pt x="38112" y="1228737"/>
                  </a:lnTo>
                  <a:lnTo>
                    <a:pt x="47053" y="1236840"/>
                  </a:lnTo>
                  <a:lnTo>
                    <a:pt x="91325" y="1260475"/>
                  </a:lnTo>
                  <a:lnTo>
                    <a:pt x="128587" y="1265974"/>
                  </a:lnTo>
                  <a:lnTo>
                    <a:pt x="3167062" y="1265974"/>
                  </a:lnTo>
                  <a:lnTo>
                    <a:pt x="3216275" y="1256195"/>
                  </a:lnTo>
                  <a:lnTo>
                    <a:pt x="3234169" y="1246924"/>
                  </a:lnTo>
                  <a:lnTo>
                    <a:pt x="3238525" y="1244333"/>
                  </a:lnTo>
                  <a:lnTo>
                    <a:pt x="3248609" y="1236840"/>
                  </a:lnTo>
                  <a:lnTo>
                    <a:pt x="3257486" y="1228775"/>
                  </a:lnTo>
                  <a:lnTo>
                    <a:pt x="3257994" y="1228318"/>
                  </a:lnTo>
                  <a:lnTo>
                    <a:pt x="3285871" y="1186599"/>
                  </a:lnTo>
                  <a:lnTo>
                    <a:pt x="3295650" y="1137386"/>
                  </a:lnTo>
                  <a:lnTo>
                    <a:pt x="3295650" y="75349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062" y="2143124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309321"/>
                  </a:moveTo>
                  <a:lnTo>
                    <a:pt x="3280029" y="267830"/>
                  </a:lnTo>
                  <a:lnTo>
                    <a:pt x="3243999" y="242011"/>
                  </a:lnTo>
                  <a:lnTo>
                    <a:pt x="3224453" y="238125"/>
                  </a:lnTo>
                  <a:lnTo>
                    <a:pt x="1904365" y="238125"/>
                  </a:lnTo>
                  <a:lnTo>
                    <a:pt x="1902942" y="223596"/>
                  </a:lnTo>
                  <a:lnTo>
                    <a:pt x="1891487" y="174472"/>
                  </a:lnTo>
                  <a:lnTo>
                    <a:pt x="1870671" y="128524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29" y="26403"/>
                  </a:lnTo>
                  <a:lnTo>
                    <a:pt x="1714423" y="8636"/>
                  </a:lnTo>
                  <a:lnTo>
                    <a:pt x="1664652" y="419"/>
                  </a:lnTo>
                  <a:lnTo>
                    <a:pt x="1656257" y="0"/>
                  </a:lnTo>
                  <a:lnTo>
                    <a:pt x="1639404" y="0"/>
                  </a:lnTo>
                  <a:lnTo>
                    <a:pt x="1589392" y="6591"/>
                  </a:lnTo>
                  <a:lnTo>
                    <a:pt x="1541627" y="22809"/>
                  </a:lnTo>
                  <a:lnTo>
                    <a:pt x="1497952" y="48031"/>
                  </a:lnTo>
                  <a:lnTo>
                    <a:pt x="1460030" y="81292"/>
                  </a:lnTo>
                  <a:lnTo>
                    <a:pt x="1429321" y="121310"/>
                  </a:lnTo>
                  <a:lnTo>
                    <a:pt x="1407007" y="166547"/>
                  </a:lnTo>
                  <a:lnTo>
                    <a:pt x="1393952" y="215265"/>
                  </a:lnTo>
                  <a:lnTo>
                    <a:pt x="1391285" y="238125"/>
                  </a:lnTo>
                  <a:lnTo>
                    <a:pt x="71208" y="238125"/>
                  </a:lnTo>
                  <a:lnTo>
                    <a:pt x="29705" y="253758"/>
                  </a:lnTo>
                  <a:lnTo>
                    <a:pt x="3886" y="289788"/>
                  </a:lnTo>
                  <a:lnTo>
                    <a:pt x="0" y="309321"/>
                  </a:lnTo>
                  <a:lnTo>
                    <a:pt x="0" y="314325"/>
                  </a:lnTo>
                  <a:lnTo>
                    <a:pt x="1396974" y="314325"/>
                  </a:lnTo>
                  <a:lnTo>
                    <a:pt x="1397241" y="315620"/>
                  </a:lnTo>
                  <a:lnTo>
                    <a:pt x="1413459" y="363385"/>
                  </a:lnTo>
                  <a:lnTo>
                    <a:pt x="1438681" y="407060"/>
                  </a:lnTo>
                  <a:lnTo>
                    <a:pt x="1471942" y="444982"/>
                  </a:lnTo>
                  <a:lnTo>
                    <a:pt x="1511960" y="475691"/>
                  </a:lnTo>
                  <a:lnTo>
                    <a:pt x="1557197" y="498005"/>
                  </a:lnTo>
                  <a:lnTo>
                    <a:pt x="1605915" y="511060"/>
                  </a:lnTo>
                  <a:lnTo>
                    <a:pt x="1639404" y="514350"/>
                  </a:lnTo>
                  <a:lnTo>
                    <a:pt x="1656257" y="514350"/>
                  </a:lnTo>
                  <a:lnTo>
                    <a:pt x="1706270" y="507771"/>
                  </a:lnTo>
                  <a:lnTo>
                    <a:pt x="1754035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14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309321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77874" y="2681684"/>
            <a:ext cx="2084070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110" dirty="0">
                <a:solidFill>
                  <a:srgbClr val="4A4A4A"/>
                </a:solidFill>
                <a:latin typeface="Verdana"/>
                <a:cs typeface="Verdana"/>
              </a:rPr>
              <a:t>Revenue </a:t>
            </a:r>
            <a:r>
              <a:rPr sz="1650" b="1" spc="-55" dirty="0">
                <a:solidFill>
                  <a:srgbClr val="4A4A4A"/>
                </a:solidFill>
                <a:latin typeface="Verdana"/>
                <a:cs typeface="Verdana"/>
              </a:rPr>
              <a:t>per</a:t>
            </a:r>
            <a:r>
              <a:rPr sz="1650" b="1" spc="-1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30" dirty="0">
                <a:solidFill>
                  <a:srgbClr val="4A4A4A"/>
                </a:solidFill>
                <a:latin typeface="Verdana"/>
                <a:cs typeface="Verdana"/>
              </a:rPr>
              <a:t>Order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50" spc="-55" dirty="0">
                <a:solidFill>
                  <a:srgbClr val="4A4A4A"/>
                </a:solidFill>
                <a:latin typeface="Verdana"/>
                <a:cs typeface="Verdana"/>
              </a:rPr>
              <a:t>Sales</a:t>
            </a:r>
            <a:r>
              <a:rPr sz="1350" spc="-114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4A4A4A"/>
                </a:solidFill>
                <a:latin typeface="Verdana"/>
                <a:cs typeface="Verdana"/>
              </a:rPr>
              <a:t>Price</a:t>
            </a:r>
            <a:r>
              <a:rPr sz="1350" spc="-1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430" dirty="0">
                <a:solidFill>
                  <a:srgbClr val="4A4A4A"/>
                </a:solidFill>
                <a:latin typeface="Verdana"/>
                <a:cs typeface="Verdana"/>
              </a:rPr>
              <a:t>×</a:t>
            </a:r>
            <a:r>
              <a:rPr sz="1350" spc="-1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Verdana"/>
                <a:cs typeface="Verdana"/>
              </a:rPr>
              <a:t>Quantity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67174" y="2143124"/>
            <a:ext cx="3295650" cy="1524000"/>
            <a:chOff x="4067174" y="2143124"/>
            <a:chExt cx="3295650" cy="1524000"/>
          </a:xfrm>
        </p:grpSpPr>
        <p:sp>
          <p:nvSpPr>
            <p:cNvPr id="12" name="object 12"/>
            <p:cNvSpPr/>
            <p:nvPr/>
          </p:nvSpPr>
          <p:spPr>
            <a:xfrm>
              <a:off x="4076699" y="2400299"/>
              <a:ext cx="3276600" cy="1257300"/>
            </a:xfrm>
            <a:custGeom>
              <a:avLst/>
              <a:gdLst/>
              <a:ahLst/>
              <a:cxnLst/>
              <a:rect l="l" t="t" r="r" b="b"/>
              <a:pathLst>
                <a:path w="3276600" h="1257300">
                  <a:moveTo>
                    <a:pt x="3165355" y="1257299"/>
                  </a:moveTo>
                  <a:lnTo>
                    <a:pt x="111244" y="1257299"/>
                  </a:lnTo>
                  <a:lnTo>
                    <a:pt x="103502" y="1256536"/>
                  </a:lnTo>
                  <a:lnTo>
                    <a:pt x="66276" y="1245244"/>
                  </a:lnTo>
                  <a:lnTo>
                    <a:pt x="29344" y="1216899"/>
                  </a:lnTo>
                  <a:lnTo>
                    <a:pt x="6071" y="1176577"/>
                  </a:lnTo>
                  <a:lnTo>
                    <a:pt x="0" y="1146054"/>
                  </a:lnTo>
                  <a:lnTo>
                    <a:pt x="0" y="1138237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3" y="3885"/>
                  </a:lnTo>
                  <a:lnTo>
                    <a:pt x="62297" y="0"/>
                  </a:lnTo>
                  <a:lnTo>
                    <a:pt x="3214302" y="0"/>
                  </a:lnTo>
                  <a:lnTo>
                    <a:pt x="3250606" y="15621"/>
                  </a:lnTo>
                  <a:lnTo>
                    <a:pt x="3273200" y="51661"/>
                  </a:lnTo>
                  <a:lnTo>
                    <a:pt x="3276600" y="71196"/>
                  </a:lnTo>
                  <a:lnTo>
                    <a:pt x="3276600" y="1146054"/>
                  </a:lnTo>
                  <a:lnTo>
                    <a:pt x="3264544" y="1191022"/>
                  </a:lnTo>
                  <a:lnTo>
                    <a:pt x="3236198" y="1227954"/>
                  </a:lnTo>
                  <a:lnTo>
                    <a:pt x="3195877" y="1251227"/>
                  </a:lnTo>
                  <a:lnTo>
                    <a:pt x="3173097" y="1256536"/>
                  </a:lnTo>
                  <a:lnTo>
                    <a:pt x="3165355" y="1257299"/>
                  </a:lnTo>
                  <a:close/>
                </a:path>
              </a:pathLst>
            </a:custGeom>
            <a:solidFill>
              <a:srgbClr val="E4F9F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67162" y="2401150"/>
              <a:ext cx="3295650" cy="1266190"/>
            </a:xfrm>
            <a:custGeom>
              <a:avLst/>
              <a:gdLst/>
              <a:ahLst/>
              <a:cxnLst/>
              <a:rect l="l" t="t" r="r" b="b"/>
              <a:pathLst>
                <a:path w="3295650" h="1266189">
                  <a:moveTo>
                    <a:pt x="3295650" y="75349"/>
                  </a:moveTo>
                  <a:lnTo>
                    <a:pt x="3282823" y="33007"/>
                  </a:lnTo>
                  <a:lnTo>
                    <a:pt x="3248609" y="4953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29" y="8826"/>
                  </a:lnTo>
                  <a:lnTo>
                    <a:pt x="3272256" y="46189"/>
                  </a:lnTo>
                  <a:lnTo>
                    <a:pt x="3276600" y="75349"/>
                  </a:lnTo>
                  <a:lnTo>
                    <a:pt x="3276600" y="1137386"/>
                  </a:lnTo>
                  <a:lnTo>
                    <a:pt x="3268268" y="1179309"/>
                  </a:lnTo>
                  <a:lnTo>
                    <a:pt x="3244062" y="1215263"/>
                  </a:lnTo>
                  <a:lnTo>
                    <a:pt x="3208985" y="1238592"/>
                  </a:lnTo>
                  <a:lnTo>
                    <a:pt x="3167062" y="1246924"/>
                  </a:lnTo>
                  <a:lnTo>
                    <a:pt x="128587" y="1246924"/>
                  </a:lnTo>
                  <a:lnTo>
                    <a:pt x="86677" y="1238592"/>
                  </a:lnTo>
                  <a:lnTo>
                    <a:pt x="51638" y="1215301"/>
                  </a:lnTo>
                  <a:lnTo>
                    <a:pt x="27393" y="1179309"/>
                  </a:lnTo>
                  <a:lnTo>
                    <a:pt x="19050" y="1137386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137386"/>
                  </a:lnTo>
                  <a:lnTo>
                    <a:pt x="9791" y="1186599"/>
                  </a:lnTo>
                  <a:lnTo>
                    <a:pt x="37706" y="1228280"/>
                  </a:lnTo>
                  <a:lnTo>
                    <a:pt x="38112" y="1228737"/>
                  </a:lnTo>
                  <a:lnTo>
                    <a:pt x="47053" y="1236840"/>
                  </a:lnTo>
                  <a:lnTo>
                    <a:pt x="91325" y="1260475"/>
                  </a:lnTo>
                  <a:lnTo>
                    <a:pt x="128587" y="1265974"/>
                  </a:lnTo>
                  <a:lnTo>
                    <a:pt x="3167062" y="1265974"/>
                  </a:lnTo>
                  <a:lnTo>
                    <a:pt x="3216275" y="1256195"/>
                  </a:lnTo>
                  <a:lnTo>
                    <a:pt x="3234169" y="1246924"/>
                  </a:lnTo>
                  <a:lnTo>
                    <a:pt x="3238525" y="1244333"/>
                  </a:lnTo>
                  <a:lnTo>
                    <a:pt x="3248609" y="1236840"/>
                  </a:lnTo>
                  <a:lnTo>
                    <a:pt x="3257486" y="1228775"/>
                  </a:lnTo>
                  <a:lnTo>
                    <a:pt x="3257994" y="1228318"/>
                  </a:lnTo>
                  <a:lnTo>
                    <a:pt x="3285871" y="1186599"/>
                  </a:lnTo>
                  <a:lnTo>
                    <a:pt x="3295650" y="1137386"/>
                  </a:lnTo>
                  <a:lnTo>
                    <a:pt x="3295650" y="75349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67162" y="2143124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309321"/>
                  </a:moveTo>
                  <a:lnTo>
                    <a:pt x="3280029" y="267830"/>
                  </a:lnTo>
                  <a:lnTo>
                    <a:pt x="3243999" y="242011"/>
                  </a:lnTo>
                  <a:lnTo>
                    <a:pt x="3224453" y="238125"/>
                  </a:lnTo>
                  <a:lnTo>
                    <a:pt x="1904365" y="238125"/>
                  </a:lnTo>
                  <a:lnTo>
                    <a:pt x="1902942" y="223596"/>
                  </a:lnTo>
                  <a:lnTo>
                    <a:pt x="1891487" y="174472"/>
                  </a:lnTo>
                  <a:lnTo>
                    <a:pt x="1870671" y="128524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29" y="26403"/>
                  </a:lnTo>
                  <a:lnTo>
                    <a:pt x="1714423" y="8636"/>
                  </a:lnTo>
                  <a:lnTo>
                    <a:pt x="1664652" y="419"/>
                  </a:lnTo>
                  <a:lnTo>
                    <a:pt x="1656257" y="0"/>
                  </a:lnTo>
                  <a:lnTo>
                    <a:pt x="1639404" y="0"/>
                  </a:lnTo>
                  <a:lnTo>
                    <a:pt x="1589392" y="6591"/>
                  </a:lnTo>
                  <a:lnTo>
                    <a:pt x="1541627" y="22809"/>
                  </a:lnTo>
                  <a:lnTo>
                    <a:pt x="1497952" y="48031"/>
                  </a:lnTo>
                  <a:lnTo>
                    <a:pt x="1460030" y="81292"/>
                  </a:lnTo>
                  <a:lnTo>
                    <a:pt x="1429321" y="121310"/>
                  </a:lnTo>
                  <a:lnTo>
                    <a:pt x="1407007" y="166547"/>
                  </a:lnTo>
                  <a:lnTo>
                    <a:pt x="1393952" y="215265"/>
                  </a:lnTo>
                  <a:lnTo>
                    <a:pt x="1391285" y="238125"/>
                  </a:lnTo>
                  <a:lnTo>
                    <a:pt x="71196" y="238125"/>
                  </a:lnTo>
                  <a:lnTo>
                    <a:pt x="29705" y="253758"/>
                  </a:lnTo>
                  <a:lnTo>
                    <a:pt x="3886" y="289788"/>
                  </a:lnTo>
                  <a:lnTo>
                    <a:pt x="0" y="309321"/>
                  </a:lnTo>
                  <a:lnTo>
                    <a:pt x="0" y="314325"/>
                  </a:lnTo>
                  <a:lnTo>
                    <a:pt x="1396974" y="314325"/>
                  </a:lnTo>
                  <a:lnTo>
                    <a:pt x="1397241" y="315620"/>
                  </a:lnTo>
                  <a:lnTo>
                    <a:pt x="1413459" y="363385"/>
                  </a:lnTo>
                  <a:lnTo>
                    <a:pt x="1438681" y="407060"/>
                  </a:lnTo>
                  <a:lnTo>
                    <a:pt x="1471942" y="444982"/>
                  </a:lnTo>
                  <a:lnTo>
                    <a:pt x="1511960" y="475691"/>
                  </a:lnTo>
                  <a:lnTo>
                    <a:pt x="1557197" y="498005"/>
                  </a:lnTo>
                  <a:lnTo>
                    <a:pt x="1605915" y="511060"/>
                  </a:lnTo>
                  <a:lnTo>
                    <a:pt x="1639404" y="514350"/>
                  </a:lnTo>
                  <a:lnTo>
                    <a:pt x="1656257" y="514350"/>
                  </a:lnTo>
                  <a:lnTo>
                    <a:pt x="1706270" y="507771"/>
                  </a:lnTo>
                  <a:lnTo>
                    <a:pt x="1754035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14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309321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7374" y="1682750"/>
            <a:ext cx="8368665" cy="85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5" dirty="0">
                <a:solidFill>
                  <a:srgbClr val="4A4A4A"/>
                </a:solidFill>
                <a:latin typeface="Verdana"/>
                <a:cs typeface="Verdana"/>
              </a:rPr>
              <a:t>Each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A4A4A"/>
                </a:solidFill>
                <a:latin typeface="Verdana"/>
                <a:cs typeface="Verdana"/>
              </a:rPr>
              <a:t>requirement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maps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A4A4A"/>
                </a:solidFill>
                <a:latin typeface="Verdana"/>
                <a:cs typeface="Verdana"/>
              </a:rPr>
              <a:t>to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a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4A4A4A"/>
                </a:solidFill>
                <a:latin typeface="Verdana"/>
                <a:cs typeface="Verdana"/>
              </a:rPr>
              <a:t>specific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A4A4A"/>
                </a:solidFill>
                <a:latin typeface="Verdana"/>
                <a:cs typeface="Verdana"/>
              </a:rPr>
              <a:t>calculation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or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reporting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A4A4A"/>
                </a:solidFill>
                <a:latin typeface="Verdana"/>
                <a:cs typeface="Verdana"/>
              </a:rPr>
              <a:t>output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A4A4A"/>
                </a:solidFill>
                <a:latin typeface="Verdana"/>
                <a:cs typeface="Verdana"/>
              </a:rPr>
              <a:t>for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A4A4A"/>
                </a:solidFill>
                <a:latin typeface="Verdana"/>
                <a:cs typeface="Verdana"/>
              </a:rPr>
              <a:t>senior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A4A4A"/>
                </a:solidFill>
                <a:latin typeface="Verdana"/>
                <a:cs typeface="Verdana"/>
              </a:rPr>
              <a:t>management's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KPI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A4A4A"/>
                </a:solidFill>
                <a:latin typeface="Verdana"/>
                <a:cs typeface="Verdana"/>
              </a:rPr>
              <a:t>summary.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350">
              <a:latin typeface="Verdana"/>
              <a:cs typeface="Verdana"/>
            </a:endParaRPr>
          </a:p>
          <a:p>
            <a:pPr marL="1599565">
              <a:lnSpc>
                <a:spcPct val="100000"/>
              </a:lnSpc>
              <a:spcBef>
                <a:spcPts val="5"/>
              </a:spcBef>
              <a:tabLst>
                <a:tab pos="5066665" algn="l"/>
              </a:tabLst>
            </a:pPr>
            <a:r>
              <a:rPr sz="1600" b="1" spc="-5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sz="1600" b="1" dirty="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sz="1600" b="1" spc="-5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4975" y="2681684"/>
            <a:ext cx="1497330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40" dirty="0">
                <a:solidFill>
                  <a:srgbClr val="4A4A4A"/>
                </a:solidFill>
                <a:latin typeface="Verdana"/>
                <a:cs typeface="Verdana"/>
              </a:rPr>
              <a:t>Profit</a:t>
            </a:r>
            <a:r>
              <a:rPr sz="1650" b="1" spc="-14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40" dirty="0">
                <a:solidFill>
                  <a:srgbClr val="4A4A4A"/>
                </a:solidFill>
                <a:latin typeface="Verdana"/>
                <a:cs typeface="Verdana"/>
              </a:rPr>
              <a:t>Earned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50" spc="-85" dirty="0">
                <a:solidFill>
                  <a:srgbClr val="4A4A4A"/>
                </a:solidFill>
                <a:latin typeface="Verdana"/>
                <a:cs typeface="Verdana"/>
              </a:rPr>
              <a:t>Revenue</a:t>
            </a:r>
            <a:r>
              <a:rPr sz="1350" spc="-12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409" dirty="0">
                <a:solidFill>
                  <a:srgbClr val="4A4A4A"/>
                </a:solidFill>
                <a:latin typeface="Verdana"/>
                <a:cs typeface="Verdana"/>
              </a:rPr>
              <a:t>−</a:t>
            </a:r>
            <a:r>
              <a:rPr sz="1350" spc="-12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4A4A4A"/>
                </a:solidFill>
                <a:latin typeface="Verdana"/>
                <a:cs typeface="Verdana"/>
              </a:rPr>
              <a:t>Cost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534274" y="2143124"/>
            <a:ext cx="3295650" cy="1524000"/>
            <a:chOff x="7534274" y="2143124"/>
            <a:chExt cx="3295650" cy="1524000"/>
          </a:xfrm>
        </p:grpSpPr>
        <p:sp>
          <p:nvSpPr>
            <p:cNvPr id="18" name="object 18"/>
            <p:cNvSpPr/>
            <p:nvPr/>
          </p:nvSpPr>
          <p:spPr>
            <a:xfrm>
              <a:off x="7543799" y="2400299"/>
              <a:ext cx="3276600" cy="1257300"/>
            </a:xfrm>
            <a:custGeom>
              <a:avLst/>
              <a:gdLst/>
              <a:ahLst/>
              <a:cxnLst/>
              <a:rect l="l" t="t" r="r" b="b"/>
              <a:pathLst>
                <a:path w="3276600" h="1257300">
                  <a:moveTo>
                    <a:pt x="3165354" y="1257299"/>
                  </a:moveTo>
                  <a:lnTo>
                    <a:pt x="111244" y="1257299"/>
                  </a:lnTo>
                  <a:lnTo>
                    <a:pt x="103501" y="1256536"/>
                  </a:lnTo>
                  <a:lnTo>
                    <a:pt x="66276" y="1245244"/>
                  </a:lnTo>
                  <a:lnTo>
                    <a:pt x="29344" y="1216899"/>
                  </a:lnTo>
                  <a:lnTo>
                    <a:pt x="6071" y="1176577"/>
                  </a:lnTo>
                  <a:lnTo>
                    <a:pt x="0" y="1146054"/>
                  </a:lnTo>
                  <a:lnTo>
                    <a:pt x="0" y="1138237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3" y="3885"/>
                  </a:lnTo>
                  <a:lnTo>
                    <a:pt x="62296" y="0"/>
                  </a:lnTo>
                  <a:lnTo>
                    <a:pt x="3214302" y="0"/>
                  </a:lnTo>
                  <a:lnTo>
                    <a:pt x="3250607" y="15621"/>
                  </a:lnTo>
                  <a:lnTo>
                    <a:pt x="3273198" y="51661"/>
                  </a:lnTo>
                  <a:lnTo>
                    <a:pt x="3276598" y="71196"/>
                  </a:lnTo>
                  <a:lnTo>
                    <a:pt x="3276598" y="1146054"/>
                  </a:lnTo>
                  <a:lnTo>
                    <a:pt x="3264543" y="1191022"/>
                  </a:lnTo>
                  <a:lnTo>
                    <a:pt x="3236197" y="1227954"/>
                  </a:lnTo>
                  <a:lnTo>
                    <a:pt x="3195876" y="1251227"/>
                  </a:lnTo>
                  <a:lnTo>
                    <a:pt x="3173096" y="1256536"/>
                  </a:lnTo>
                  <a:lnTo>
                    <a:pt x="3165354" y="1257299"/>
                  </a:lnTo>
                  <a:close/>
                </a:path>
              </a:pathLst>
            </a:custGeom>
            <a:solidFill>
              <a:srgbClr val="E4F9F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34262" y="2401150"/>
              <a:ext cx="3295650" cy="1266190"/>
            </a:xfrm>
            <a:custGeom>
              <a:avLst/>
              <a:gdLst/>
              <a:ahLst/>
              <a:cxnLst/>
              <a:rect l="l" t="t" r="r" b="b"/>
              <a:pathLst>
                <a:path w="3295650" h="1266189">
                  <a:moveTo>
                    <a:pt x="3295650" y="75349"/>
                  </a:moveTo>
                  <a:lnTo>
                    <a:pt x="3282823" y="33007"/>
                  </a:lnTo>
                  <a:lnTo>
                    <a:pt x="3248609" y="4953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29" y="8826"/>
                  </a:lnTo>
                  <a:lnTo>
                    <a:pt x="3272256" y="46189"/>
                  </a:lnTo>
                  <a:lnTo>
                    <a:pt x="3276600" y="75349"/>
                  </a:lnTo>
                  <a:lnTo>
                    <a:pt x="3276600" y="1137386"/>
                  </a:lnTo>
                  <a:lnTo>
                    <a:pt x="3268268" y="1179309"/>
                  </a:lnTo>
                  <a:lnTo>
                    <a:pt x="3244062" y="1215263"/>
                  </a:lnTo>
                  <a:lnTo>
                    <a:pt x="3208985" y="1238592"/>
                  </a:lnTo>
                  <a:lnTo>
                    <a:pt x="3167062" y="1246924"/>
                  </a:lnTo>
                  <a:lnTo>
                    <a:pt x="128587" y="1246924"/>
                  </a:lnTo>
                  <a:lnTo>
                    <a:pt x="86677" y="1238592"/>
                  </a:lnTo>
                  <a:lnTo>
                    <a:pt x="51638" y="1215301"/>
                  </a:lnTo>
                  <a:lnTo>
                    <a:pt x="27393" y="1179309"/>
                  </a:lnTo>
                  <a:lnTo>
                    <a:pt x="19050" y="1137386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137386"/>
                  </a:lnTo>
                  <a:lnTo>
                    <a:pt x="9791" y="1186599"/>
                  </a:lnTo>
                  <a:lnTo>
                    <a:pt x="37706" y="1228280"/>
                  </a:lnTo>
                  <a:lnTo>
                    <a:pt x="38112" y="1228737"/>
                  </a:lnTo>
                  <a:lnTo>
                    <a:pt x="47053" y="1236840"/>
                  </a:lnTo>
                  <a:lnTo>
                    <a:pt x="91325" y="1260475"/>
                  </a:lnTo>
                  <a:lnTo>
                    <a:pt x="128587" y="1265974"/>
                  </a:lnTo>
                  <a:lnTo>
                    <a:pt x="3167062" y="1265974"/>
                  </a:lnTo>
                  <a:lnTo>
                    <a:pt x="3216275" y="1256195"/>
                  </a:lnTo>
                  <a:lnTo>
                    <a:pt x="3234169" y="1246924"/>
                  </a:lnTo>
                  <a:lnTo>
                    <a:pt x="3238525" y="1244333"/>
                  </a:lnTo>
                  <a:lnTo>
                    <a:pt x="3248596" y="1236840"/>
                  </a:lnTo>
                  <a:lnTo>
                    <a:pt x="3257486" y="1228775"/>
                  </a:lnTo>
                  <a:lnTo>
                    <a:pt x="3257994" y="1228318"/>
                  </a:lnTo>
                  <a:lnTo>
                    <a:pt x="3285871" y="1186599"/>
                  </a:lnTo>
                  <a:lnTo>
                    <a:pt x="3295650" y="1137386"/>
                  </a:lnTo>
                  <a:lnTo>
                    <a:pt x="3295650" y="75349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34262" y="2143124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309321"/>
                  </a:moveTo>
                  <a:lnTo>
                    <a:pt x="3280029" y="267830"/>
                  </a:lnTo>
                  <a:lnTo>
                    <a:pt x="3243999" y="242011"/>
                  </a:lnTo>
                  <a:lnTo>
                    <a:pt x="3224453" y="238125"/>
                  </a:lnTo>
                  <a:lnTo>
                    <a:pt x="1904365" y="238125"/>
                  </a:lnTo>
                  <a:lnTo>
                    <a:pt x="1902942" y="223596"/>
                  </a:lnTo>
                  <a:lnTo>
                    <a:pt x="1891487" y="174472"/>
                  </a:lnTo>
                  <a:lnTo>
                    <a:pt x="1870671" y="128524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29" y="26403"/>
                  </a:lnTo>
                  <a:lnTo>
                    <a:pt x="1714423" y="8636"/>
                  </a:lnTo>
                  <a:lnTo>
                    <a:pt x="1664652" y="419"/>
                  </a:lnTo>
                  <a:lnTo>
                    <a:pt x="1656257" y="0"/>
                  </a:lnTo>
                  <a:lnTo>
                    <a:pt x="1639404" y="0"/>
                  </a:lnTo>
                  <a:lnTo>
                    <a:pt x="1589392" y="6591"/>
                  </a:lnTo>
                  <a:lnTo>
                    <a:pt x="1541627" y="22809"/>
                  </a:lnTo>
                  <a:lnTo>
                    <a:pt x="1497952" y="48031"/>
                  </a:lnTo>
                  <a:lnTo>
                    <a:pt x="1460030" y="81292"/>
                  </a:lnTo>
                  <a:lnTo>
                    <a:pt x="1429321" y="121310"/>
                  </a:lnTo>
                  <a:lnTo>
                    <a:pt x="1407007" y="166547"/>
                  </a:lnTo>
                  <a:lnTo>
                    <a:pt x="1393952" y="215265"/>
                  </a:lnTo>
                  <a:lnTo>
                    <a:pt x="1391285" y="238125"/>
                  </a:lnTo>
                  <a:lnTo>
                    <a:pt x="71196" y="238125"/>
                  </a:lnTo>
                  <a:lnTo>
                    <a:pt x="29705" y="253758"/>
                  </a:lnTo>
                  <a:lnTo>
                    <a:pt x="3886" y="289788"/>
                  </a:lnTo>
                  <a:lnTo>
                    <a:pt x="0" y="309321"/>
                  </a:lnTo>
                  <a:lnTo>
                    <a:pt x="0" y="314325"/>
                  </a:lnTo>
                  <a:lnTo>
                    <a:pt x="1396974" y="314325"/>
                  </a:lnTo>
                  <a:lnTo>
                    <a:pt x="1397241" y="315620"/>
                  </a:lnTo>
                  <a:lnTo>
                    <a:pt x="1413459" y="363385"/>
                  </a:lnTo>
                  <a:lnTo>
                    <a:pt x="1438681" y="407060"/>
                  </a:lnTo>
                  <a:lnTo>
                    <a:pt x="1471942" y="444982"/>
                  </a:lnTo>
                  <a:lnTo>
                    <a:pt x="1511960" y="475691"/>
                  </a:lnTo>
                  <a:lnTo>
                    <a:pt x="1557197" y="498005"/>
                  </a:lnTo>
                  <a:lnTo>
                    <a:pt x="1605915" y="511060"/>
                  </a:lnTo>
                  <a:lnTo>
                    <a:pt x="1639404" y="514350"/>
                  </a:lnTo>
                  <a:lnTo>
                    <a:pt x="1656257" y="514350"/>
                  </a:lnTo>
                  <a:lnTo>
                    <a:pt x="1706270" y="507771"/>
                  </a:lnTo>
                  <a:lnTo>
                    <a:pt x="1754035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14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309321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108826" y="2267585"/>
            <a:ext cx="14668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4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12075" y="2681684"/>
            <a:ext cx="2135505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65" dirty="0">
                <a:solidFill>
                  <a:srgbClr val="4A4A4A"/>
                </a:solidFill>
                <a:latin typeface="Verdana"/>
                <a:cs typeface="Verdana"/>
              </a:rPr>
              <a:t>Discount</a:t>
            </a:r>
            <a:r>
              <a:rPr sz="1650" b="1" spc="-9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A4A4A"/>
                </a:solidFill>
                <a:latin typeface="Verdana"/>
                <a:cs typeface="Verdana"/>
              </a:rPr>
              <a:t>Amount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50" spc="-75" dirty="0">
                <a:solidFill>
                  <a:srgbClr val="4A4A4A"/>
                </a:solidFill>
                <a:latin typeface="Verdana"/>
                <a:cs typeface="Verdana"/>
              </a:rPr>
              <a:t>Original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409" dirty="0">
                <a:solidFill>
                  <a:srgbClr val="4A4A4A"/>
                </a:solidFill>
                <a:latin typeface="Verdana"/>
                <a:cs typeface="Verdana"/>
              </a:rPr>
              <a:t>−</a:t>
            </a:r>
            <a:r>
              <a:rPr sz="1350" spc="-9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A4A4A"/>
                </a:solidFill>
                <a:latin typeface="Verdana"/>
                <a:cs typeface="Verdana"/>
              </a:rPr>
              <a:t>Discounted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4A4A4A"/>
                </a:solidFill>
                <a:latin typeface="Verdana"/>
                <a:cs typeface="Verdana"/>
              </a:rPr>
              <a:t>Price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0074" y="3838574"/>
            <a:ext cx="3295650" cy="1514475"/>
            <a:chOff x="600074" y="3838574"/>
            <a:chExt cx="3295650" cy="1514475"/>
          </a:xfrm>
        </p:grpSpPr>
        <p:sp>
          <p:nvSpPr>
            <p:cNvPr id="24" name="object 24"/>
            <p:cNvSpPr/>
            <p:nvPr/>
          </p:nvSpPr>
          <p:spPr>
            <a:xfrm>
              <a:off x="609599" y="4095749"/>
              <a:ext cx="3276600" cy="1247775"/>
            </a:xfrm>
            <a:custGeom>
              <a:avLst/>
              <a:gdLst/>
              <a:ahLst/>
              <a:cxnLst/>
              <a:rect l="l" t="t" r="r" b="b"/>
              <a:pathLst>
                <a:path w="3276600" h="1247775">
                  <a:moveTo>
                    <a:pt x="3165354" y="1247774"/>
                  </a:moveTo>
                  <a:lnTo>
                    <a:pt x="111244" y="1247774"/>
                  </a:lnTo>
                  <a:lnTo>
                    <a:pt x="103502" y="1247011"/>
                  </a:lnTo>
                  <a:lnTo>
                    <a:pt x="66276" y="1235719"/>
                  </a:lnTo>
                  <a:lnTo>
                    <a:pt x="29344" y="1207373"/>
                  </a:lnTo>
                  <a:lnTo>
                    <a:pt x="6071" y="1167052"/>
                  </a:lnTo>
                  <a:lnTo>
                    <a:pt x="0" y="1136529"/>
                  </a:lnTo>
                  <a:lnTo>
                    <a:pt x="0" y="1128712"/>
                  </a:lnTo>
                  <a:lnTo>
                    <a:pt x="0" y="71196"/>
                  </a:lnTo>
                  <a:lnTo>
                    <a:pt x="13668" y="29704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3214302" y="0"/>
                  </a:lnTo>
                  <a:lnTo>
                    <a:pt x="3250607" y="15621"/>
                  </a:lnTo>
                  <a:lnTo>
                    <a:pt x="3273199" y="51661"/>
                  </a:lnTo>
                  <a:lnTo>
                    <a:pt x="3276599" y="71196"/>
                  </a:lnTo>
                  <a:lnTo>
                    <a:pt x="3276599" y="1136529"/>
                  </a:lnTo>
                  <a:lnTo>
                    <a:pt x="3264544" y="1181497"/>
                  </a:lnTo>
                  <a:lnTo>
                    <a:pt x="3236198" y="1218430"/>
                  </a:lnTo>
                  <a:lnTo>
                    <a:pt x="3195877" y="1241703"/>
                  </a:lnTo>
                  <a:lnTo>
                    <a:pt x="3173097" y="1247011"/>
                  </a:lnTo>
                  <a:lnTo>
                    <a:pt x="3165354" y="1247774"/>
                  </a:lnTo>
                  <a:close/>
                </a:path>
              </a:pathLst>
            </a:custGeom>
            <a:solidFill>
              <a:srgbClr val="E4F9F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0062" y="4096600"/>
              <a:ext cx="3295650" cy="1256665"/>
            </a:xfrm>
            <a:custGeom>
              <a:avLst/>
              <a:gdLst/>
              <a:ahLst/>
              <a:cxnLst/>
              <a:rect l="l" t="t" r="r" b="b"/>
              <a:pathLst>
                <a:path w="3295650" h="1256664">
                  <a:moveTo>
                    <a:pt x="3295650" y="75349"/>
                  </a:moveTo>
                  <a:lnTo>
                    <a:pt x="3282823" y="33007"/>
                  </a:lnTo>
                  <a:lnTo>
                    <a:pt x="3248622" y="4953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29" y="8826"/>
                  </a:lnTo>
                  <a:lnTo>
                    <a:pt x="3272256" y="46189"/>
                  </a:lnTo>
                  <a:lnTo>
                    <a:pt x="3276600" y="75349"/>
                  </a:lnTo>
                  <a:lnTo>
                    <a:pt x="3276600" y="1127861"/>
                  </a:lnTo>
                  <a:lnTo>
                    <a:pt x="3268268" y="1169784"/>
                  </a:lnTo>
                  <a:lnTo>
                    <a:pt x="3244062" y="1205738"/>
                  </a:lnTo>
                  <a:lnTo>
                    <a:pt x="3208985" y="1229067"/>
                  </a:lnTo>
                  <a:lnTo>
                    <a:pt x="3167062" y="1237399"/>
                  </a:lnTo>
                  <a:lnTo>
                    <a:pt x="128587" y="1237399"/>
                  </a:lnTo>
                  <a:lnTo>
                    <a:pt x="86677" y="1229067"/>
                  </a:lnTo>
                  <a:lnTo>
                    <a:pt x="51638" y="1205776"/>
                  </a:lnTo>
                  <a:lnTo>
                    <a:pt x="27393" y="1169784"/>
                  </a:lnTo>
                  <a:lnTo>
                    <a:pt x="19050" y="1127861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127861"/>
                  </a:lnTo>
                  <a:lnTo>
                    <a:pt x="9791" y="1177074"/>
                  </a:lnTo>
                  <a:lnTo>
                    <a:pt x="37706" y="1218755"/>
                  </a:lnTo>
                  <a:lnTo>
                    <a:pt x="38112" y="1219212"/>
                  </a:lnTo>
                  <a:lnTo>
                    <a:pt x="47053" y="1227315"/>
                  </a:lnTo>
                  <a:lnTo>
                    <a:pt x="91325" y="1250950"/>
                  </a:lnTo>
                  <a:lnTo>
                    <a:pt x="128587" y="1256449"/>
                  </a:lnTo>
                  <a:lnTo>
                    <a:pt x="3167062" y="1256449"/>
                  </a:lnTo>
                  <a:lnTo>
                    <a:pt x="3216275" y="1246670"/>
                  </a:lnTo>
                  <a:lnTo>
                    <a:pt x="3234169" y="1237399"/>
                  </a:lnTo>
                  <a:lnTo>
                    <a:pt x="3238525" y="1234808"/>
                  </a:lnTo>
                  <a:lnTo>
                    <a:pt x="3248609" y="1227315"/>
                  </a:lnTo>
                  <a:lnTo>
                    <a:pt x="3257486" y="1219250"/>
                  </a:lnTo>
                  <a:lnTo>
                    <a:pt x="3257994" y="1218793"/>
                  </a:lnTo>
                  <a:lnTo>
                    <a:pt x="3285871" y="1177074"/>
                  </a:lnTo>
                  <a:lnTo>
                    <a:pt x="3295650" y="1127861"/>
                  </a:lnTo>
                  <a:lnTo>
                    <a:pt x="3295650" y="75349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0062" y="3838574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309321"/>
                  </a:moveTo>
                  <a:lnTo>
                    <a:pt x="3280029" y="267830"/>
                  </a:lnTo>
                  <a:lnTo>
                    <a:pt x="3243999" y="242011"/>
                  </a:lnTo>
                  <a:lnTo>
                    <a:pt x="3224453" y="238125"/>
                  </a:lnTo>
                  <a:lnTo>
                    <a:pt x="1904365" y="238125"/>
                  </a:lnTo>
                  <a:lnTo>
                    <a:pt x="1902942" y="223596"/>
                  </a:lnTo>
                  <a:lnTo>
                    <a:pt x="1891487" y="174472"/>
                  </a:lnTo>
                  <a:lnTo>
                    <a:pt x="1870671" y="128524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29" y="26403"/>
                  </a:lnTo>
                  <a:lnTo>
                    <a:pt x="1714423" y="8636"/>
                  </a:lnTo>
                  <a:lnTo>
                    <a:pt x="1664652" y="419"/>
                  </a:lnTo>
                  <a:lnTo>
                    <a:pt x="1656257" y="0"/>
                  </a:lnTo>
                  <a:lnTo>
                    <a:pt x="1639404" y="0"/>
                  </a:lnTo>
                  <a:lnTo>
                    <a:pt x="1589392" y="6591"/>
                  </a:lnTo>
                  <a:lnTo>
                    <a:pt x="1541627" y="22809"/>
                  </a:lnTo>
                  <a:lnTo>
                    <a:pt x="1497952" y="48031"/>
                  </a:lnTo>
                  <a:lnTo>
                    <a:pt x="1460030" y="81292"/>
                  </a:lnTo>
                  <a:lnTo>
                    <a:pt x="1429321" y="121310"/>
                  </a:lnTo>
                  <a:lnTo>
                    <a:pt x="1407007" y="166547"/>
                  </a:lnTo>
                  <a:lnTo>
                    <a:pt x="1393952" y="215265"/>
                  </a:lnTo>
                  <a:lnTo>
                    <a:pt x="1391285" y="238125"/>
                  </a:lnTo>
                  <a:lnTo>
                    <a:pt x="71208" y="238125"/>
                  </a:lnTo>
                  <a:lnTo>
                    <a:pt x="29705" y="253746"/>
                  </a:lnTo>
                  <a:lnTo>
                    <a:pt x="3886" y="289788"/>
                  </a:lnTo>
                  <a:lnTo>
                    <a:pt x="0" y="309321"/>
                  </a:lnTo>
                  <a:lnTo>
                    <a:pt x="0" y="314325"/>
                  </a:lnTo>
                  <a:lnTo>
                    <a:pt x="1396974" y="314325"/>
                  </a:lnTo>
                  <a:lnTo>
                    <a:pt x="1397241" y="315620"/>
                  </a:lnTo>
                  <a:lnTo>
                    <a:pt x="1413459" y="363385"/>
                  </a:lnTo>
                  <a:lnTo>
                    <a:pt x="1438681" y="407060"/>
                  </a:lnTo>
                  <a:lnTo>
                    <a:pt x="1471942" y="444982"/>
                  </a:lnTo>
                  <a:lnTo>
                    <a:pt x="1511960" y="475691"/>
                  </a:lnTo>
                  <a:lnTo>
                    <a:pt x="1557197" y="498005"/>
                  </a:lnTo>
                  <a:lnTo>
                    <a:pt x="1605915" y="511060"/>
                  </a:lnTo>
                  <a:lnTo>
                    <a:pt x="1639404" y="514350"/>
                  </a:lnTo>
                  <a:lnTo>
                    <a:pt x="1656257" y="514350"/>
                  </a:lnTo>
                  <a:lnTo>
                    <a:pt x="1706270" y="507771"/>
                  </a:lnTo>
                  <a:lnTo>
                    <a:pt x="1754035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14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309321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174626" y="3953509"/>
            <a:ext cx="14668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40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7874" y="4389040"/>
            <a:ext cx="1760220" cy="73533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50" b="1" spc="-40" dirty="0">
                <a:solidFill>
                  <a:srgbClr val="4A4A4A"/>
                </a:solidFill>
                <a:latin typeface="Verdana"/>
                <a:cs typeface="Verdana"/>
              </a:rPr>
              <a:t>Profit</a:t>
            </a:r>
            <a:r>
              <a:rPr sz="1650" b="1" spc="-13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40" dirty="0">
                <a:solidFill>
                  <a:srgbClr val="4A4A4A"/>
                </a:solidFill>
                <a:latin typeface="Verdana"/>
                <a:cs typeface="Verdana"/>
              </a:rPr>
              <a:t>Margin</a:t>
            </a:r>
            <a:r>
              <a:rPr sz="1650" b="1" spc="-12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535" dirty="0">
                <a:solidFill>
                  <a:srgbClr val="4A4A4A"/>
                </a:solidFill>
                <a:latin typeface="Verdana"/>
                <a:cs typeface="Verdana"/>
              </a:rPr>
              <a:t>%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350" spc="-55" dirty="0">
                <a:solidFill>
                  <a:srgbClr val="4A4A4A"/>
                </a:solidFill>
                <a:latin typeface="Verdana"/>
                <a:cs typeface="Verdana"/>
              </a:rPr>
              <a:t>Profit</a:t>
            </a:r>
            <a:r>
              <a:rPr sz="1350" spc="-12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375" dirty="0">
                <a:solidFill>
                  <a:srgbClr val="4A4A4A"/>
                </a:solidFill>
                <a:latin typeface="Verdana"/>
                <a:cs typeface="Verdana"/>
              </a:rPr>
              <a:t>÷</a:t>
            </a:r>
            <a:r>
              <a:rPr sz="1350" spc="-12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Verdana"/>
                <a:cs typeface="Verdana"/>
              </a:rPr>
              <a:t>Revenue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67174" y="3838574"/>
            <a:ext cx="3295650" cy="1514475"/>
            <a:chOff x="4067174" y="3838574"/>
            <a:chExt cx="3295650" cy="1514475"/>
          </a:xfrm>
        </p:grpSpPr>
        <p:sp>
          <p:nvSpPr>
            <p:cNvPr id="30" name="object 30"/>
            <p:cNvSpPr/>
            <p:nvPr/>
          </p:nvSpPr>
          <p:spPr>
            <a:xfrm>
              <a:off x="4076699" y="4095749"/>
              <a:ext cx="3276600" cy="1247775"/>
            </a:xfrm>
            <a:custGeom>
              <a:avLst/>
              <a:gdLst/>
              <a:ahLst/>
              <a:cxnLst/>
              <a:rect l="l" t="t" r="r" b="b"/>
              <a:pathLst>
                <a:path w="3276600" h="1247775">
                  <a:moveTo>
                    <a:pt x="3165355" y="1247774"/>
                  </a:moveTo>
                  <a:lnTo>
                    <a:pt x="111244" y="1247774"/>
                  </a:lnTo>
                  <a:lnTo>
                    <a:pt x="103502" y="1247011"/>
                  </a:lnTo>
                  <a:lnTo>
                    <a:pt x="66276" y="1235719"/>
                  </a:lnTo>
                  <a:lnTo>
                    <a:pt x="29344" y="1207373"/>
                  </a:lnTo>
                  <a:lnTo>
                    <a:pt x="6071" y="1167052"/>
                  </a:lnTo>
                  <a:lnTo>
                    <a:pt x="0" y="1136529"/>
                  </a:lnTo>
                  <a:lnTo>
                    <a:pt x="0" y="1128712"/>
                  </a:lnTo>
                  <a:lnTo>
                    <a:pt x="0" y="71196"/>
                  </a:lnTo>
                  <a:lnTo>
                    <a:pt x="13668" y="29704"/>
                  </a:lnTo>
                  <a:lnTo>
                    <a:pt x="45203" y="3885"/>
                  </a:lnTo>
                  <a:lnTo>
                    <a:pt x="62297" y="0"/>
                  </a:lnTo>
                  <a:lnTo>
                    <a:pt x="3214302" y="0"/>
                  </a:lnTo>
                  <a:lnTo>
                    <a:pt x="3250606" y="15621"/>
                  </a:lnTo>
                  <a:lnTo>
                    <a:pt x="3273200" y="51661"/>
                  </a:lnTo>
                  <a:lnTo>
                    <a:pt x="3276600" y="71196"/>
                  </a:lnTo>
                  <a:lnTo>
                    <a:pt x="3276600" y="1136529"/>
                  </a:lnTo>
                  <a:lnTo>
                    <a:pt x="3264544" y="1181497"/>
                  </a:lnTo>
                  <a:lnTo>
                    <a:pt x="3236198" y="1218430"/>
                  </a:lnTo>
                  <a:lnTo>
                    <a:pt x="3195877" y="1241703"/>
                  </a:lnTo>
                  <a:lnTo>
                    <a:pt x="3173097" y="1247011"/>
                  </a:lnTo>
                  <a:lnTo>
                    <a:pt x="3165355" y="1247774"/>
                  </a:lnTo>
                  <a:close/>
                </a:path>
              </a:pathLst>
            </a:custGeom>
            <a:solidFill>
              <a:srgbClr val="E4F9F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67162" y="4096600"/>
              <a:ext cx="3295650" cy="1256665"/>
            </a:xfrm>
            <a:custGeom>
              <a:avLst/>
              <a:gdLst/>
              <a:ahLst/>
              <a:cxnLst/>
              <a:rect l="l" t="t" r="r" b="b"/>
              <a:pathLst>
                <a:path w="3295650" h="1256664">
                  <a:moveTo>
                    <a:pt x="3295650" y="75349"/>
                  </a:moveTo>
                  <a:lnTo>
                    <a:pt x="3282823" y="33007"/>
                  </a:lnTo>
                  <a:lnTo>
                    <a:pt x="3248609" y="4953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29" y="8826"/>
                  </a:lnTo>
                  <a:lnTo>
                    <a:pt x="3272256" y="46189"/>
                  </a:lnTo>
                  <a:lnTo>
                    <a:pt x="3276600" y="75349"/>
                  </a:lnTo>
                  <a:lnTo>
                    <a:pt x="3276600" y="1127861"/>
                  </a:lnTo>
                  <a:lnTo>
                    <a:pt x="3268268" y="1169784"/>
                  </a:lnTo>
                  <a:lnTo>
                    <a:pt x="3244062" y="1205738"/>
                  </a:lnTo>
                  <a:lnTo>
                    <a:pt x="3208985" y="1229067"/>
                  </a:lnTo>
                  <a:lnTo>
                    <a:pt x="3167062" y="1237399"/>
                  </a:lnTo>
                  <a:lnTo>
                    <a:pt x="128587" y="1237399"/>
                  </a:lnTo>
                  <a:lnTo>
                    <a:pt x="86677" y="1229067"/>
                  </a:lnTo>
                  <a:lnTo>
                    <a:pt x="51638" y="1205776"/>
                  </a:lnTo>
                  <a:lnTo>
                    <a:pt x="27393" y="1169784"/>
                  </a:lnTo>
                  <a:lnTo>
                    <a:pt x="19050" y="1127861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127861"/>
                  </a:lnTo>
                  <a:lnTo>
                    <a:pt x="9791" y="1177074"/>
                  </a:lnTo>
                  <a:lnTo>
                    <a:pt x="37706" y="1218755"/>
                  </a:lnTo>
                  <a:lnTo>
                    <a:pt x="38112" y="1219212"/>
                  </a:lnTo>
                  <a:lnTo>
                    <a:pt x="47053" y="1227315"/>
                  </a:lnTo>
                  <a:lnTo>
                    <a:pt x="91325" y="1250950"/>
                  </a:lnTo>
                  <a:lnTo>
                    <a:pt x="128587" y="1256449"/>
                  </a:lnTo>
                  <a:lnTo>
                    <a:pt x="3167062" y="1256449"/>
                  </a:lnTo>
                  <a:lnTo>
                    <a:pt x="3216275" y="1246670"/>
                  </a:lnTo>
                  <a:lnTo>
                    <a:pt x="3234169" y="1237399"/>
                  </a:lnTo>
                  <a:lnTo>
                    <a:pt x="3238525" y="1234808"/>
                  </a:lnTo>
                  <a:lnTo>
                    <a:pt x="3248609" y="1227315"/>
                  </a:lnTo>
                  <a:lnTo>
                    <a:pt x="3257486" y="1219250"/>
                  </a:lnTo>
                  <a:lnTo>
                    <a:pt x="3257994" y="1218793"/>
                  </a:lnTo>
                  <a:lnTo>
                    <a:pt x="3285871" y="1177074"/>
                  </a:lnTo>
                  <a:lnTo>
                    <a:pt x="3295650" y="1127861"/>
                  </a:lnTo>
                  <a:lnTo>
                    <a:pt x="3295650" y="75349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67162" y="3838574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309321"/>
                  </a:moveTo>
                  <a:lnTo>
                    <a:pt x="3280029" y="267830"/>
                  </a:lnTo>
                  <a:lnTo>
                    <a:pt x="3243999" y="242011"/>
                  </a:lnTo>
                  <a:lnTo>
                    <a:pt x="3224453" y="238125"/>
                  </a:lnTo>
                  <a:lnTo>
                    <a:pt x="1904365" y="238125"/>
                  </a:lnTo>
                  <a:lnTo>
                    <a:pt x="1902942" y="223596"/>
                  </a:lnTo>
                  <a:lnTo>
                    <a:pt x="1891487" y="174472"/>
                  </a:lnTo>
                  <a:lnTo>
                    <a:pt x="1870671" y="128524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29" y="26403"/>
                  </a:lnTo>
                  <a:lnTo>
                    <a:pt x="1714423" y="8636"/>
                  </a:lnTo>
                  <a:lnTo>
                    <a:pt x="1664652" y="419"/>
                  </a:lnTo>
                  <a:lnTo>
                    <a:pt x="1656257" y="0"/>
                  </a:lnTo>
                  <a:lnTo>
                    <a:pt x="1639404" y="0"/>
                  </a:lnTo>
                  <a:lnTo>
                    <a:pt x="1589392" y="6591"/>
                  </a:lnTo>
                  <a:lnTo>
                    <a:pt x="1541627" y="22809"/>
                  </a:lnTo>
                  <a:lnTo>
                    <a:pt x="1497952" y="48031"/>
                  </a:lnTo>
                  <a:lnTo>
                    <a:pt x="1460030" y="81292"/>
                  </a:lnTo>
                  <a:lnTo>
                    <a:pt x="1429321" y="121310"/>
                  </a:lnTo>
                  <a:lnTo>
                    <a:pt x="1407007" y="166547"/>
                  </a:lnTo>
                  <a:lnTo>
                    <a:pt x="1393952" y="215265"/>
                  </a:lnTo>
                  <a:lnTo>
                    <a:pt x="1391285" y="238125"/>
                  </a:lnTo>
                  <a:lnTo>
                    <a:pt x="71196" y="238125"/>
                  </a:lnTo>
                  <a:lnTo>
                    <a:pt x="29705" y="253746"/>
                  </a:lnTo>
                  <a:lnTo>
                    <a:pt x="3886" y="289788"/>
                  </a:lnTo>
                  <a:lnTo>
                    <a:pt x="0" y="309321"/>
                  </a:lnTo>
                  <a:lnTo>
                    <a:pt x="0" y="314325"/>
                  </a:lnTo>
                  <a:lnTo>
                    <a:pt x="1396974" y="314325"/>
                  </a:lnTo>
                  <a:lnTo>
                    <a:pt x="1397241" y="315620"/>
                  </a:lnTo>
                  <a:lnTo>
                    <a:pt x="1413459" y="363385"/>
                  </a:lnTo>
                  <a:lnTo>
                    <a:pt x="1438681" y="407060"/>
                  </a:lnTo>
                  <a:lnTo>
                    <a:pt x="1471942" y="444982"/>
                  </a:lnTo>
                  <a:lnTo>
                    <a:pt x="1511960" y="475691"/>
                  </a:lnTo>
                  <a:lnTo>
                    <a:pt x="1557197" y="498005"/>
                  </a:lnTo>
                  <a:lnTo>
                    <a:pt x="1605915" y="511060"/>
                  </a:lnTo>
                  <a:lnTo>
                    <a:pt x="1639404" y="514350"/>
                  </a:lnTo>
                  <a:lnTo>
                    <a:pt x="1656257" y="514350"/>
                  </a:lnTo>
                  <a:lnTo>
                    <a:pt x="1706270" y="507771"/>
                  </a:lnTo>
                  <a:lnTo>
                    <a:pt x="1754035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14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309321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641726" y="3953509"/>
            <a:ext cx="14668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40" dirty="0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44975" y="4389040"/>
            <a:ext cx="2305050" cy="73533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50" b="1" spc="-80" dirty="0">
                <a:solidFill>
                  <a:srgbClr val="4A4A4A"/>
                </a:solidFill>
                <a:latin typeface="Verdana"/>
                <a:cs typeface="Verdana"/>
              </a:rPr>
              <a:t>Total</a:t>
            </a:r>
            <a:r>
              <a:rPr sz="1650" b="1" spc="-114" dirty="0">
                <a:solidFill>
                  <a:srgbClr val="4A4A4A"/>
                </a:solidFill>
                <a:latin typeface="Verdana"/>
                <a:cs typeface="Verdana"/>
              </a:rPr>
              <a:t> Sales</a:t>
            </a:r>
            <a:r>
              <a:rPr sz="1650" b="1" spc="-1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60" dirty="0">
                <a:solidFill>
                  <a:srgbClr val="4A4A4A"/>
                </a:solidFill>
                <a:latin typeface="Verdana"/>
                <a:cs typeface="Verdana"/>
              </a:rPr>
              <a:t>Summary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350" spc="-75" dirty="0">
                <a:solidFill>
                  <a:srgbClr val="4A4A4A"/>
                </a:solidFill>
                <a:latin typeface="Verdana"/>
                <a:cs typeface="Verdana"/>
              </a:rPr>
              <a:t>Aggregate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A4A4A"/>
                </a:solidFill>
                <a:latin typeface="Verdana"/>
                <a:cs typeface="Verdana"/>
              </a:rPr>
              <a:t>all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Verdana"/>
                <a:cs typeface="Verdana"/>
              </a:rPr>
              <a:t>orders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534274" y="3838574"/>
            <a:ext cx="3295650" cy="1514475"/>
            <a:chOff x="7534274" y="3838574"/>
            <a:chExt cx="3295650" cy="1514475"/>
          </a:xfrm>
        </p:grpSpPr>
        <p:sp>
          <p:nvSpPr>
            <p:cNvPr id="36" name="object 36"/>
            <p:cNvSpPr/>
            <p:nvPr/>
          </p:nvSpPr>
          <p:spPr>
            <a:xfrm>
              <a:off x="7543799" y="4095749"/>
              <a:ext cx="3276600" cy="1247775"/>
            </a:xfrm>
            <a:custGeom>
              <a:avLst/>
              <a:gdLst/>
              <a:ahLst/>
              <a:cxnLst/>
              <a:rect l="l" t="t" r="r" b="b"/>
              <a:pathLst>
                <a:path w="3276600" h="1247775">
                  <a:moveTo>
                    <a:pt x="3165354" y="1247774"/>
                  </a:moveTo>
                  <a:lnTo>
                    <a:pt x="111244" y="1247774"/>
                  </a:lnTo>
                  <a:lnTo>
                    <a:pt x="103501" y="1247011"/>
                  </a:lnTo>
                  <a:lnTo>
                    <a:pt x="66276" y="1235719"/>
                  </a:lnTo>
                  <a:lnTo>
                    <a:pt x="29344" y="1207373"/>
                  </a:lnTo>
                  <a:lnTo>
                    <a:pt x="6071" y="1167052"/>
                  </a:lnTo>
                  <a:lnTo>
                    <a:pt x="0" y="1136529"/>
                  </a:lnTo>
                  <a:lnTo>
                    <a:pt x="0" y="1128712"/>
                  </a:lnTo>
                  <a:lnTo>
                    <a:pt x="0" y="71196"/>
                  </a:lnTo>
                  <a:lnTo>
                    <a:pt x="13668" y="29704"/>
                  </a:lnTo>
                  <a:lnTo>
                    <a:pt x="45203" y="3885"/>
                  </a:lnTo>
                  <a:lnTo>
                    <a:pt x="62296" y="0"/>
                  </a:lnTo>
                  <a:lnTo>
                    <a:pt x="3214302" y="0"/>
                  </a:lnTo>
                  <a:lnTo>
                    <a:pt x="3250607" y="15621"/>
                  </a:lnTo>
                  <a:lnTo>
                    <a:pt x="3273198" y="51661"/>
                  </a:lnTo>
                  <a:lnTo>
                    <a:pt x="3276598" y="71196"/>
                  </a:lnTo>
                  <a:lnTo>
                    <a:pt x="3276598" y="1136529"/>
                  </a:lnTo>
                  <a:lnTo>
                    <a:pt x="3264543" y="1181497"/>
                  </a:lnTo>
                  <a:lnTo>
                    <a:pt x="3236197" y="1218430"/>
                  </a:lnTo>
                  <a:lnTo>
                    <a:pt x="3195876" y="1241703"/>
                  </a:lnTo>
                  <a:lnTo>
                    <a:pt x="3173096" y="1247011"/>
                  </a:lnTo>
                  <a:lnTo>
                    <a:pt x="3165354" y="1247774"/>
                  </a:lnTo>
                  <a:close/>
                </a:path>
              </a:pathLst>
            </a:custGeom>
            <a:solidFill>
              <a:srgbClr val="E4F9F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34262" y="4096600"/>
              <a:ext cx="3295650" cy="1256665"/>
            </a:xfrm>
            <a:custGeom>
              <a:avLst/>
              <a:gdLst/>
              <a:ahLst/>
              <a:cxnLst/>
              <a:rect l="l" t="t" r="r" b="b"/>
              <a:pathLst>
                <a:path w="3295650" h="1256664">
                  <a:moveTo>
                    <a:pt x="3295650" y="75349"/>
                  </a:moveTo>
                  <a:lnTo>
                    <a:pt x="3282823" y="33007"/>
                  </a:lnTo>
                  <a:lnTo>
                    <a:pt x="3248609" y="4953"/>
                  </a:lnTo>
                  <a:lnTo>
                    <a:pt x="3230207" y="0"/>
                  </a:lnTo>
                  <a:lnTo>
                    <a:pt x="3234321" y="1092"/>
                  </a:lnTo>
                  <a:lnTo>
                    <a:pt x="3248329" y="8826"/>
                  </a:lnTo>
                  <a:lnTo>
                    <a:pt x="3272256" y="46189"/>
                  </a:lnTo>
                  <a:lnTo>
                    <a:pt x="3276600" y="75349"/>
                  </a:lnTo>
                  <a:lnTo>
                    <a:pt x="3276600" y="1127861"/>
                  </a:lnTo>
                  <a:lnTo>
                    <a:pt x="3268268" y="1169784"/>
                  </a:lnTo>
                  <a:lnTo>
                    <a:pt x="3244062" y="1205738"/>
                  </a:lnTo>
                  <a:lnTo>
                    <a:pt x="3208985" y="1229067"/>
                  </a:lnTo>
                  <a:lnTo>
                    <a:pt x="3167062" y="1237399"/>
                  </a:lnTo>
                  <a:lnTo>
                    <a:pt x="128587" y="1237399"/>
                  </a:lnTo>
                  <a:lnTo>
                    <a:pt x="86677" y="1229067"/>
                  </a:lnTo>
                  <a:lnTo>
                    <a:pt x="51638" y="1205776"/>
                  </a:lnTo>
                  <a:lnTo>
                    <a:pt x="27393" y="1169784"/>
                  </a:lnTo>
                  <a:lnTo>
                    <a:pt x="19050" y="1127861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127861"/>
                  </a:lnTo>
                  <a:lnTo>
                    <a:pt x="9791" y="1177074"/>
                  </a:lnTo>
                  <a:lnTo>
                    <a:pt x="37706" y="1218755"/>
                  </a:lnTo>
                  <a:lnTo>
                    <a:pt x="38112" y="1219212"/>
                  </a:lnTo>
                  <a:lnTo>
                    <a:pt x="47053" y="1227315"/>
                  </a:lnTo>
                  <a:lnTo>
                    <a:pt x="91325" y="1250950"/>
                  </a:lnTo>
                  <a:lnTo>
                    <a:pt x="128587" y="1256449"/>
                  </a:lnTo>
                  <a:lnTo>
                    <a:pt x="3167062" y="1256449"/>
                  </a:lnTo>
                  <a:lnTo>
                    <a:pt x="3216275" y="1246670"/>
                  </a:lnTo>
                  <a:lnTo>
                    <a:pt x="3234169" y="1237399"/>
                  </a:lnTo>
                  <a:lnTo>
                    <a:pt x="3238525" y="1234808"/>
                  </a:lnTo>
                  <a:lnTo>
                    <a:pt x="3248596" y="1227315"/>
                  </a:lnTo>
                  <a:lnTo>
                    <a:pt x="3257486" y="1219250"/>
                  </a:lnTo>
                  <a:lnTo>
                    <a:pt x="3257994" y="1218793"/>
                  </a:lnTo>
                  <a:lnTo>
                    <a:pt x="3285871" y="1177074"/>
                  </a:lnTo>
                  <a:lnTo>
                    <a:pt x="3295650" y="1127861"/>
                  </a:lnTo>
                  <a:lnTo>
                    <a:pt x="3295650" y="75349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34262" y="3838574"/>
              <a:ext cx="3295650" cy="514350"/>
            </a:xfrm>
            <a:custGeom>
              <a:avLst/>
              <a:gdLst/>
              <a:ahLst/>
              <a:cxnLst/>
              <a:rect l="l" t="t" r="r" b="b"/>
              <a:pathLst>
                <a:path w="3295650" h="514350">
                  <a:moveTo>
                    <a:pt x="3295650" y="309321"/>
                  </a:moveTo>
                  <a:lnTo>
                    <a:pt x="3280029" y="267830"/>
                  </a:lnTo>
                  <a:lnTo>
                    <a:pt x="3243999" y="242011"/>
                  </a:lnTo>
                  <a:lnTo>
                    <a:pt x="3224453" y="238125"/>
                  </a:lnTo>
                  <a:lnTo>
                    <a:pt x="1904365" y="238125"/>
                  </a:lnTo>
                  <a:lnTo>
                    <a:pt x="1902942" y="223596"/>
                  </a:lnTo>
                  <a:lnTo>
                    <a:pt x="1891487" y="174472"/>
                  </a:lnTo>
                  <a:lnTo>
                    <a:pt x="1870671" y="128524"/>
                  </a:lnTo>
                  <a:lnTo>
                    <a:pt x="1841284" y="87515"/>
                  </a:lnTo>
                  <a:lnTo>
                    <a:pt x="1804466" y="53035"/>
                  </a:lnTo>
                  <a:lnTo>
                    <a:pt x="1761629" y="26403"/>
                  </a:lnTo>
                  <a:lnTo>
                    <a:pt x="1714423" y="8636"/>
                  </a:lnTo>
                  <a:lnTo>
                    <a:pt x="1664652" y="419"/>
                  </a:lnTo>
                  <a:lnTo>
                    <a:pt x="1656257" y="0"/>
                  </a:lnTo>
                  <a:lnTo>
                    <a:pt x="1639404" y="0"/>
                  </a:lnTo>
                  <a:lnTo>
                    <a:pt x="1589392" y="6591"/>
                  </a:lnTo>
                  <a:lnTo>
                    <a:pt x="1541627" y="22809"/>
                  </a:lnTo>
                  <a:lnTo>
                    <a:pt x="1497952" y="48031"/>
                  </a:lnTo>
                  <a:lnTo>
                    <a:pt x="1460030" y="81292"/>
                  </a:lnTo>
                  <a:lnTo>
                    <a:pt x="1429321" y="121310"/>
                  </a:lnTo>
                  <a:lnTo>
                    <a:pt x="1407007" y="166547"/>
                  </a:lnTo>
                  <a:lnTo>
                    <a:pt x="1393952" y="215265"/>
                  </a:lnTo>
                  <a:lnTo>
                    <a:pt x="1391285" y="238125"/>
                  </a:lnTo>
                  <a:lnTo>
                    <a:pt x="71196" y="238125"/>
                  </a:lnTo>
                  <a:lnTo>
                    <a:pt x="29705" y="253746"/>
                  </a:lnTo>
                  <a:lnTo>
                    <a:pt x="3886" y="289788"/>
                  </a:lnTo>
                  <a:lnTo>
                    <a:pt x="0" y="309321"/>
                  </a:lnTo>
                  <a:lnTo>
                    <a:pt x="0" y="314325"/>
                  </a:lnTo>
                  <a:lnTo>
                    <a:pt x="1396974" y="314325"/>
                  </a:lnTo>
                  <a:lnTo>
                    <a:pt x="1397241" y="315620"/>
                  </a:lnTo>
                  <a:lnTo>
                    <a:pt x="1413459" y="363385"/>
                  </a:lnTo>
                  <a:lnTo>
                    <a:pt x="1438681" y="407060"/>
                  </a:lnTo>
                  <a:lnTo>
                    <a:pt x="1471942" y="444982"/>
                  </a:lnTo>
                  <a:lnTo>
                    <a:pt x="1511960" y="475691"/>
                  </a:lnTo>
                  <a:lnTo>
                    <a:pt x="1557197" y="498005"/>
                  </a:lnTo>
                  <a:lnTo>
                    <a:pt x="1605915" y="511060"/>
                  </a:lnTo>
                  <a:lnTo>
                    <a:pt x="1639404" y="514350"/>
                  </a:lnTo>
                  <a:lnTo>
                    <a:pt x="1656257" y="514350"/>
                  </a:lnTo>
                  <a:lnTo>
                    <a:pt x="1706270" y="507771"/>
                  </a:lnTo>
                  <a:lnTo>
                    <a:pt x="1754035" y="491553"/>
                  </a:lnTo>
                  <a:lnTo>
                    <a:pt x="1797710" y="466331"/>
                  </a:lnTo>
                  <a:lnTo>
                    <a:pt x="1835632" y="433070"/>
                  </a:lnTo>
                  <a:lnTo>
                    <a:pt x="1866341" y="393052"/>
                  </a:lnTo>
                  <a:lnTo>
                    <a:pt x="1888655" y="347814"/>
                  </a:lnTo>
                  <a:lnTo>
                    <a:pt x="1898675" y="314325"/>
                  </a:lnTo>
                  <a:lnTo>
                    <a:pt x="3295650" y="314325"/>
                  </a:lnTo>
                  <a:lnTo>
                    <a:pt x="3295650" y="309321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108826" y="3953509"/>
            <a:ext cx="14668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40" dirty="0">
                <a:solidFill>
                  <a:srgbClr val="FFFFFF"/>
                </a:solidFill>
                <a:latin typeface="Verdana"/>
                <a:cs typeface="Verdana"/>
              </a:rPr>
              <a:t>6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712075" y="4389040"/>
            <a:ext cx="2205990" cy="73533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1650" b="1" spc="-80" dirty="0">
                <a:solidFill>
                  <a:srgbClr val="4A4A4A"/>
                </a:solidFill>
                <a:latin typeface="Verdana"/>
                <a:cs typeface="Verdana"/>
              </a:rPr>
              <a:t>Top</a:t>
            </a:r>
            <a:r>
              <a:rPr sz="1650" b="1" spc="-12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A4A4A"/>
                </a:solidFill>
                <a:latin typeface="Verdana"/>
                <a:cs typeface="Verdana"/>
              </a:rPr>
              <a:t>Categories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Category-</a:t>
            </a:r>
            <a:r>
              <a:rPr sz="1350" spc="-45" dirty="0">
                <a:solidFill>
                  <a:srgbClr val="4A4A4A"/>
                </a:solidFill>
                <a:latin typeface="Verdana"/>
                <a:cs typeface="Verdana"/>
              </a:rPr>
              <a:t>wise</a:t>
            </a:r>
            <a:r>
              <a:rPr sz="1350" spc="-2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A4A4A"/>
                </a:solidFill>
                <a:latin typeface="Verdana"/>
                <a:cs typeface="Verdana"/>
              </a:rPr>
              <a:t>performance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00074" y="5524499"/>
            <a:ext cx="10229850" cy="1524000"/>
            <a:chOff x="600074" y="5524499"/>
            <a:chExt cx="10229850" cy="1524000"/>
          </a:xfrm>
        </p:grpSpPr>
        <p:sp>
          <p:nvSpPr>
            <p:cNvPr id="42" name="object 42"/>
            <p:cNvSpPr/>
            <p:nvPr/>
          </p:nvSpPr>
          <p:spPr>
            <a:xfrm>
              <a:off x="609599" y="5781674"/>
              <a:ext cx="10210800" cy="1257300"/>
            </a:xfrm>
            <a:custGeom>
              <a:avLst/>
              <a:gdLst/>
              <a:ahLst/>
              <a:cxnLst/>
              <a:rect l="l" t="t" r="r" b="b"/>
              <a:pathLst>
                <a:path w="10210800" h="1257300">
                  <a:moveTo>
                    <a:pt x="10099553" y="1257299"/>
                  </a:moveTo>
                  <a:lnTo>
                    <a:pt x="111244" y="1257299"/>
                  </a:lnTo>
                  <a:lnTo>
                    <a:pt x="103502" y="1256537"/>
                  </a:lnTo>
                  <a:lnTo>
                    <a:pt x="66276" y="1245244"/>
                  </a:lnTo>
                  <a:lnTo>
                    <a:pt x="29344" y="1216898"/>
                  </a:lnTo>
                  <a:lnTo>
                    <a:pt x="6071" y="1176576"/>
                  </a:lnTo>
                  <a:lnTo>
                    <a:pt x="0" y="1146054"/>
                  </a:lnTo>
                  <a:lnTo>
                    <a:pt x="0" y="1138237"/>
                  </a:lnTo>
                  <a:lnTo>
                    <a:pt x="0" y="71196"/>
                  </a:lnTo>
                  <a:lnTo>
                    <a:pt x="13668" y="29704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10148501" y="0"/>
                  </a:lnTo>
                  <a:lnTo>
                    <a:pt x="10184806" y="15621"/>
                  </a:lnTo>
                  <a:lnTo>
                    <a:pt x="10207398" y="51661"/>
                  </a:lnTo>
                  <a:lnTo>
                    <a:pt x="10210798" y="71196"/>
                  </a:lnTo>
                  <a:lnTo>
                    <a:pt x="10210798" y="1146054"/>
                  </a:lnTo>
                  <a:lnTo>
                    <a:pt x="10198742" y="1191022"/>
                  </a:lnTo>
                  <a:lnTo>
                    <a:pt x="10170397" y="1227954"/>
                  </a:lnTo>
                  <a:lnTo>
                    <a:pt x="10130076" y="1251227"/>
                  </a:lnTo>
                  <a:lnTo>
                    <a:pt x="10107296" y="1256537"/>
                  </a:lnTo>
                  <a:lnTo>
                    <a:pt x="10099553" y="1257299"/>
                  </a:lnTo>
                  <a:close/>
                </a:path>
              </a:pathLst>
            </a:custGeom>
            <a:solidFill>
              <a:srgbClr val="E4F9F1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00062" y="5782525"/>
              <a:ext cx="10229850" cy="1266190"/>
            </a:xfrm>
            <a:custGeom>
              <a:avLst/>
              <a:gdLst/>
              <a:ahLst/>
              <a:cxnLst/>
              <a:rect l="l" t="t" r="r" b="b"/>
              <a:pathLst>
                <a:path w="10229850" h="1266190">
                  <a:moveTo>
                    <a:pt x="10229850" y="75349"/>
                  </a:moveTo>
                  <a:lnTo>
                    <a:pt x="10217023" y="33007"/>
                  </a:lnTo>
                  <a:lnTo>
                    <a:pt x="10182809" y="4953"/>
                  </a:lnTo>
                  <a:lnTo>
                    <a:pt x="10164407" y="0"/>
                  </a:lnTo>
                  <a:lnTo>
                    <a:pt x="10168522" y="1092"/>
                  </a:lnTo>
                  <a:lnTo>
                    <a:pt x="10182530" y="8826"/>
                  </a:lnTo>
                  <a:lnTo>
                    <a:pt x="10206457" y="46189"/>
                  </a:lnTo>
                  <a:lnTo>
                    <a:pt x="10210800" y="75349"/>
                  </a:lnTo>
                  <a:lnTo>
                    <a:pt x="10210800" y="1137386"/>
                  </a:lnTo>
                  <a:lnTo>
                    <a:pt x="10202469" y="1179309"/>
                  </a:lnTo>
                  <a:lnTo>
                    <a:pt x="10178263" y="1215263"/>
                  </a:lnTo>
                  <a:lnTo>
                    <a:pt x="10143185" y="1238592"/>
                  </a:lnTo>
                  <a:lnTo>
                    <a:pt x="10101262" y="1246924"/>
                  </a:lnTo>
                  <a:lnTo>
                    <a:pt x="128587" y="1246924"/>
                  </a:lnTo>
                  <a:lnTo>
                    <a:pt x="86677" y="1238592"/>
                  </a:lnTo>
                  <a:lnTo>
                    <a:pt x="51638" y="1215301"/>
                  </a:lnTo>
                  <a:lnTo>
                    <a:pt x="27393" y="1179309"/>
                  </a:lnTo>
                  <a:lnTo>
                    <a:pt x="19050" y="1137386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137386"/>
                  </a:lnTo>
                  <a:lnTo>
                    <a:pt x="9791" y="1186599"/>
                  </a:lnTo>
                  <a:lnTo>
                    <a:pt x="37706" y="1228280"/>
                  </a:lnTo>
                  <a:lnTo>
                    <a:pt x="38112" y="1228737"/>
                  </a:lnTo>
                  <a:lnTo>
                    <a:pt x="47053" y="1236840"/>
                  </a:lnTo>
                  <a:lnTo>
                    <a:pt x="91325" y="1260475"/>
                  </a:lnTo>
                  <a:lnTo>
                    <a:pt x="128587" y="1265974"/>
                  </a:lnTo>
                  <a:lnTo>
                    <a:pt x="10101262" y="1265974"/>
                  </a:lnTo>
                  <a:lnTo>
                    <a:pt x="10150475" y="1256195"/>
                  </a:lnTo>
                  <a:lnTo>
                    <a:pt x="10168369" y="1246924"/>
                  </a:lnTo>
                  <a:lnTo>
                    <a:pt x="10172725" y="1244333"/>
                  </a:lnTo>
                  <a:lnTo>
                    <a:pt x="10182796" y="1236840"/>
                  </a:lnTo>
                  <a:lnTo>
                    <a:pt x="10191686" y="1228775"/>
                  </a:lnTo>
                  <a:lnTo>
                    <a:pt x="10192194" y="1228318"/>
                  </a:lnTo>
                  <a:lnTo>
                    <a:pt x="10220071" y="1186599"/>
                  </a:lnTo>
                  <a:lnTo>
                    <a:pt x="10229850" y="1137386"/>
                  </a:lnTo>
                  <a:lnTo>
                    <a:pt x="10229850" y="75349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00062" y="5524500"/>
              <a:ext cx="10229850" cy="514350"/>
            </a:xfrm>
            <a:custGeom>
              <a:avLst/>
              <a:gdLst/>
              <a:ahLst/>
              <a:cxnLst/>
              <a:rect l="l" t="t" r="r" b="b"/>
              <a:pathLst>
                <a:path w="10229850" h="514350">
                  <a:moveTo>
                    <a:pt x="10229850" y="309321"/>
                  </a:moveTo>
                  <a:lnTo>
                    <a:pt x="10214229" y="267830"/>
                  </a:lnTo>
                  <a:lnTo>
                    <a:pt x="10178199" y="242011"/>
                  </a:lnTo>
                  <a:lnTo>
                    <a:pt x="10158654" y="238125"/>
                  </a:lnTo>
                  <a:lnTo>
                    <a:pt x="5371465" y="238125"/>
                  </a:lnTo>
                  <a:lnTo>
                    <a:pt x="5370042" y="223596"/>
                  </a:lnTo>
                  <a:lnTo>
                    <a:pt x="5358587" y="174472"/>
                  </a:lnTo>
                  <a:lnTo>
                    <a:pt x="5337772" y="128524"/>
                  </a:lnTo>
                  <a:lnTo>
                    <a:pt x="5308384" y="87515"/>
                  </a:lnTo>
                  <a:lnTo>
                    <a:pt x="5271567" y="53035"/>
                  </a:lnTo>
                  <a:lnTo>
                    <a:pt x="5228729" y="26403"/>
                  </a:lnTo>
                  <a:lnTo>
                    <a:pt x="5181524" y="8636"/>
                  </a:lnTo>
                  <a:lnTo>
                    <a:pt x="5131752" y="419"/>
                  </a:lnTo>
                  <a:lnTo>
                    <a:pt x="5123358" y="0"/>
                  </a:lnTo>
                  <a:lnTo>
                    <a:pt x="5106505" y="0"/>
                  </a:lnTo>
                  <a:lnTo>
                    <a:pt x="5056492" y="6591"/>
                  </a:lnTo>
                  <a:lnTo>
                    <a:pt x="5008727" y="22809"/>
                  </a:lnTo>
                  <a:lnTo>
                    <a:pt x="4965052" y="48031"/>
                  </a:lnTo>
                  <a:lnTo>
                    <a:pt x="4927130" y="81292"/>
                  </a:lnTo>
                  <a:lnTo>
                    <a:pt x="4896421" y="121310"/>
                  </a:lnTo>
                  <a:lnTo>
                    <a:pt x="4874107" y="166547"/>
                  </a:lnTo>
                  <a:lnTo>
                    <a:pt x="4861052" y="215265"/>
                  </a:lnTo>
                  <a:lnTo>
                    <a:pt x="4858385" y="238125"/>
                  </a:lnTo>
                  <a:lnTo>
                    <a:pt x="71208" y="238125"/>
                  </a:lnTo>
                  <a:lnTo>
                    <a:pt x="29705" y="253746"/>
                  </a:lnTo>
                  <a:lnTo>
                    <a:pt x="3886" y="289788"/>
                  </a:lnTo>
                  <a:lnTo>
                    <a:pt x="0" y="309321"/>
                  </a:lnTo>
                  <a:lnTo>
                    <a:pt x="0" y="314325"/>
                  </a:lnTo>
                  <a:lnTo>
                    <a:pt x="4864074" y="314325"/>
                  </a:lnTo>
                  <a:lnTo>
                    <a:pt x="4864341" y="315620"/>
                  </a:lnTo>
                  <a:lnTo>
                    <a:pt x="4880559" y="363385"/>
                  </a:lnTo>
                  <a:lnTo>
                    <a:pt x="4905781" y="407060"/>
                  </a:lnTo>
                  <a:lnTo>
                    <a:pt x="4939042" y="444982"/>
                  </a:lnTo>
                  <a:lnTo>
                    <a:pt x="4979060" y="475691"/>
                  </a:lnTo>
                  <a:lnTo>
                    <a:pt x="5024298" y="498005"/>
                  </a:lnTo>
                  <a:lnTo>
                    <a:pt x="5073015" y="511060"/>
                  </a:lnTo>
                  <a:lnTo>
                    <a:pt x="5106505" y="514350"/>
                  </a:lnTo>
                  <a:lnTo>
                    <a:pt x="5123358" y="514350"/>
                  </a:lnTo>
                  <a:lnTo>
                    <a:pt x="5173370" y="507771"/>
                  </a:lnTo>
                  <a:lnTo>
                    <a:pt x="5221135" y="491553"/>
                  </a:lnTo>
                  <a:lnTo>
                    <a:pt x="5264810" y="466331"/>
                  </a:lnTo>
                  <a:lnTo>
                    <a:pt x="5302732" y="433070"/>
                  </a:lnTo>
                  <a:lnTo>
                    <a:pt x="5333441" y="393052"/>
                  </a:lnTo>
                  <a:lnTo>
                    <a:pt x="5355755" y="347814"/>
                  </a:lnTo>
                  <a:lnTo>
                    <a:pt x="5365775" y="314325"/>
                  </a:lnTo>
                  <a:lnTo>
                    <a:pt x="10229850" y="314325"/>
                  </a:lnTo>
                  <a:lnTo>
                    <a:pt x="10229850" y="309321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641726" y="5648959"/>
            <a:ext cx="14668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40" dirty="0">
                <a:solidFill>
                  <a:srgbClr val="FFFFFF"/>
                </a:solidFill>
                <a:latin typeface="Verdana"/>
                <a:cs typeface="Verdana"/>
              </a:rPr>
              <a:t>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77874" y="6063058"/>
            <a:ext cx="2231390" cy="75628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100" dirty="0">
                <a:solidFill>
                  <a:srgbClr val="4A4A4A"/>
                </a:solidFill>
                <a:latin typeface="Verdana"/>
                <a:cs typeface="Verdana"/>
              </a:rPr>
              <a:t>KPI </a:t>
            </a:r>
            <a:r>
              <a:rPr sz="1650" b="1" spc="-85" dirty="0">
                <a:solidFill>
                  <a:srgbClr val="4A4A4A"/>
                </a:solidFill>
                <a:latin typeface="Verdana"/>
                <a:cs typeface="Verdana"/>
              </a:rPr>
              <a:t>Dashboard</a:t>
            </a:r>
            <a:r>
              <a:rPr sz="1650" b="1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35" dirty="0">
                <a:solidFill>
                  <a:srgbClr val="4A4A4A"/>
                </a:solidFill>
                <a:latin typeface="Verdana"/>
                <a:cs typeface="Verdana"/>
              </a:rPr>
              <a:t>Prep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350" spc="-55" dirty="0">
                <a:solidFill>
                  <a:srgbClr val="4A4A4A"/>
                </a:solidFill>
                <a:latin typeface="Verdana"/>
                <a:cs typeface="Verdana"/>
              </a:rPr>
              <a:t>Final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summary</a:t>
            </a:r>
            <a:r>
              <a:rPr sz="1350" spc="-9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Verdana"/>
                <a:cs typeface="Verdana"/>
              </a:rPr>
              <a:t>output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215" y="602615"/>
            <a:ext cx="11785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10" dirty="0">
                <a:solidFill>
                  <a:srgbClr val="4B4A4A"/>
                </a:solidFill>
                <a:latin typeface="Verdana"/>
                <a:cs typeface="Verdana"/>
              </a:rPr>
              <a:t>CORE</a:t>
            </a:r>
            <a:r>
              <a:rPr sz="10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B4A4A"/>
                </a:solidFill>
                <a:latin typeface="Verdana"/>
                <a:cs typeface="Verdana"/>
              </a:rPr>
              <a:t>FORMULAS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5" y="949325"/>
            <a:ext cx="655256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pc="-245"/>
              <a:t>Revenue</a:t>
            </a:r>
            <a:r>
              <a:rPr lang="en-IN" spc="-280"/>
              <a:t> </a:t>
            </a:r>
            <a:r>
              <a:rPr lang="en-IN" spc="-210"/>
              <a:t>&amp;</a:t>
            </a:r>
            <a:r>
              <a:rPr lang="en-IN" spc="-275"/>
              <a:t> </a:t>
            </a:r>
            <a:r>
              <a:rPr lang="en-IN" spc="-105"/>
              <a:t>Profit</a:t>
            </a:r>
            <a:r>
              <a:rPr lang="en-IN" spc="-275"/>
              <a:t> </a:t>
            </a:r>
            <a:r>
              <a:rPr lang="en-IN" spc="-105"/>
              <a:t>Calculations</a:t>
            </a:r>
            <a:endParaRPr lang="en-IN" spc="-105" dirty="0"/>
          </a:p>
        </p:txBody>
      </p:sp>
      <p:sp>
        <p:nvSpPr>
          <p:cNvPr id="4" name="object 4"/>
          <p:cNvSpPr/>
          <p:nvPr/>
        </p:nvSpPr>
        <p:spPr>
          <a:xfrm>
            <a:off x="600062" y="3086099"/>
            <a:ext cx="4906010" cy="619760"/>
          </a:xfrm>
          <a:custGeom>
            <a:avLst/>
            <a:gdLst/>
            <a:ahLst/>
            <a:cxnLst/>
            <a:rect l="l" t="t" r="r" b="b"/>
            <a:pathLst>
              <a:path w="4906010" h="619760">
                <a:moveTo>
                  <a:pt x="4905387" y="120142"/>
                </a:moveTo>
                <a:lnTo>
                  <a:pt x="4904562" y="111798"/>
                </a:lnTo>
                <a:lnTo>
                  <a:pt x="4902987" y="103936"/>
                </a:lnTo>
                <a:lnTo>
                  <a:pt x="4902936" y="103505"/>
                </a:lnTo>
                <a:lnTo>
                  <a:pt x="4902822" y="103098"/>
                </a:lnTo>
                <a:lnTo>
                  <a:pt x="4901273" y="95237"/>
                </a:lnTo>
                <a:lnTo>
                  <a:pt x="4898834" y="87185"/>
                </a:lnTo>
                <a:lnTo>
                  <a:pt x="4892370" y="71577"/>
                </a:lnTo>
                <a:lnTo>
                  <a:pt x="4888408" y="64173"/>
                </a:lnTo>
                <a:lnTo>
                  <a:pt x="4883848" y="57353"/>
                </a:lnTo>
                <a:lnTo>
                  <a:pt x="4883721" y="57137"/>
                </a:lnTo>
                <a:lnTo>
                  <a:pt x="4883569" y="56946"/>
                </a:lnTo>
                <a:lnTo>
                  <a:pt x="4879022" y="50126"/>
                </a:lnTo>
                <a:lnTo>
                  <a:pt x="4873701" y="43637"/>
                </a:lnTo>
                <a:lnTo>
                  <a:pt x="4861750" y="31686"/>
                </a:lnTo>
                <a:lnTo>
                  <a:pt x="4855261" y="26365"/>
                </a:lnTo>
                <a:lnTo>
                  <a:pt x="4848618" y="21932"/>
                </a:lnTo>
                <a:lnTo>
                  <a:pt x="4848250" y="21653"/>
                </a:lnTo>
                <a:lnTo>
                  <a:pt x="4847844" y="21424"/>
                </a:lnTo>
                <a:lnTo>
                  <a:pt x="4841214" y="16979"/>
                </a:lnTo>
                <a:lnTo>
                  <a:pt x="4833810" y="13017"/>
                </a:lnTo>
                <a:lnTo>
                  <a:pt x="4818202" y="6553"/>
                </a:lnTo>
                <a:lnTo>
                  <a:pt x="4810163" y="4114"/>
                </a:lnTo>
                <a:lnTo>
                  <a:pt x="4802263" y="2552"/>
                </a:lnTo>
                <a:lnTo>
                  <a:pt x="4801882" y="2451"/>
                </a:lnTo>
                <a:lnTo>
                  <a:pt x="4801476" y="2400"/>
                </a:lnTo>
                <a:lnTo>
                  <a:pt x="4793589" y="825"/>
                </a:lnTo>
                <a:lnTo>
                  <a:pt x="4785233" y="0"/>
                </a:lnTo>
                <a:lnTo>
                  <a:pt x="120154" y="0"/>
                </a:lnTo>
                <a:lnTo>
                  <a:pt x="111785" y="825"/>
                </a:lnTo>
                <a:lnTo>
                  <a:pt x="103873" y="2400"/>
                </a:lnTo>
                <a:lnTo>
                  <a:pt x="103505" y="2451"/>
                </a:lnTo>
                <a:lnTo>
                  <a:pt x="103136" y="2552"/>
                </a:lnTo>
                <a:lnTo>
                  <a:pt x="95224" y="4114"/>
                </a:lnTo>
                <a:lnTo>
                  <a:pt x="87185" y="6553"/>
                </a:lnTo>
                <a:lnTo>
                  <a:pt x="71577" y="13017"/>
                </a:lnTo>
                <a:lnTo>
                  <a:pt x="64173" y="16979"/>
                </a:lnTo>
                <a:lnTo>
                  <a:pt x="57531" y="21424"/>
                </a:lnTo>
                <a:lnTo>
                  <a:pt x="57137" y="21653"/>
                </a:lnTo>
                <a:lnTo>
                  <a:pt x="56756" y="21932"/>
                </a:lnTo>
                <a:lnTo>
                  <a:pt x="50126" y="26365"/>
                </a:lnTo>
                <a:lnTo>
                  <a:pt x="43637" y="31686"/>
                </a:lnTo>
                <a:lnTo>
                  <a:pt x="37668" y="37668"/>
                </a:lnTo>
                <a:lnTo>
                  <a:pt x="31699" y="43637"/>
                </a:lnTo>
                <a:lnTo>
                  <a:pt x="26365" y="50126"/>
                </a:lnTo>
                <a:lnTo>
                  <a:pt x="21983" y="56692"/>
                </a:lnTo>
                <a:lnTo>
                  <a:pt x="21653" y="57137"/>
                </a:lnTo>
                <a:lnTo>
                  <a:pt x="21348" y="57632"/>
                </a:lnTo>
                <a:lnTo>
                  <a:pt x="9766" y="79463"/>
                </a:lnTo>
                <a:lnTo>
                  <a:pt x="6565" y="87185"/>
                </a:lnTo>
                <a:lnTo>
                  <a:pt x="4127" y="95237"/>
                </a:lnTo>
                <a:lnTo>
                  <a:pt x="2578" y="102971"/>
                </a:lnTo>
                <a:lnTo>
                  <a:pt x="2451" y="103505"/>
                </a:lnTo>
                <a:lnTo>
                  <a:pt x="2362" y="104051"/>
                </a:lnTo>
                <a:lnTo>
                  <a:pt x="825" y="111798"/>
                </a:lnTo>
                <a:lnTo>
                  <a:pt x="12" y="120142"/>
                </a:lnTo>
                <a:lnTo>
                  <a:pt x="12" y="128346"/>
                </a:lnTo>
                <a:lnTo>
                  <a:pt x="0" y="128600"/>
                </a:lnTo>
                <a:lnTo>
                  <a:pt x="0" y="490550"/>
                </a:lnTo>
                <a:lnTo>
                  <a:pt x="12" y="490816"/>
                </a:lnTo>
                <a:lnTo>
                  <a:pt x="12" y="498983"/>
                </a:lnTo>
                <a:lnTo>
                  <a:pt x="825" y="507352"/>
                </a:lnTo>
                <a:lnTo>
                  <a:pt x="2374" y="515150"/>
                </a:lnTo>
                <a:lnTo>
                  <a:pt x="2451" y="515632"/>
                </a:lnTo>
                <a:lnTo>
                  <a:pt x="2565" y="516128"/>
                </a:lnTo>
                <a:lnTo>
                  <a:pt x="4127" y="523913"/>
                </a:lnTo>
                <a:lnTo>
                  <a:pt x="6565" y="531939"/>
                </a:lnTo>
                <a:lnTo>
                  <a:pt x="9690" y="539508"/>
                </a:lnTo>
                <a:lnTo>
                  <a:pt x="9791" y="539762"/>
                </a:lnTo>
                <a:lnTo>
                  <a:pt x="9906" y="540016"/>
                </a:lnTo>
                <a:lnTo>
                  <a:pt x="13030" y="547547"/>
                </a:lnTo>
                <a:lnTo>
                  <a:pt x="16992" y="554951"/>
                </a:lnTo>
                <a:lnTo>
                  <a:pt x="21285" y="561390"/>
                </a:lnTo>
                <a:lnTo>
                  <a:pt x="21653" y="562000"/>
                </a:lnTo>
                <a:lnTo>
                  <a:pt x="22059" y="562559"/>
                </a:lnTo>
                <a:lnTo>
                  <a:pt x="26365" y="568998"/>
                </a:lnTo>
                <a:lnTo>
                  <a:pt x="31699" y="575487"/>
                </a:lnTo>
                <a:lnTo>
                  <a:pt x="37541" y="581342"/>
                </a:lnTo>
                <a:lnTo>
                  <a:pt x="37668" y="581469"/>
                </a:lnTo>
                <a:lnTo>
                  <a:pt x="37795" y="581596"/>
                </a:lnTo>
                <a:lnTo>
                  <a:pt x="43637" y="587425"/>
                </a:lnTo>
                <a:lnTo>
                  <a:pt x="50126" y="592759"/>
                </a:lnTo>
                <a:lnTo>
                  <a:pt x="56591" y="597090"/>
                </a:lnTo>
                <a:lnTo>
                  <a:pt x="57137" y="597484"/>
                </a:lnTo>
                <a:lnTo>
                  <a:pt x="57696" y="597827"/>
                </a:lnTo>
                <a:lnTo>
                  <a:pt x="64173" y="602145"/>
                </a:lnTo>
                <a:lnTo>
                  <a:pt x="71577" y="606120"/>
                </a:lnTo>
                <a:lnTo>
                  <a:pt x="87185" y="612571"/>
                </a:lnTo>
                <a:lnTo>
                  <a:pt x="95224" y="615010"/>
                </a:lnTo>
                <a:lnTo>
                  <a:pt x="102895" y="616546"/>
                </a:lnTo>
                <a:lnTo>
                  <a:pt x="103505" y="616686"/>
                </a:lnTo>
                <a:lnTo>
                  <a:pt x="104114" y="616788"/>
                </a:lnTo>
                <a:lnTo>
                  <a:pt x="111785" y="618299"/>
                </a:lnTo>
                <a:lnTo>
                  <a:pt x="120154" y="619137"/>
                </a:lnTo>
                <a:lnTo>
                  <a:pt x="128587" y="619137"/>
                </a:lnTo>
                <a:lnTo>
                  <a:pt x="4776787" y="619137"/>
                </a:lnTo>
                <a:lnTo>
                  <a:pt x="4785233" y="619137"/>
                </a:lnTo>
                <a:lnTo>
                  <a:pt x="4793589" y="618299"/>
                </a:lnTo>
                <a:lnTo>
                  <a:pt x="4801235" y="616788"/>
                </a:lnTo>
                <a:lnTo>
                  <a:pt x="4801882" y="616686"/>
                </a:lnTo>
                <a:lnTo>
                  <a:pt x="4802505" y="616534"/>
                </a:lnTo>
                <a:lnTo>
                  <a:pt x="4810163" y="615010"/>
                </a:lnTo>
                <a:lnTo>
                  <a:pt x="4818202" y="612571"/>
                </a:lnTo>
                <a:lnTo>
                  <a:pt x="4826000" y="609346"/>
                </a:lnTo>
                <a:lnTo>
                  <a:pt x="4833810" y="606120"/>
                </a:lnTo>
                <a:lnTo>
                  <a:pt x="4841214" y="602145"/>
                </a:lnTo>
                <a:lnTo>
                  <a:pt x="4847679" y="597827"/>
                </a:lnTo>
                <a:lnTo>
                  <a:pt x="4848250" y="597484"/>
                </a:lnTo>
                <a:lnTo>
                  <a:pt x="4848771" y="597090"/>
                </a:lnTo>
                <a:lnTo>
                  <a:pt x="4855261" y="592759"/>
                </a:lnTo>
                <a:lnTo>
                  <a:pt x="4861750" y="587425"/>
                </a:lnTo>
                <a:lnTo>
                  <a:pt x="4867707" y="581469"/>
                </a:lnTo>
                <a:lnTo>
                  <a:pt x="4873701" y="575487"/>
                </a:lnTo>
                <a:lnTo>
                  <a:pt x="4879022" y="568998"/>
                </a:lnTo>
                <a:lnTo>
                  <a:pt x="4883480" y="562317"/>
                </a:lnTo>
                <a:lnTo>
                  <a:pt x="4883721" y="562000"/>
                </a:lnTo>
                <a:lnTo>
                  <a:pt x="4883912" y="561670"/>
                </a:lnTo>
                <a:lnTo>
                  <a:pt x="4888408" y="554951"/>
                </a:lnTo>
                <a:lnTo>
                  <a:pt x="4892370" y="547547"/>
                </a:lnTo>
                <a:lnTo>
                  <a:pt x="4895583" y="539762"/>
                </a:lnTo>
                <a:lnTo>
                  <a:pt x="4898834" y="531939"/>
                </a:lnTo>
                <a:lnTo>
                  <a:pt x="4901273" y="523913"/>
                </a:lnTo>
                <a:lnTo>
                  <a:pt x="4902835" y="516001"/>
                </a:lnTo>
                <a:lnTo>
                  <a:pt x="4902936" y="515632"/>
                </a:lnTo>
                <a:lnTo>
                  <a:pt x="4902987" y="515264"/>
                </a:lnTo>
                <a:lnTo>
                  <a:pt x="4904562" y="507352"/>
                </a:lnTo>
                <a:lnTo>
                  <a:pt x="4905387" y="498983"/>
                </a:lnTo>
                <a:lnTo>
                  <a:pt x="4905387" y="120142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0062" y="5076825"/>
            <a:ext cx="4906010" cy="619760"/>
          </a:xfrm>
          <a:custGeom>
            <a:avLst/>
            <a:gdLst/>
            <a:ahLst/>
            <a:cxnLst/>
            <a:rect l="l" t="t" r="r" b="b"/>
            <a:pathLst>
              <a:path w="4906010" h="619760">
                <a:moveTo>
                  <a:pt x="4905387" y="120154"/>
                </a:moveTo>
                <a:lnTo>
                  <a:pt x="4904562" y="111785"/>
                </a:lnTo>
                <a:lnTo>
                  <a:pt x="4902987" y="103886"/>
                </a:lnTo>
                <a:lnTo>
                  <a:pt x="4902936" y="103505"/>
                </a:lnTo>
                <a:lnTo>
                  <a:pt x="4902835" y="103149"/>
                </a:lnTo>
                <a:lnTo>
                  <a:pt x="4901273" y="95224"/>
                </a:lnTo>
                <a:lnTo>
                  <a:pt x="4898834" y="87185"/>
                </a:lnTo>
                <a:lnTo>
                  <a:pt x="4892370" y="71577"/>
                </a:lnTo>
                <a:lnTo>
                  <a:pt x="4888408" y="64160"/>
                </a:lnTo>
                <a:lnTo>
                  <a:pt x="4883810" y="57289"/>
                </a:lnTo>
                <a:lnTo>
                  <a:pt x="4883721" y="57137"/>
                </a:lnTo>
                <a:lnTo>
                  <a:pt x="4883607" y="56997"/>
                </a:lnTo>
                <a:lnTo>
                  <a:pt x="4879022" y="50126"/>
                </a:lnTo>
                <a:lnTo>
                  <a:pt x="4873701" y="43649"/>
                </a:lnTo>
                <a:lnTo>
                  <a:pt x="4867707" y="37668"/>
                </a:lnTo>
                <a:lnTo>
                  <a:pt x="4861750" y="31686"/>
                </a:lnTo>
                <a:lnTo>
                  <a:pt x="4855261" y="26352"/>
                </a:lnTo>
                <a:lnTo>
                  <a:pt x="4848530" y="21869"/>
                </a:lnTo>
                <a:lnTo>
                  <a:pt x="4848250" y="21653"/>
                </a:lnTo>
                <a:lnTo>
                  <a:pt x="4847933" y="21475"/>
                </a:lnTo>
                <a:lnTo>
                  <a:pt x="4810163" y="4114"/>
                </a:lnTo>
                <a:lnTo>
                  <a:pt x="4802263" y="2552"/>
                </a:lnTo>
                <a:lnTo>
                  <a:pt x="4801882" y="2451"/>
                </a:lnTo>
                <a:lnTo>
                  <a:pt x="4801476" y="2400"/>
                </a:lnTo>
                <a:lnTo>
                  <a:pt x="4793589" y="825"/>
                </a:lnTo>
                <a:lnTo>
                  <a:pt x="4785233" y="0"/>
                </a:lnTo>
                <a:lnTo>
                  <a:pt x="120154" y="0"/>
                </a:lnTo>
                <a:lnTo>
                  <a:pt x="111785" y="825"/>
                </a:lnTo>
                <a:lnTo>
                  <a:pt x="103873" y="2400"/>
                </a:lnTo>
                <a:lnTo>
                  <a:pt x="103505" y="2451"/>
                </a:lnTo>
                <a:lnTo>
                  <a:pt x="103136" y="2552"/>
                </a:lnTo>
                <a:lnTo>
                  <a:pt x="95224" y="4114"/>
                </a:lnTo>
                <a:lnTo>
                  <a:pt x="87185" y="6553"/>
                </a:lnTo>
                <a:lnTo>
                  <a:pt x="71577" y="13017"/>
                </a:lnTo>
                <a:lnTo>
                  <a:pt x="64173" y="16979"/>
                </a:lnTo>
                <a:lnTo>
                  <a:pt x="57442" y="21475"/>
                </a:lnTo>
                <a:lnTo>
                  <a:pt x="57137" y="21653"/>
                </a:lnTo>
                <a:lnTo>
                  <a:pt x="56845" y="21869"/>
                </a:lnTo>
                <a:lnTo>
                  <a:pt x="50126" y="26352"/>
                </a:lnTo>
                <a:lnTo>
                  <a:pt x="43637" y="31686"/>
                </a:lnTo>
                <a:lnTo>
                  <a:pt x="37668" y="37668"/>
                </a:lnTo>
                <a:lnTo>
                  <a:pt x="31699" y="43649"/>
                </a:lnTo>
                <a:lnTo>
                  <a:pt x="26365" y="50126"/>
                </a:lnTo>
                <a:lnTo>
                  <a:pt x="21945" y="56743"/>
                </a:lnTo>
                <a:lnTo>
                  <a:pt x="21653" y="57137"/>
                </a:lnTo>
                <a:lnTo>
                  <a:pt x="21386" y="57569"/>
                </a:lnTo>
                <a:lnTo>
                  <a:pt x="9766" y="79463"/>
                </a:lnTo>
                <a:lnTo>
                  <a:pt x="6565" y="87185"/>
                </a:lnTo>
                <a:lnTo>
                  <a:pt x="4127" y="95224"/>
                </a:lnTo>
                <a:lnTo>
                  <a:pt x="2565" y="103022"/>
                </a:lnTo>
                <a:lnTo>
                  <a:pt x="2451" y="103505"/>
                </a:lnTo>
                <a:lnTo>
                  <a:pt x="2374" y="104000"/>
                </a:lnTo>
                <a:lnTo>
                  <a:pt x="825" y="111785"/>
                </a:lnTo>
                <a:lnTo>
                  <a:pt x="12" y="120154"/>
                </a:lnTo>
                <a:lnTo>
                  <a:pt x="12" y="128346"/>
                </a:lnTo>
                <a:lnTo>
                  <a:pt x="0" y="128600"/>
                </a:lnTo>
                <a:lnTo>
                  <a:pt x="0" y="490550"/>
                </a:lnTo>
                <a:lnTo>
                  <a:pt x="12" y="490816"/>
                </a:lnTo>
                <a:lnTo>
                  <a:pt x="12" y="498983"/>
                </a:lnTo>
                <a:lnTo>
                  <a:pt x="825" y="507352"/>
                </a:lnTo>
                <a:lnTo>
                  <a:pt x="2374" y="515124"/>
                </a:lnTo>
                <a:lnTo>
                  <a:pt x="2451" y="515632"/>
                </a:lnTo>
                <a:lnTo>
                  <a:pt x="2578" y="516153"/>
                </a:lnTo>
                <a:lnTo>
                  <a:pt x="4127" y="523900"/>
                </a:lnTo>
                <a:lnTo>
                  <a:pt x="6565" y="531952"/>
                </a:lnTo>
                <a:lnTo>
                  <a:pt x="9740" y="539648"/>
                </a:lnTo>
                <a:lnTo>
                  <a:pt x="9842" y="539864"/>
                </a:lnTo>
                <a:lnTo>
                  <a:pt x="13030" y="547547"/>
                </a:lnTo>
                <a:lnTo>
                  <a:pt x="16992" y="554964"/>
                </a:lnTo>
                <a:lnTo>
                  <a:pt x="21323" y="561454"/>
                </a:lnTo>
                <a:lnTo>
                  <a:pt x="21653" y="562000"/>
                </a:lnTo>
                <a:lnTo>
                  <a:pt x="22021" y="562508"/>
                </a:lnTo>
                <a:lnTo>
                  <a:pt x="26365" y="568998"/>
                </a:lnTo>
                <a:lnTo>
                  <a:pt x="31699" y="575500"/>
                </a:lnTo>
                <a:lnTo>
                  <a:pt x="37668" y="581469"/>
                </a:lnTo>
                <a:lnTo>
                  <a:pt x="43637" y="587438"/>
                </a:lnTo>
                <a:lnTo>
                  <a:pt x="50126" y="592772"/>
                </a:lnTo>
                <a:lnTo>
                  <a:pt x="56680" y="597154"/>
                </a:lnTo>
                <a:lnTo>
                  <a:pt x="57137" y="597484"/>
                </a:lnTo>
                <a:lnTo>
                  <a:pt x="57619" y="597789"/>
                </a:lnTo>
                <a:lnTo>
                  <a:pt x="64173" y="602145"/>
                </a:lnTo>
                <a:lnTo>
                  <a:pt x="71577" y="606107"/>
                </a:lnTo>
                <a:lnTo>
                  <a:pt x="79311" y="609320"/>
                </a:lnTo>
                <a:lnTo>
                  <a:pt x="79451" y="609371"/>
                </a:lnTo>
                <a:lnTo>
                  <a:pt x="87185" y="612571"/>
                </a:lnTo>
                <a:lnTo>
                  <a:pt x="95224" y="615010"/>
                </a:lnTo>
                <a:lnTo>
                  <a:pt x="102895" y="616546"/>
                </a:lnTo>
                <a:lnTo>
                  <a:pt x="103505" y="616686"/>
                </a:lnTo>
                <a:lnTo>
                  <a:pt x="104114" y="616788"/>
                </a:lnTo>
                <a:lnTo>
                  <a:pt x="111785" y="618299"/>
                </a:lnTo>
                <a:lnTo>
                  <a:pt x="120154" y="619125"/>
                </a:lnTo>
                <a:lnTo>
                  <a:pt x="128320" y="619125"/>
                </a:lnTo>
                <a:lnTo>
                  <a:pt x="128587" y="619137"/>
                </a:lnTo>
                <a:lnTo>
                  <a:pt x="4776787" y="619137"/>
                </a:lnTo>
                <a:lnTo>
                  <a:pt x="4777041" y="619125"/>
                </a:lnTo>
                <a:lnTo>
                  <a:pt x="4785233" y="619125"/>
                </a:lnTo>
                <a:lnTo>
                  <a:pt x="4793589" y="618299"/>
                </a:lnTo>
                <a:lnTo>
                  <a:pt x="4801235" y="616788"/>
                </a:lnTo>
                <a:lnTo>
                  <a:pt x="4801882" y="616686"/>
                </a:lnTo>
                <a:lnTo>
                  <a:pt x="4802505" y="616534"/>
                </a:lnTo>
                <a:lnTo>
                  <a:pt x="4810163" y="615010"/>
                </a:lnTo>
                <a:lnTo>
                  <a:pt x="4818202" y="612571"/>
                </a:lnTo>
                <a:lnTo>
                  <a:pt x="4825987" y="609346"/>
                </a:lnTo>
                <a:lnTo>
                  <a:pt x="4833810" y="606107"/>
                </a:lnTo>
                <a:lnTo>
                  <a:pt x="4841214" y="602145"/>
                </a:lnTo>
                <a:lnTo>
                  <a:pt x="4847755" y="597789"/>
                </a:lnTo>
                <a:lnTo>
                  <a:pt x="4848250" y="597484"/>
                </a:lnTo>
                <a:lnTo>
                  <a:pt x="4848682" y="597166"/>
                </a:lnTo>
                <a:lnTo>
                  <a:pt x="4855261" y="592772"/>
                </a:lnTo>
                <a:lnTo>
                  <a:pt x="4861750" y="587438"/>
                </a:lnTo>
                <a:lnTo>
                  <a:pt x="4873701" y="575500"/>
                </a:lnTo>
                <a:lnTo>
                  <a:pt x="4879022" y="568998"/>
                </a:lnTo>
                <a:lnTo>
                  <a:pt x="4883518" y="562267"/>
                </a:lnTo>
                <a:lnTo>
                  <a:pt x="4883721" y="562000"/>
                </a:lnTo>
                <a:lnTo>
                  <a:pt x="4883874" y="561733"/>
                </a:lnTo>
                <a:lnTo>
                  <a:pt x="4888408" y="554964"/>
                </a:lnTo>
                <a:lnTo>
                  <a:pt x="4892370" y="547547"/>
                </a:lnTo>
                <a:lnTo>
                  <a:pt x="4898834" y="531952"/>
                </a:lnTo>
                <a:lnTo>
                  <a:pt x="4901273" y="523900"/>
                </a:lnTo>
                <a:lnTo>
                  <a:pt x="4902835" y="516026"/>
                </a:lnTo>
                <a:lnTo>
                  <a:pt x="4902936" y="515632"/>
                </a:lnTo>
                <a:lnTo>
                  <a:pt x="4902987" y="515239"/>
                </a:lnTo>
                <a:lnTo>
                  <a:pt x="4904562" y="507352"/>
                </a:lnTo>
                <a:lnTo>
                  <a:pt x="4905387" y="498983"/>
                </a:lnTo>
                <a:lnTo>
                  <a:pt x="4905387" y="120154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65"/>
              <a:t>BR-</a:t>
            </a:r>
            <a:r>
              <a:rPr lang="en-US"/>
              <a:t>f:</a:t>
            </a:r>
            <a:r>
              <a:rPr lang="en-US" spc="-105"/>
              <a:t> </a:t>
            </a:r>
            <a:r>
              <a:rPr lang="en-US" spc="-110"/>
              <a:t>Revenue</a:t>
            </a:r>
            <a:r>
              <a:rPr lang="en-US" spc="-100"/>
              <a:t> </a:t>
            </a:r>
            <a:r>
              <a:rPr lang="en-US" spc="-60"/>
              <a:t>per</a:t>
            </a:r>
            <a:r>
              <a:rPr lang="en-US" spc="-100"/>
              <a:t> </a:t>
            </a:r>
            <a:r>
              <a:rPr lang="en-US" spc="-10"/>
              <a:t>Order</a:t>
            </a:r>
          </a:p>
          <a:p>
            <a:pPr marL="12700" marR="5080">
              <a:lnSpc>
                <a:spcPct val="134300"/>
              </a:lnSpc>
              <a:spcBef>
                <a:spcPts val="915"/>
              </a:spcBef>
            </a:pPr>
            <a:r>
              <a:rPr lang="en-US" sz="1350" b="0" spc="-50">
                <a:solidFill>
                  <a:srgbClr val="4B4A4A"/>
                </a:solidFill>
                <a:latin typeface="Verdana"/>
                <a:cs typeface="Verdana"/>
              </a:rPr>
              <a:t>Multiplies</a:t>
            </a:r>
            <a:r>
              <a:rPr lang="en-US" sz="1350" b="0" spc="-11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65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75">
                <a:solidFill>
                  <a:srgbClr val="4B4A4A"/>
                </a:solidFill>
                <a:latin typeface="Verdana"/>
                <a:cs typeface="Verdana"/>
              </a:rPr>
              <a:t>unit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40">
                <a:solidFill>
                  <a:srgbClr val="4B4A4A"/>
                </a:solidFill>
                <a:latin typeface="Verdana"/>
                <a:cs typeface="Verdana"/>
              </a:rPr>
              <a:t>sales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60">
                <a:solidFill>
                  <a:srgbClr val="4B4A4A"/>
                </a:solidFill>
                <a:latin typeface="Verdana"/>
                <a:cs typeface="Verdana"/>
              </a:rPr>
              <a:t>price</a:t>
            </a:r>
            <a:r>
              <a:rPr lang="en-US" sz="1350" b="0" spc="-11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85">
                <a:solidFill>
                  <a:srgbClr val="4B4A4A"/>
                </a:solidFill>
                <a:latin typeface="Verdana"/>
                <a:cs typeface="Verdana"/>
              </a:rPr>
              <a:t>by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80">
                <a:solidFill>
                  <a:srgbClr val="4B4A4A"/>
                </a:solidFill>
                <a:latin typeface="Verdana"/>
                <a:cs typeface="Verdana"/>
              </a:rPr>
              <a:t>quantity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45">
                <a:solidFill>
                  <a:srgbClr val="4B4A4A"/>
                </a:solidFill>
                <a:latin typeface="Verdana"/>
                <a:cs typeface="Verdana"/>
              </a:rPr>
              <a:t>sold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55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lang="en-US" sz="1350" b="0" spc="-11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85">
                <a:solidFill>
                  <a:srgbClr val="4B4A4A"/>
                </a:solidFill>
                <a:latin typeface="Verdana"/>
                <a:cs typeface="Verdana"/>
              </a:rPr>
              <a:t>derive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10">
                <a:solidFill>
                  <a:srgbClr val="4B4A4A"/>
                </a:solidFill>
                <a:latin typeface="Verdana"/>
                <a:cs typeface="Verdana"/>
              </a:rPr>
              <a:t>total </a:t>
            </a:r>
            <a:r>
              <a:rPr lang="en-US" sz="1350" b="0" spc="-95">
                <a:solidFill>
                  <a:srgbClr val="4B4A4A"/>
                </a:solidFill>
                <a:latin typeface="Verdana"/>
                <a:cs typeface="Verdana"/>
              </a:rPr>
              <a:t>revenue</a:t>
            </a:r>
            <a:r>
              <a:rPr lang="en-US" sz="1350" b="0" spc="-11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55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lang="en-US" sz="1350" b="0" spc="-11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50">
                <a:solidFill>
                  <a:srgbClr val="4B4A4A"/>
                </a:solidFill>
                <a:latin typeface="Verdana"/>
                <a:cs typeface="Verdana"/>
              </a:rPr>
              <a:t>each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85">
                <a:solidFill>
                  <a:srgbClr val="4B4A4A"/>
                </a:solidFill>
                <a:latin typeface="Verdana"/>
                <a:cs typeface="Verdana"/>
              </a:rPr>
              <a:t>order</a:t>
            </a:r>
            <a:r>
              <a:rPr lang="en-US" sz="1350" b="0" spc="-11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20">
                <a:solidFill>
                  <a:srgbClr val="4B4A4A"/>
                </a:solidFill>
                <a:latin typeface="Verdana"/>
                <a:cs typeface="Verdana"/>
              </a:rPr>
              <a:t>line.</a:t>
            </a:r>
            <a:endParaRPr lang="en-US"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lang="en-US"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350">
              <a:latin typeface="Verdana"/>
              <a:cs typeface="Verdana"/>
            </a:endParaRPr>
          </a:p>
          <a:p>
            <a:pPr marL="218440">
              <a:lnSpc>
                <a:spcPct val="100000"/>
              </a:lnSpc>
            </a:pPr>
            <a:r>
              <a:rPr lang="en-US" sz="1350" b="0" spc="55">
                <a:solidFill>
                  <a:srgbClr val="4B4A4A"/>
                </a:solidFill>
                <a:latin typeface="Trebuchet MS"/>
                <a:cs typeface="Trebuchet MS"/>
              </a:rPr>
              <a:t>=</a:t>
            </a:r>
            <a:r>
              <a:rPr lang="en-US" sz="1350" b="0" spc="-35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lang="en-US" sz="1350" b="0">
                <a:solidFill>
                  <a:srgbClr val="005CC5"/>
                </a:solidFill>
                <a:latin typeface="Trebuchet MS"/>
                <a:cs typeface="Trebuchet MS"/>
              </a:rPr>
              <a:t>[Sales</a:t>
            </a:r>
            <a:r>
              <a:rPr lang="en-US" sz="1350" b="0" spc="-35">
                <a:solidFill>
                  <a:srgbClr val="005CC5"/>
                </a:solidFill>
                <a:latin typeface="Trebuchet MS"/>
                <a:cs typeface="Trebuchet MS"/>
              </a:rPr>
              <a:t> </a:t>
            </a:r>
            <a:r>
              <a:rPr lang="en-US" sz="1350" b="0" spc="-10">
                <a:solidFill>
                  <a:srgbClr val="005CC5"/>
                </a:solidFill>
                <a:latin typeface="Trebuchet MS"/>
                <a:cs typeface="Trebuchet MS"/>
              </a:rPr>
              <a:t>Price]</a:t>
            </a:r>
            <a:r>
              <a:rPr lang="en-US" sz="1350" b="0" spc="-30">
                <a:solidFill>
                  <a:srgbClr val="005CC5"/>
                </a:solidFill>
                <a:latin typeface="Trebuchet MS"/>
                <a:cs typeface="Trebuchet MS"/>
              </a:rPr>
              <a:t> </a:t>
            </a:r>
            <a:r>
              <a:rPr lang="en-US" sz="1350" b="0" spc="240">
                <a:solidFill>
                  <a:srgbClr val="4B4A4A"/>
                </a:solidFill>
                <a:latin typeface="Trebuchet MS"/>
                <a:cs typeface="Trebuchet MS"/>
              </a:rPr>
              <a:t>*</a:t>
            </a:r>
            <a:r>
              <a:rPr lang="en-US" sz="1350" b="0" spc="-35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lang="en-US" sz="1350" b="0" spc="-10">
                <a:solidFill>
                  <a:srgbClr val="005CC5"/>
                </a:solidFill>
                <a:latin typeface="Trebuchet MS"/>
                <a:cs typeface="Trebuchet MS"/>
              </a:rPr>
              <a:t>[Quantity]</a:t>
            </a:r>
            <a:endParaRPr lang="en-US"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en-US"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lang="en-US"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en-US" spc="-110"/>
              <a:t>BR-</a:t>
            </a:r>
            <a:r>
              <a:rPr lang="en-US" spc="-165"/>
              <a:t>2:</a:t>
            </a:r>
            <a:r>
              <a:rPr lang="en-US" spc="-110"/>
              <a:t> </a:t>
            </a:r>
            <a:r>
              <a:rPr lang="en-US" spc="-45"/>
              <a:t>Profit</a:t>
            </a:r>
            <a:r>
              <a:rPr lang="en-US" spc="-105"/>
              <a:t> </a:t>
            </a:r>
            <a:r>
              <a:rPr lang="en-US" spc="-10"/>
              <a:t>Earned</a:t>
            </a:r>
          </a:p>
          <a:p>
            <a:pPr marL="12700" marR="339725">
              <a:lnSpc>
                <a:spcPct val="134300"/>
              </a:lnSpc>
              <a:spcBef>
                <a:spcPts val="915"/>
              </a:spcBef>
            </a:pPr>
            <a:r>
              <a:rPr lang="en-US" sz="1350" b="0" spc="-65">
                <a:solidFill>
                  <a:srgbClr val="4B4A4A"/>
                </a:solidFill>
                <a:latin typeface="Verdana"/>
                <a:cs typeface="Verdana"/>
              </a:rPr>
              <a:t>Subtracts</a:t>
            </a:r>
            <a:r>
              <a:rPr lang="en-US" sz="1350" b="0" spc="-11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65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60">
                <a:solidFill>
                  <a:srgbClr val="4B4A4A"/>
                </a:solidFill>
                <a:latin typeface="Verdana"/>
                <a:cs typeface="Verdana"/>
              </a:rPr>
              <a:t>total</a:t>
            </a:r>
            <a:r>
              <a:rPr lang="en-US" sz="1350" b="0" spc="-11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35">
                <a:solidFill>
                  <a:srgbClr val="4B4A4A"/>
                </a:solidFill>
                <a:latin typeface="Verdana"/>
                <a:cs typeface="Verdana"/>
              </a:rPr>
              <a:t>cost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30">
                <a:solidFill>
                  <a:srgbClr val="4B4A4A"/>
                </a:solidFill>
                <a:latin typeface="Verdana"/>
                <a:cs typeface="Verdana"/>
              </a:rPr>
              <a:t>of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60">
                <a:solidFill>
                  <a:srgbClr val="4B4A4A"/>
                </a:solidFill>
                <a:latin typeface="Verdana"/>
                <a:cs typeface="Verdana"/>
              </a:rPr>
              <a:t>goods</a:t>
            </a:r>
            <a:r>
              <a:rPr lang="en-US" sz="1350" b="0" spc="-11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85">
                <a:solidFill>
                  <a:srgbClr val="4B4A4A"/>
                </a:solidFill>
                <a:latin typeface="Verdana"/>
                <a:cs typeface="Verdana"/>
              </a:rPr>
              <a:t>from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95">
                <a:solidFill>
                  <a:srgbClr val="4B4A4A"/>
                </a:solidFill>
                <a:latin typeface="Verdana"/>
                <a:cs typeface="Verdana"/>
              </a:rPr>
              <a:t>revenue</a:t>
            </a:r>
            <a:r>
              <a:rPr lang="en-US" sz="1350" b="0" spc="-11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55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40">
                <a:solidFill>
                  <a:srgbClr val="4B4A4A"/>
                </a:solidFill>
                <a:latin typeface="Verdana"/>
                <a:cs typeface="Verdana"/>
              </a:rPr>
              <a:t>reveal </a:t>
            </a:r>
            <a:r>
              <a:rPr lang="en-US" sz="1350" b="0" spc="-55">
                <a:solidFill>
                  <a:srgbClr val="4B4A4A"/>
                </a:solidFill>
                <a:latin typeface="Verdana"/>
                <a:cs typeface="Verdana"/>
              </a:rPr>
              <a:t>actual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75">
                <a:solidFill>
                  <a:srgbClr val="4B4A4A"/>
                </a:solidFill>
                <a:latin typeface="Verdana"/>
                <a:cs typeface="Verdana"/>
              </a:rPr>
              <a:t>profit</a:t>
            </a:r>
            <a:r>
              <a:rPr lang="en-US" sz="1350" b="0" spc="-105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70">
                <a:solidFill>
                  <a:srgbClr val="4B4A4A"/>
                </a:solidFill>
                <a:latin typeface="Verdana"/>
                <a:cs typeface="Verdana"/>
              </a:rPr>
              <a:t>per</a:t>
            </a:r>
            <a:r>
              <a:rPr lang="en-US" sz="1350" b="0" spc="-10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lang="en-US" sz="1350" b="0" spc="-10">
                <a:solidFill>
                  <a:srgbClr val="4B4A4A"/>
                </a:solidFill>
                <a:latin typeface="Verdana"/>
                <a:cs typeface="Verdana"/>
              </a:rPr>
              <a:t>order.</a:t>
            </a:r>
            <a:endParaRPr lang="en-US"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lang="en-US"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lang="en-US" sz="1350">
              <a:latin typeface="Verdana"/>
              <a:cs typeface="Verdana"/>
            </a:endParaRPr>
          </a:p>
          <a:p>
            <a:pPr marL="218440">
              <a:lnSpc>
                <a:spcPct val="100000"/>
              </a:lnSpc>
            </a:pPr>
            <a:r>
              <a:rPr lang="en-US" sz="1350" b="0" spc="55">
                <a:solidFill>
                  <a:srgbClr val="4B4A4A"/>
                </a:solidFill>
                <a:latin typeface="Trebuchet MS"/>
                <a:cs typeface="Trebuchet MS"/>
              </a:rPr>
              <a:t>=</a:t>
            </a:r>
            <a:r>
              <a:rPr lang="en-US" sz="1350" b="0" spc="-35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lang="en-US" sz="1350" b="0">
                <a:solidFill>
                  <a:srgbClr val="005CC5"/>
                </a:solidFill>
                <a:latin typeface="Trebuchet MS"/>
                <a:cs typeface="Trebuchet MS"/>
              </a:rPr>
              <a:t>[Revenue]</a:t>
            </a:r>
            <a:r>
              <a:rPr lang="en-US" sz="1350" b="0" spc="-25">
                <a:solidFill>
                  <a:srgbClr val="005CC5"/>
                </a:solidFill>
                <a:latin typeface="Trebuchet MS"/>
                <a:cs typeface="Trebuchet MS"/>
              </a:rPr>
              <a:t> </a:t>
            </a:r>
            <a:r>
              <a:rPr lang="en-US" sz="1350" b="0" spc="-70">
                <a:solidFill>
                  <a:srgbClr val="4B4A4A"/>
                </a:solidFill>
                <a:latin typeface="Trebuchet MS"/>
                <a:cs typeface="Trebuchet MS"/>
              </a:rPr>
              <a:t>-</a:t>
            </a:r>
            <a:r>
              <a:rPr lang="en-US" sz="1350" b="0" spc="-35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lang="en-US" sz="1350" b="0" spc="-10">
                <a:solidFill>
                  <a:srgbClr val="005CC5"/>
                </a:solidFill>
                <a:latin typeface="Trebuchet MS"/>
                <a:cs typeface="Trebuchet MS"/>
              </a:rPr>
              <a:t>[Cost]</a:t>
            </a:r>
            <a:endParaRPr lang="en-US" sz="135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15025" y="1924049"/>
            <a:ext cx="2381250" cy="1104900"/>
            <a:chOff x="5915025" y="1924049"/>
            <a:chExt cx="2381250" cy="1104900"/>
          </a:xfrm>
        </p:grpSpPr>
        <p:sp>
          <p:nvSpPr>
            <p:cNvPr id="8" name="object 8"/>
            <p:cNvSpPr/>
            <p:nvPr/>
          </p:nvSpPr>
          <p:spPr>
            <a:xfrm>
              <a:off x="5934075" y="1933574"/>
              <a:ext cx="2352675" cy="1085850"/>
            </a:xfrm>
            <a:custGeom>
              <a:avLst/>
              <a:gdLst/>
              <a:ahLst/>
              <a:cxnLst/>
              <a:rect l="l" t="t" r="r" b="b"/>
              <a:pathLst>
                <a:path w="2352675" h="1085850">
                  <a:moveTo>
                    <a:pt x="2241435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019175"/>
                  </a:lnTo>
                  <a:lnTo>
                    <a:pt x="0" y="1023556"/>
                  </a:lnTo>
                  <a:lnTo>
                    <a:pt x="15621" y="1059853"/>
                  </a:lnTo>
                  <a:lnTo>
                    <a:pt x="51663" y="1082446"/>
                  </a:lnTo>
                  <a:lnTo>
                    <a:pt x="71196" y="1085850"/>
                  </a:lnTo>
                  <a:lnTo>
                    <a:pt x="2241435" y="1085850"/>
                  </a:lnTo>
                  <a:lnTo>
                    <a:pt x="2286393" y="1073797"/>
                  </a:lnTo>
                  <a:lnTo>
                    <a:pt x="2323325" y="1045451"/>
                  </a:lnTo>
                  <a:lnTo>
                    <a:pt x="2346604" y="1005128"/>
                  </a:lnTo>
                  <a:lnTo>
                    <a:pt x="2352675" y="974610"/>
                  </a:lnTo>
                  <a:lnTo>
                    <a:pt x="2352675" y="111239"/>
                  </a:lnTo>
                  <a:lnTo>
                    <a:pt x="2340622" y="66268"/>
                  </a:lnTo>
                  <a:lnTo>
                    <a:pt x="2312276" y="29349"/>
                  </a:lnTo>
                  <a:lnTo>
                    <a:pt x="2271953" y="6070"/>
                  </a:lnTo>
                  <a:lnTo>
                    <a:pt x="2249170" y="762"/>
                  </a:lnTo>
                  <a:lnTo>
                    <a:pt x="2241435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34913" y="1924062"/>
              <a:ext cx="2361565" cy="1104900"/>
            </a:xfrm>
            <a:custGeom>
              <a:avLst/>
              <a:gdLst/>
              <a:ahLst/>
              <a:cxnLst/>
              <a:rect l="l" t="t" r="r" b="b"/>
              <a:pathLst>
                <a:path w="2361565" h="1104900">
                  <a:moveTo>
                    <a:pt x="2361349" y="128587"/>
                  </a:moveTo>
                  <a:lnTo>
                    <a:pt x="2351557" y="79375"/>
                  </a:lnTo>
                  <a:lnTo>
                    <a:pt x="2324138" y="38163"/>
                  </a:lnTo>
                  <a:lnTo>
                    <a:pt x="2323973" y="37973"/>
                  </a:lnTo>
                  <a:lnTo>
                    <a:pt x="2323693" y="37655"/>
                  </a:lnTo>
                  <a:lnTo>
                    <a:pt x="2314295" y="29121"/>
                  </a:lnTo>
                  <a:lnTo>
                    <a:pt x="2304224" y="21640"/>
                  </a:lnTo>
                  <a:lnTo>
                    <a:pt x="2299881" y="19050"/>
                  </a:lnTo>
                  <a:lnTo>
                    <a:pt x="2293442" y="15189"/>
                  </a:lnTo>
                  <a:lnTo>
                    <a:pt x="2245436" y="609"/>
                  </a:lnTo>
                  <a:lnTo>
                    <a:pt x="223276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232761" y="19050"/>
                  </a:lnTo>
                  <a:lnTo>
                    <a:pt x="2274671" y="27381"/>
                  </a:lnTo>
                  <a:lnTo>
                    <a:pt x="2310219" y="51130"/>
                  </a:lnTo>
                  <a:lnTo>
                    <a:pt x="2333955" y="86664"/>
                  </a:lnTo>
                  <a:lnTo>
                    <a:pt x="2342299" y="128587"/>
                  </a:lnTo>
                  <a:lnTo>
                    <a:pt x="2342299" y="976312"/>
                  </a:lnTo>
                  <a:lnTo>
                    <a:pt x="2333955" y="1018222"/>
                  </a:lnTo>
                  <a:lnTo>
                    <a:pt x="2310676" y="1053261"/>
                  </a:lnTo>
                  <a:lnTo>
                    <a:pt x="2310219" y="1053769"/>
                  </a:lnTo>
                  <a:lnTo>
                    <a:pt x="2274671" y="1077506"/>
                  </a:lnTo>
                  <a:lnTo>
                    <a:pt x="2232761" y="1085850"/>
                  </a:lnTo>
                  <a:lnTo>
                    <a:pt x="75349" y="1085850"/>
                  </a:lnTo>
                  <a:lnTo>
                    <a:pt x="33007" y="1076223"/>
                  </a:lnTo>
                  <a:lnTo>
                    <a:pt x="1079" y="1043571"/>
                  </a:lnTo>
                  <a:lnTo>
                    <a:pt x="0" y="1039456"/>
                  </a:lnTo>
                  <a:lnTo>
                    <a:pt x="609" y="1043571"/>
                  </a:lnTo>
                  <a:lnTo>
                    <a:pt x="2413" y="1050785"/>
                  </a:lnTo>
                  <a:lnTo>
                    <a:pt x="4851" y="1057567"/>
                  </a:lnTo>
                  <a:lnTo>
                    <a:pt x="4953" y="1057859"/>
                  </a:lnTo>
                  <a:lnTo>
                    <a:pt x="33007" y="1092060"/>
                  </a:lnTo>
                  <a:lnTo>
                    <a:pt x="75349" y="1104900"/>
                  </a:lnTo>
                  <a:lnTo>
                    <a:pt x="2232761" y="1104900"/>
                  </a:lnTo>
                  <a:lnTo>
                    <a:pt x="2281974" y="1095108"/>
                  </a:lnTo>
                  <a:lnTo>
                    <a:pt x="2323681" y="1067231"/>
                  </a:lnTo>
                  <a:lnTo>
                    <a:pt x="2324138" y="1066723"/>
                  </a:lnTo>
                  <a:lnTo>
                    <a:pt x="2332202" y="1057859"/>
                  </a:lnTo>
                  <a:lnTo>
                    <a:pt x="2355850" y="1013574"/>
                  </a:lnTo>
                  <a:lnTo>
                    <a:pt x="2361349" y="976312"/>
                  </a:lnTo>
                  <a:lnTo>
                    <a:pt x="2361349" y="128587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15025" y="1924049"/>
              <a:ext cx="76200" cy="1104900"/>
            </a:xfrm>
            <a:custGeom>
              <a:avLst/>
              <a:gdLst/>
              <a:ahLst/>
              <a:cxnLst/>
              <a:rect l="l" t="t" r="r" b="b"/>
              <a:pathLst>
                <a:path w="76200" h="1104900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1028700"/>
                  </a:lnTo>
                  <a:lnTo>
                    <a:pt x="0" y="1033703"/>
                  </a:lnTo>
                  <a:lnTo>
                    <a:pt x="15621" y="1075194"/>
                  </a:lnTo>
                  <a:lnTo>
                    <a:pt x="51663" y="1101013"/>
                  </a:lnTo>
                  <a:lnTo>
                    <a:pt x="71196" y="1104900"/>
                  </a:lnTo>
                  <a:lnTo>
                    <a:pt x="76200" y="11049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72200" y="2571749"/>
              <a:ext cx="1743075" cy="228600"/>
            </a:xfrm>
            <a:custGeom>
              <a:avLst/>
              <a:gdLst/>
              <a:ahLst/>
              <a:cxnLst/>
              <a:rect l="l" t="t" r="r" b="b"/>
              <a:pathLst>
                <a:path w="1743075" h="228600">
                  <a:moveTo>
                    <a:pt x="1724482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07175"/>
                  </a:lnTo>
                  <a:lnTo>
                    <a:pt x="0" y="210007"/>
                  </a:lnTo>
                  <a:lnTo>
                    <a:pt x="18592" y="228600"/>
                  </a:lnTo>
                  <a:lnTo>
                    <a:pt x="1724482" y="228600"/>
                  </a:lnTo>
                  <a:lnTo>
                    <a:pt x="1743075" y="210007"/>
                  </a:lnTo>
                  <a:lnTo>
                    <a:pt x="1743075" y="18592"/>
                  </a:lnTo>
                  <a:lnTo>
                    <a:pt x="1727225" y="546"/>
                  </a:lnTo>
                  <a:lnTo>
                    <a:pt x="1724482" y="0"/>
                  </a:lnTo>
                  <a:close/>
                </a:path>
              </a:pathLst>
            </a:custGeom>
            <a:solidFill>
              <a:srgbClr val="D8E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68580" y="2116137"/>
            <a:ext cx="1941195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5" dirty="0">
                <a:solidFill>
                  <a:srgbClr val="4B4A4A"/>
                </a:solidFill>
                <a:latin typeface="Verdana"/>
                <a:cs typeface="Verdana"/>
              </a:rPr>
              <a:t>Revenue</a:t>
            </a:r>
            <a:r>
              <a:rPr sz="1650" b="1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40" dirty="0">
                <a:solidFill>
                  <a:srgbClr val="4B4A4A"/>
                </a:solidFill>
                <a:latin typeface="Verdana"/>
                <a:cs typeface="Verdana"/>
              </a:rPr>
              <a:t>Formula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4B4A4A"/>
                </a:solidFill>
                <a:latin typeface="Trebuchet MS"/>
                <a:cs typeface="Trebuchet MS"/>
              </a:rPr>
              <a:t>Sales Price </a:t>
            </a:r>
            <a:r>
              <a:rPr sz="1350" spc="55" dirty="0">
                <a:solidFill>
                  <a:srgbClr val="4B4A4A"/>
                </a:solidFill>
                <a:latin typeface="Trebuchet MS"/>
                <a:cs typeface="Trebuchet MS"/>
              </a:rPr>
              <a:t>×</a:t>
            </a:r>
            <a:r>
              <a:rPr sz="1350" spc="5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Trebuchet MS"/>
                <a:cs typeface="Trebuchet MS"/>
              </a:rPr>
              <a:t>Quantity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448675" y="1924049"/>
            <a:ext cx="2390775" cy="1104900"/>
            <a:chOff x="8448675" y="1924049"/>
            <a:chExt cx="2390775" cy="1104900"/>
          </a:xfrm>
        </p:grpSpPr>
        <p:sp>
          <p:nvSpPr>
            <p:cNvPr id="14" name="object 14"/>
            <p:cNvSpPr/>
            <p:nvPr/>
          </p:nvSpPr>
          <p:spPr>
            <a:xfrm>
              <a:off x="8467725" y="1933574"/>
              <a:ext cx="2362200" cy="1085850"/>
            </a:xfrm>
            <a:custGeom>
              <a:avLst/>
              <a:gdLst/>
              <a:ahLst/>
              <a:cxnLst/>
              <a:rect l="l" t="t" r="r" b="b"/>
              <a:pathLst>
                <a:path w="2362200" h="1085850">
                  <a:moveTo>
                    <a:pt x="2250960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019175"/>
                  </a:lnTo>
                  <a:lnTo>
                    <a:pt x="0" y="1023556"/>
                  </a:lnTo>
                  <a:lnTo>
                    <a:pt x="15621" y="1059853"/>
                  </a:lnTo>
                  <a:lnTo>
                    <a:pt x="51663" y="1082446"/>
                  </a:lnTo>
                  <a:lnTo>
                    <a:pt x="71196" y="1085850"/>
                  </a:lnTo>
                  <a:lnTo>
                    <a:pt x="2250960" y="1085850"/>
                  </a:lnTo>
                  <a:lnTo>
                    <a:pt x="2295918" y="1073797"/>
                  </a:lnTo>
                  <a:lnTo>
                    <a:pt x="2332850" y="1045451"/>
                  </a:lnTo>
                  <a:lnTo>
                    <a:pt x="2356129" y="1005128"/>
                  </a:lnTo>
                  <a:lnTo>
                    <a:pt x="2362200" y="974610"/>
                  </a:lnTo>
                  <a:lnTo>
                    <a:pt x="2362200" y="111239"/>
                  </a:lnTo>
                  <a:lnTo>
                    <a:pt x="2350147" y="66268"/>
                  </a:lnTo>
                  <a:lnTo>
                    <a:pt x="2321801" y="29349"/>
                  </a:lnTo>
                  <a:lnTo>
                    <a:pt x="2281478" y="6070"/>
                  </a:lnTo>
                  <a:lnTo>
                    <a:pt x="2258695" y="762"/>
                  </a:lnTo>
                  <a:lnTo>
                    <a:pt x="2250960" y="0"/>
                  </a:lnTo>
                  <a:close/>
                </a:path>
              </a:pathLst>
            </a:custGeom>
            <a:solidFill>
              <a:srgbClr val="E5F9F2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68563" y="1924062"/>
              <a:ext cx="2371090" cy="1104900"/>
            </a:xfrm>
            <a:custGeom>
              <a:avLst/>
              <a:gdLst/>
              <a:ahLst/>
              <a:cxnLst/>
              <a:rect l="l" t="t" r="r" b="b"/>
              <a:pathLst>
                <a:path w="2371090" h="1104900">
                  <a:moveTo>
                    <a:pt x="2370874" y="128587"/>
                  </a:moveTo>
                  <a:lnTo>
                    <a:pt x="2361082" y="79375"/>
                  </a:lnTo>
                  <a:lnTo>
                    <a:pt x="2333663" y="38163"/>
                  </a:lnTo>
                  <a:lnTo>
                    <a:pt x="2333498" y="37973"/>
                  </a:lnTo>
                  <a:lnTo>
                    <a:pt x="2333218" y="37655"/>
                  </a:lnTo>
                  <a:lnTo>
                    <a:pt x="2323820" y="29121"/>
                  </a:lnTo>
                  <a:lnTo>
                    <a:pt x="2313749" y="21640"/>
                  </a:lnTo>
                  <a:lnTo>
                    <a:pt x="2309406" y="19050"/>
                  </a:lnTo>
                  <a:lnTo>
                    <a:pt x="2302967" y="15189"/>
                  </a:lnTo>
                  <a:lnTo>
                    <a:pt x="2254961" y="609"/>
                  </a:lnTo>
                  <a:lnTo>
                    <a:pt x="2242286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242286" y="19050"/>
                  </a:lnTo>
                  <a:lnTo>
                    <a:pt x="2284196" y="27381"/>
                  </a:lnTo>
                  <a:lnTo>
                    <a:pt x="2319744" y="51130"/>
                  </a:lnTo>
                  <a:lnTo>
                    <a:pt x="2343480" y="86664"/>
                  </a:lnTo>
                  <a:lnTo>
                    <a:pt x="2351824" y="128587"/>
                  </a:lnTo>
                  <a:lnTo>
                    <a:pt x="2351824" y="976312"/>
                  </a:lnTo>
                  <a:lnTo>
                    <a:pt x="2343480" y="1018222"/>
                  </a:lnTo>
                  <a:lnTo>
                    <a:pt x="2320201" y="1053261"/>
                  </a:lnTo>
                  <a:lnTo>
                    <a:pt x="2319744" y="1053769"/>
                  </a:lnTo>
                  <a:lnTo>
                    <a:pt x="2284196" y="1077506"/>
                  </a:lnTo>
                  <a:lnTo>
                    <a:pt x="2242286" y="1085850"/>
                  </a:lnTo>
                  <a:lnTo>
                    <a:pt x="75349" y="1085850"/>
                  </a:lnTo>
                  <a:lnTo>
                    <a:pt x="33007" y="1076223"/>
                  </a:lnTo>
                  <a:lnTo>
                    <a:pt x="1079" y="1043571"/>
                  </a:lnTo>
                  <a:lnTo>
                    <a:pt x="0" y="1039456"/>
                  </a:lnTo>
                  <a:lnTo>
                    <a:pt x="609" y="1043571"/>
                  </a:lnTo>
                  <a:lnTo>
                    <a:pt x="2413" y="1050785"/>
                  </a:lnTo>
                  <a:lnTo>
                    <a:pt x="4851" y="1057567"/>
                  </a:lnTo>
                  <a:lnTo>
                    <a:pt x="4953" y="1057859"/>
                  </a:lnTo>
                  <a:lnTo>
                    <a:pt x="33007" y="1092060"/>
                  </a:lnTo>
                  <a:lnTo>
                    <a:pt x="75349" y="1104900"/>
                  </a:lnTo>
                  <a:lnTo>
                    <a:pt x="2242286" y="1104900"/>
                  </a:lnTo>
                  <a:lnTo>
                    <a:pt x="2291499" y="1095108"/>
                  </a:lnTo>
                  <a:lnTo>
                    <a:pt x="2333206" y="1067231"/>
                  </a:lnTo>
                  <a:lnTo>
                    <a:pt x="2333663" y="1066723"/>
                  </a:lnTo>
                  <a:lnTo>
                    <a:pt x="2341727" y="1057859"/>
                  </a:lnTo>
                  <a:lnTo>
                    <a:pt x="2365375" y="1013574"/>
                  </a:lnTo>
                  <a:lnTo>
                    <a:pt x="2370874" y="976312"/>
                  </a:lnTo>
                  <a:lnTo>
                    <a:pt x="2370874" y="128587"/>
                  </a:lnTo>
                  <a:close/>
                </a:path>
              </a:pathLst>
            </a:custGeom>
            <a:solidFill>
              <a:srgbClr val="B6D5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48675" y="1924049"/>
              <a:ext cx="76200" cy="1104900"/>
            </a:xfrm>
            <a:custGeom>
              <a:avLst/>
              <a:gdLst/>
              <a:ahLst/>
              <a:cxnLst/>
              <a:rect l="l" t="t" r="r" b="b"/>
              <a:pathLst>
                <a:path w="76200" h="1104900">
                  <a:moveTo>
                    <a:pt x="76200" y="0"/>
                  </a:moveTo>
                  <a:lnTo>
                    <a:pt x="71196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1028700"/>
                  </a:lnTo>
                  <a:lnTo>
                    <a:pt x="0" y="1033703"/>
                  </a:lnTo>
                  <a:lnTo>
                    <a:pt x="15621" y="1075194"/>
                  </a:lnTo>
                  <a:lnTo>
                    <a:pt x="51663" y="1101013"/>
                  </a:lnTo>
                  <a:lnTo>
                    <a:pt x="71196" y="1104900"/>
                  </a:lnTo>
                  <a:lnTo>
                    <a:pt x="76200" y="11049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6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15375" y="2571749"/>
              <a:ext cx="1247775" cy="228600"/>
            </a:xfrm>
            <a:custGeom>
              <a:avLst/>
              <a:gdLst/>
              <a:ahLst/>
              <a:cxnLst/>
              <a:rect l="l" t="t" r="r" b="b"/>
              <a:pathLst>
                <a:path w="1247775" h="228600">
                  <a:moveTo>
                    <a:pt x="1229182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07175"/>
                  </a:lnTo>
                  <a:lnTo>
                    <a:pt x="0" y="210007"/>
                  </a:lnTo>
                  <a:lnTo>
                    <a:pt x="18592" y="228600"/>
                  </a:lnTo>
                  <a:lnTo>
                    <a:pt x="1229182" y="228600"/>
                  </a:lnTo>
                  <a:lnTo>
                    <a:pt x="1247775" y="210007"/>
                  </a:lnTo>
                  <a:lnTo>
                    <a:pt x="1247775" y="18592"/>
                  </a:lnTo>
                  <a:lnTo>
                    <a:pt x="1231925" y="546"/>
                  </a:lnTo>
                  <a:lnTo>
                    <a:pt x="1229182" y="0"/>
                  </a:lnTo>
                  <a:close/>
                </a:path>
              </a:pathLst>
            </a:custGeom>
            <a:solidFill>
              <a:srgbClr val="D8EC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07145" y="2116137"/>
            <a:ext cx="1639570" cy="683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45" dirty="0">
                <a:solidFill>
                  <a:srgbClr val="4B4A4A"/>
                </a:solidFill>
                <a:latin typeface="Verdana"/>
                <a:cs typeface="Verdana"/>
              </a:rPr>
              <a:t>Profit</a:t>
            </a:r>
            <a:r>
              <a:rPr sz="1650" b="1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40" dirty="0">
                <a:solidFill>
                  <a:srgbClr val="4B4A4A"/>
                </a:solidFill>
                <a:latin typeface="Verdana"/>
                <a:cs typeface="Verdana"/>
              </a:rPr>
              <a:t>Formula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dirty="0">
                <a:solidFill>
                  <a:srgbClr val="4B4A4A"/>
                </a:solidFill>
                <a:latin typeface="Trebuchet MS"/>
                <a:cs typeface="Trebuchet MS"/>
              </a:rPr>
              <a:t>Revenue</a:t>
            </a:r>
            <a:r>
              <a:rPr sz="1350" spc="65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4B4A4A"/>
                </a:solidFill>
                <a:latin typeface="Trebuchet MS"/>
                <a:cs typeface="Trebuchet MS"/>
              </a:rPr>
              <a:t>−</a:t>
            </a:r>
            <a:r>
              <a:rPr sz="1350" spc="70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spc="-20" dirty="0">
                <a:solidFill>
                  <a:srgbClr val="4B4A4A"/>
                </a:solidFill>
                <a:latin typeface="Trebuchet MS"/>
                <a:cs typeface="Trebuchet MS"/>
              </a:rPr>
              <a:t>Cost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34075" y="3228974"/>
            <a:ext cx="4905375" cy="942975"/>
            <a:chOff x="5934075" y="3228974"/>
            <a:chExt cx="4905375" cy="942975"/>
          </a:xfrm>
        </p:grpSpPr>
        <p:sp>
          <p:nvSpPr>
            <p:cNvPr id="20" name="object 20"/>
            <p:cNvSpPr/>
            <p:nvPr/>
          </p:nvSpPr>
          <p:spPr>
            <a:xfrm>
              <a:off x="5934075" y="3228974"/>
              <a:ext cx="4905375" cy="942975"/>
            </a:xfrm>
            <a:custGeom>
              <a:avLst/>
              <a:gdLst/>
              <a:ahLst/>
              <a:cxnLst/>
              <a:rect l="l" t="t" r="r" b="b"/>
              <a:pathLst>
                <a:path w="4905375" h="942975">
                  <a:moveTo>
                    <a:pt x="4785233" y="0"/>
                  </a:moveTo>
                  <a:lnTo>
                    <a:pt x="120142" y="0"/>
                  </a:lnTo>
                  <a:lnTo>
                    <a:pt x="111785" y="825"/>
                  </a:lnTo>
                  <a:lnTo>
                    <a:pt x="71577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42"/>
                  </a:lnTo>
                  <a:lnTo>
                    <a:pt x="0" y="814387"/>
                  </a:lnTo>
                  <a:lnTo>
                    <a:pt x="0" y="822833"/>
                  </a:lnTo>
                  <a:lnTo>
                    <a:pt x="13017" y="871397"/>
                  </a:lnTo>
                  <a:lnTo>
                    <a:pt x="43637" y="911275"/>
                  </a:lnTo>
                  <a:lnTo>
                    <a:pt x="87172" y="936421"/>
                  </a:lnTo>
                  <a:lnTo>
                    <a:pt x="120142" y="942975"/>
                  </a:lnTo>
                  <a:lnTo>
                    <a:pt x="4785233" y="942975"/>
                  </a:lnTo>
                  <a:lnTo>
                    <a:pt x="4833797" y="929957"/>
                  </a:lnTo>
                  <a:lnTo>
                    <a:pt x="4873688" y="899337"/>
                  </a:lnTo>
                  <a:lnTo>
                    <a:pt x="4898821" y="855789"/>
                  </a:lnTo>
                  <a:lnTo>
                    <a:pt x="4905375" y="822833"/>
                  </a:lnTo>
                  <a:lnTo>
                    <a:pt x="4905375" y="120142"/>
                  </a:lnTo>
                  <a:lnTo>
                    <a:pt x="4892357" y="71577"/>
                  </a:lnTo>
                  <a:lnTo>
                    <a:pt x="4861737" y="31686"/>
                  </a:lnTo>
                  <a:lnTo>
                    <a:pt x="4818202" y="6553"/>
                  </a:lnTo>
                  <a:lnTo>
                    <a:pt x="4793589" y="825"/>
                  </a:lnTo>
                  <a:lnTo>
                    <a:pt x="4785233" y="0"/>
                  </a:lnTo>
                  <a:close/>
                </a:path>
              </a:pathLst>
            </a:custGeom>
            <a:solidFill>
              <a:srgbClr val="B5D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962" y="3476624"/>
              <a:ext cx="171450" cy="1714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478142" y="3355340"/>
            <a:ext cx="384111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70" dirty="0">
                <a:latin typeface="Verdana"/>
                <a:cs typeface="Verdana"/>
              </a:rPr>
              <a:t>Always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75" dirty="0">
                <a:latin typeface="Verdana"/>
                <a:cs typeface="Verdana"/>
              </a:rPr>
              <a:t>reference</a:t>
            </a:r>
            <a:r>
              <a:rPr sz="1350" spc="-90" dirty="0">
                <a:latin typeface="Verdana"/>
                <a:cs typeface="Verdana"/>
              </a:rPr>
              <a:t> </a:t>
            </a:r>
            <a:r>
              <a:rPr sz="1350" spc="-65" dirty="0">
                <a:latin typeface="Verdana"/>
                <a:cs typeface="Verdana"/>
              </a:rPr>
              <a:t>the</a:t>
            </a:r>
            <a:r>
              <a:rPr sz="1350" spc="-90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cleaned</a:t>
            </a:r>
            <a:r>
              <a:rPr sz="1350" spc="-90" dirty="0">
                <a:latin typeface="Verdana"/>
                <a:cs typeface="Verdana"/>
              </a:rPr>
              <a:t> </a:t>
            </a:r>
            <a:r>
              <a:rPr sz="1350" spc="-80" dirty="0">
                <a:latin typeface="Verdana"/>
                <a:cs typeface="Verdana"/>
              </a:rPr>
              <a:t>data</a:t>
            </a:r>
            <a:r>
              <a:rPr sz="1350" spc="-90" dirty="0">
                <a:latin typeface="Verdana"/>
                <a:cs typeface="Verdana"/>
              </a:rPr>
              <a:t> </a:t>
            </a:r>
            <a:r>
              <a:rPr sz="1350" spc="-65" dirty="0">
                <a:latin typeface="Verdana"/>
                <a:cs typeface="Verdana"/>
              </a:rPr>
              <a:t>columns</a:t>
            </a:r>
            <a:r>
              <a:rPr sz="1350" spc="-90" dirty="0">
                <a:latin typeface="Verdana"/>
                <a:cs typeface="Verdana"/>
              </a:rPr>
              <a:t> </a:t>
            </a:r>
            <a:r>
              <a:rPr sz="1350" spc="-35" dirty="0">
                <a:latin typeface="Verdana"/>
                <a:cs typeface="Verdana"/>
              </a:rPr>
              <a:t>from </a:t>
            </a:r>
            <a:r>
              <a:rPr sz="1350" spc="-75" dirty="0">
                <a:latin typeface="Verdana"/>
                <a:cs typeface="Verdana"/>
              </a:rPr>
              <a:t>Sprint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285" dirty="0">
                <a:latin typeface="Verdana"/>
                <a:cs typeface="Verdana"/>
              </a:rPr>
              <a:t>1.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90" dirty="0">
                <a:latin typeface="Verdana"/>
                <a:cs typeface="Verdana"/>
              </a:rPr>
              <a:t>Avoid</a:t>
            </a:r>
            <a:r>
              <a:rPr sz="1350" spc="-105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hardcoding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values.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01100"/>
          </a:xfrm>
          <a:custGeom>
            <a:avLst/>
            <a:gdLst/>
            <a:ahLst/>
            <a:cxnLst/>
            <a:rect l="l" t="t" r="r" b="b"/>
            <a:pathLst>
              <a:path w="11430000" h="8801100">
                <a:moveTo>
                  <a:pt x="11430000" y="0"/>
                </a:moveTo>
                <a:lnTo>
                  <a:pt x="0" y="0"/>
                </a:lnTo>
                <a:lnTo>
                  <a:pt x="0" y="8801100"/>
                </a:lnTo>
                <a:lnTo>
                  <a:pt x="11430000" y="8801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0075" y="476249"/>
            <a:ext cx="1362075" cy="323850"/>
          </a:xfrm>
          <a:custGeom>
            <a:avLst/>
            <a:gdLst/>
            <a:ahLst/>
            <a:cxnLst/>
            <a:rect l="l" t="t" r="r" b="b"/>
            <a:pathLst>
              <a:path w="1362075" h="323850">
                <a:moveTo>
                  <a:pt x="1265961" y="0"/>
                </a:moveTo>
                <a:lnTo>
                  <a:pt x="96113" y="0"/>
                </a:lnTo>
                <a:lnTo>
                  <a:pt x="89425" y="660"/>
                </a:lnTo>
                <a:lnTo>
                  <a:pt x="51335" y="13589"/>
                </a:lnTo>
                <a:lnTo>
                  <a:pt x="21088" y="40093"/>
                </a:lnTo>
                <a:lnTo>
                  <a:pt x="3294" y="76174"/>
                </a:lnTo>
                <a:lnTo>
                  <a:pt x="0" y="96113"/>
                </a:lnTo>
                <a:lnTo>
                  <a:pt x="0" y="220980"/>
                </a:lnTo>
                <a:lnTo>
                  <a:pt x="0" y="227736"/>
                </a:lnTo>
                <a:lnTo>
                  <a:pt x="10412" y="266585"/>
                </a:lnTo>
                <a:lnTo>
                  <a:pt x="34904" y="298500"/>
                </a:lnTo>
                <a:lnTo>
                  <a:pt x="69745" y="318604"/>
                </a:lnTo>
                <a:lnTo>
                  <a:pt x="96113" y="323850"/>
                </a:lnTo>
                <a:lnTo>
                  <a:pt x="1265961" y="323850"/>
                </a:lnTo>
                <a:lnTo>
                  <a:pt x="1304810" y="313436"/>
                </a:lnTo>
                <a:lnTo>
                  <a:pt x="1336725" y="288937"/>
                </a:lnTo>
                <a:lnTo>
                  <a:pt x="1356829" y="254101"/>
                </a:lnTo>
                <a:lnTo>
                  <a:pt x="1362075" y="227736"/>
                </a:lnTo>
                <a:lnTo>
                  <a:pt x="1362075" y="96113"/>
                </a:lnTo>
                <a:lnTo>
                  <a:pt x="1351661" y="57264"/>
                </a:lnTo>
                <a:lnTo>
                  <a:pt x="1327175" y="25349"/>
                </a:lnTo>
                <a:lnTo>
                  <a:pt x="1292326" y="5245"/>
                </a:lnTo>
                <a:lnTo>
                  <a:pt x="1272654" y="660"/>
                </a:lnTo>
                <a:lnTo>
                  <a:pt x="1265961" y="0"/>
                </a:lnTo>
                <a:close/>
              </a:path>
            </a:pathLst>
          </a:custGeom>
          <a:solidFill>
            <a:srgbClr val="CCF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0215" y="535940"/>
            <a:ext cx="11785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10" dirty="0">
                <a:solidFill>
                  <a:srgbClr val="4B4A4A"/>
                </a:solidFill>
                <a:latin typeface="Verdana"/>
                <a:cs typeface="Verdana"/>
              </a:rPr>
              <a:t>CORE</a:t>
            </a:r>
            <a:r>
              <a:rPr sz="10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B4A4A"/>
                </a:solidFill>
                <a:latin typeface="Verdana"/>
                <a:cs typeface="Verdana"/>
              </a:rPr>
              <a:t>FORMULAS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5" y="873125"/>
            <a:ext cx="549084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Discount</a:t>
            </a:r>
            <a:r>
              <a:rPr spc="-265" dirty="0"/>
              <a:t> </a:t>
            </a:r>
            <a:r>
              <a:rPr spc="-210" dirty="0"/>
              <a:t>&amp;</a:t>
            </a:r>
            <a:r>
              <a:rPr spc="-265" dirty="0"/>
              <a:t> </a:t>
            </a:r>
            <a:r>
              <a:rPr spc="-105" dirty="0"/>
              <a:t>Profit</a:t>
            </a:r>
            <a:r>
              <a:rPr spc="-265" dirty="0"/>
              <a:t> </a:t>
            </a:r>
            <a:r>
              <a:rPr spc="-65" dirty="0"/>
              <a:t>Margin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152775"/>
            <a:ext cx="6505574" cy="368617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534262" y="3286124"/>
            <a:ext cx="3305810" cy="1172210"/>
          </a:xfrm>
          <a:custGeom>
            <a:avLst/>
            <a:gdLst/>
            <a:ahLst/>
            <a:cxnLst/>
            <a:rect l="l" t="t" r="r" b="b"/>
            <a:pathLst>
              <a:path w="3305809" h="1172210">
                <a:moveTo>
                  <a:pt x="3305187" y="120142"/>
                </a:moveTo>
                <a:lnTo>
                  <a:pt x="3304362" y="111785"/>
                </a:lnTo>
                <a:lnTo>
                  <a:pt x="3302787" y="103886"/>
                </a:lnTo>
                <a:lnTo>
                  <a:pt x="3302736" y="103505"/>
                </a:lnTo>
                <a:lnTo>
                  <a:pt x="3302635" y="103149"/>
                </a:lnTo>
                <a:lnTo>
                  <a:pt x="3301073" y="95224"/>
                </a:lnTo>
                <a:lnTo>
                  <a:pt x="3298634" y="87185"/>
                </a:lnTo>
                <a:lnTo>
                  <a:pt x="3292170" y="71577"/>
                </a:lnTo>
                <a:lnTo>
                  <a:pt x="3288195" y="64160"/>
                </a:lnTo>
                <a:lnTo>
                  <a:pt x="3283699" y="57442"/>
                </a:lnTo>
                <a:lnTo>
                  <a:pt x="3283521" y="57137"/>
                </a:lnTo>
                <a:lnTo>
                  <a:pt x="3283305" y="56857"/>
                </a:lnTo>
                <a:lnTo>
                  <a:pt x="3278822" y="50139"/>
                </a:lnTo>
                <a:lnTo>
                  <a:pt x="3273488" y="43637"/>
                </a:lnTo>
                <a:lnTo>
                  <a:pt x="3267506" y="37668"/>
                </a:lnTo>
                <a:lnTo>
                  <a:pt x="3261550" y="31686"/>
                </a:lnTo>
                <a:lnTo>
                  <a:pt x="3255060" y="26352"/>
                </a:lnTo>
                <a:lnTo>
                  <a:pt x="3248368" y="21907"/>
                </a:lnTo>
                <a:lnTo>
                  <a:pt x="3248050" y="21653"/>
                </a:lnTo>
                <a:lnTo>
                  <a:pt x="3247669" y="21437"/>
                </a:lnTo>
                <a:lnTo>
                  <a:pt x="3209963" y="4114"/>
                </a:lnTo>
                <a:lnTo>
                  <a:pt x="3202038" y="2552"/>
                </a:lnTo>
                <a:lnTo>
                  <a:pt x="3201682" y="2451"/>
                </a:lnTo>
                <a:lnTo>
                  <a:pt x="3201301" y="2400"/>
                </a:lnTo>
                <a:lnTo>
                  <a:pt x="3193402" y="825"/>
                </a:lnTo>
                <a:lnTo>
                  <a:pt x="3185045" y="0"/>
                </a:lnTo>
                <a:lnTo>
                  <a:pt x="120154" y="0"/>
                </a:lnTo>
                <a:lnTo>
                  <a:pt x="111798" y="825"/>
                </a:lnTo>
                <a:lnTo>
                  <a:pt x="103924" y="2400"/>
                </a:lnTo>
                <a:lnTo>
                  <a:pt x="103505" y="2451"/>
                </a:lnTo>
                <a:lnTo>
                  <a:pt x="103085" y="2565"/>
                </a:lnTo>
                <a:lnTo>
                  <a:pt x="95237" y="4114"/>
                </a:lnTo>
                <a:lnTo>
                  <a:pt x="87185" y="6553"/>
                </a:lnTo>
                <a:lnTo>
                  <a:pt x="71589" y="13017"/>
                </a:lnTo>
                <a:lnTo>
                  <a:pt x="64185" y="16979"/>
                </a:lnTo>
                <a:lnTo>
                  <a:pt x="57556" y="21399"/>
                </a:lnTo>
                <a:lnTo>
                  <a:pt x="57137" y="21653"/>
                </a:lnTo>
                <a:lnTo>
                  <a:pt x="56743" y="21945"/>
                </a:lnTo>
                <a:lnTo>
                  <a:pt x="50139" y="26352"/>
                </a:lnTo>
                <a:lnTo>
                  <a:pt x="43649" y="31686"/>
                </a:lnTo>
                <a:lnTo>
                  <a:pt x="37668" y="37668"/>
                </a:lnTo>
                <a:lnTo>
                  <a:pt x="31699" y="43637"/>
                </a:lnTo>
                <a:lnTo>
                  <a:pt x="26377" y="50139"/>
                </a:lnTo>
                <a:lnTo>
                  <a:pt x="22047" y="56591"/>
                </a:lnTo>
                <a:lnTo>
                  <a:pt x="21653" y="57137"/>
                </a:lnTo>
                <a:lnTo>
                  <a:pt x="21310" y="57708"/>
                </a:lnTo>
                <a:lnTo>
                  <a:pt x="9766" y="79463"/>
                </a:lnTo>
                <a:lnTo>
                  <a:pt x="6565" y="87185"/>
                </a:lnTo>
                <a:lnTo>
                  <a:pt x="4127" y="95224"/>
                </a:lnTo>
                <a:lnTo>
                  <a:pt x="2590" y="102908"/>
                </a:lnTo>
                <a:lnTo>
                  <a:pt x="2451" y="103505"/>
                </a:lnTo>
                <a:lnTo>
                  <a:pt x="2349" y="104127"/>
                </a:lnTo>
                <a:lnTo>
                  <a:pt x="838" y="111785"/>
                </a:lnTo>
                <a:lnTo>
                  <a:pt x="12" y="120142"/>
                </a:lnTo>
                <a:lnTo>
                  <a:pt x="12" y="128346"/>
                </a:lnTo>
                <a:lnTo>
                  <a:pt x="0" y="128600"/>
                </a:lnTo>
                <a:lnTo>
                  <a:pt x="0" y="1043000"/>
                </a:lnTo>
                <a:lnTo>
                  <a:pt x="12" y="1043266"/>
                </a:lnTo>
                <a:lnTo>
                  <a:pt x="12" y="1051433"/>
                </a:lnTo>
                <a:lnTo>
                  <a:pt x="838" y="1059789"/>
                </a:lnTo>
                <a:lnTo>
                  <a:pt x="2349" y="1067422"/>
                </a:lnTo>
                <a:lnTo>
                  <a:pt x="2451" y="1068082"/>
                </a:lnTo>
                <a:lnTo>
                  <a:pt x="2603" y="1068743"/>
                </a:lnTo>
                <a:lnTo>
                  <a:pt x="4127" y="1076350"/>
                </a:lnTo>
                <a:lnTo>
                  <a:pt x="6565" y="1084389"/>
                </a:lnTo>
                <a:lnTo>
                  <a:pt x="9690" y="1091958"/>
                </a:lnTo>
                <a:lnTo>
                  <a:pt x="9791" y="1092212"/>
                </a:lnTo>
                <a:lnTo>
                  <a:pt x="9906" y="1092466"/>
                </a:lnTo>
                <a:lnTo>
                  <a:pt x="13030" y="1099997"/>
                </a:lnTo>
                <a:lnTo>
                  <a:pt x="16992" y="1107401"/>
                </a:lnTo>
                <a:lnTo>
                  <a:pt x="21234" y="1113764"/>
                </a:lnTo>
                <a:lnTo>
                  <a:pt x="21653" y="1114450"/>
                </a:lnTo>
                <a:lnTo>
                  <a:pt x="22123" y="1115098"/>
                </a:lnTo>
                <a:lnTo>
                  <a:pt x="37871" y="1134110"/>
                </a:lnTo>
                <a:lnTo>
                  <a:pt x="43649" y="1139875"/>
                </a:lnTo>
                <a:lnTo>
                  <a:pt x="50139" y="1145209"/>
                </a:lnTo>
                <a:lnTo>
                  <a:pt x="56489" y="1149464"/>
                </a:lnTo>
                <a:lnTo>
                  <a:pt x="57137" y="1149934"/>
                </a:lnTo>
                <a:lnTo>
                  <a:pt x="57823" y="1150353"/>
                </a:lnTo>
                <a:lnTo>
                  <a:pt x="64185" y="1154595"/>
                </a:lnTo>
                <a:lnTo>
                  <a:pt x="71589" y="1158557"/>
                </a:lnTo>
                <a:lnTo>
                  <a:pt x="79171" y="1161707"/>
                </a:lnTo>
                <a:lnTo>
                  <a:pt x="79375" y="1161796"/>
                </a:lnTo>
                <a:lnTo>
                  <a:pt x="79578" y="1161872"/>
                </a:lnTo>
                <a:lnTo>
                  <a:pt x="87185" y="1165021"/>
                </a:lnTo>
                <a:lnTo>
                  <a:pt x="95237" y="1167447"/>
                </a:lnTo>
                <a:lnTo>
                  <a:pt x="102717" y="1168946"/>
                </a:lnTo>
                <a:lnTo>
                  <a:pt x="103505" y="1169136"/>
                </a:lnTo>
                <a:lnTo>
                  <a:pt x="104279" y="1169263"/>
                </a:lnTo>
                <a:lnTo>
                  <a:pt x="111798" y="1170749"/>
                </a:lnTo>
                <a:lnTo>
                  <a:pt x="120154" y="1171575"/>
                </a:lnTo>
                <a:lnTo>
                  <a:pt x="128320" y="1171575"/>
                </a:lnTo>
                <a:lnTo>
                  <a:pt x="128587" y="1171587"/>
                </a:lnTo>
                <a:lnTo>
                  <a:pt x="3176587" y="1171587"/>
                </a:lnTo>
                <a:lnTo>
                  <a:pt x="3176841" y="1171575"/>
                </a:lnTo>
                <a:lnTo>
                  <a:pt x="3185045" y="1171575"/>
                </a:lnTo>
                <a:lnTo>
                  <a:pt x="3193402" y="1170749"/>
                </a:lnTo>
                <a:lnTo>
                  <a:pt x="3201060" y="1169238"/>
                </a:lnTo>
                <a:lnTo>
                  <a:pt x="3201682" y="1169136"/>
                </a:lnTo>
                <a:lnTo>
                  <a:pt x="3202279" y="1168996"/>
                </a:lnTo>
                <a:lnTo>
                  <a:pt x="3209963" y="1167460"/>
                </a:lnTo>
                <a:lnTo>
                  <a:pt x="3218015" y="1165021"/>
                </a:lnTo>
                <a:lnTo>
                  <a:pt x="3225774" y="1161808"/>
                </a:lnTo>
                <a:lnTo>
                  <a:pt x="3233610" y="1158557"/>
                </a:lnTo>
                <a:lnTo>
                  <a:pt x="3241002" y="1154595"/>
                </a:lnTo>
                <a:lnTo>
                  <a:pt x="3247415" y="1150315"/>
                </a:lnTo>
                <a:lnTo>
                  <a:pt x="3248050" y="1149934"/>
                </a:lnTo>
                <a:lnTo>
                  <a:pt x="3248622" y="1149502"/>
                </a:lnTo>
                <a:lnTo>
                  <a:pt x="3255060" y="1145209"/>
                </a:lnTo>
                <a:lnTo>
                  <a:pt x="3261550" y="1139875"/>
                </a:lnTo>
                <a:lnTo>
                  <a:pt x="3267506" y="1133919"/>
                </a:lnTo>
                <a:lnTo>
                  <a:pt x="3273488" y="1127937"/>
                </a:lnTo>
                <a:lnTo>
                  <a:pt x="3278822" y="1121448"/>
                </a:lnTo>
                <a:lnTo>
                  <a:pt x="3283229" y="1114844"/>
                </a:lnTo>
                <a:lnTo>
                  <a:pt x="3283521" y="1114450"/>
                </a:lnTo>
                <a:lnTo>
                  <a:pt x="3283775" y="1114031"/>
                </a:lnTo>
                <a:lnTo>
                  <a:pt x="3288195" y="1107401"/>
                </a:lnTo>
                <a:lnTo>
                  <a:pt x="3292170" y="1099997"/>
                </a:lnTo>
                <a:lnTo>
                  <a:pt x="3295383" y="1092212"/>
                </a:lnTo>
                <a:lnTo>
                  <a:pt x="3298634" y="1084389"/>
                </a:lnTo>
                <a:lnTo>
                  <a:pt x="3301073" y="1076350"/>
                </a:lnTo>
                <a:lnTo>
                  <a:pt x="3302622" y="1068501"/>
                </a:lnTo>
                <a:lnTo>
                  <a:pt x="3302736" y="1068082"/>
                </a:lnTo>
                <a:lnTo>
                  <a:pt x="3302787" y="1067663"/>
                </a:lnTo>
                <a:lnTo>
                  <a:pt x="3304362" y="1059789"/>
                </a:lnTo>
                <a:lnTo>
                  <a:pt x="3305187" y="1051433"/>
                </a:lnTo>
                <a:lnTo>
                  <a:pt x="3305187" y="120142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18006" y="1839912"/>
            <a:ext cx="3092450" cy="2141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10" dirty="0">
                <a:solidFill>
                  <a:srgbClr val="006646"/>
                </a:solidFill>
                <a:latin typeface="Verdana"/>
                <a:cs typeface="Verdana"/>
              </a:rPr>
              <a:t>BR-</a:t>
            </a:r>
            <a:r>
              <a:rPr sz="1650" b="1" spc="-165" dirty="0">
                <a:solidFill>
                  <a:srgbClr val="006646"/>
                </a:solidFill>
                <a:latin typeface="Verdana"/>
                <a:cs typeface="Verdana"/>
              </a:rPr>
              <a:t>3:</a:t>
            </a:r>
            <a:r>
              <a:rPr sz="1650" b="1" spc="-100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65" dirty="0">
                <a:solidFill>
                  <a:srgbClr val="006646"/>
                </a:solidFill>
                <a:latin typeface="Verdana"/>
                <a:cs typeface="Verdana"/>
              </a:rPr>
              <a:t>Discount</a:t>
            </a:r>
            <a:r>
              <a:rPr sz="1650" b="1" spc="-100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006646"/>
                </a:solidFill>
                <a:latin typeface="Verdana"/>
                <a:cs typeface="Verdana"/>
              </a:rPr>
              <a:t>Amount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955"/>
              </a:spcBef>
            </a:pP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Captures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total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discount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given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per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order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line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35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difference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between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>list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price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actual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selling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price.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350">
              <a:latin typeface="Verdana"/>
              <a:cs typeface="Verdana"/>
            </a:endParaRPr>
          </a:p>
          <a:p>
            <a:pPr marL="218440" marR="436880">
              <a:lnSpc>
                <a:spcPct val="134300"/>
              </a:lnSpc>
              <a:spcBef>
                <a:spcPts val="5"/>
              </a:spcBef>
            </a:pPr>
            <a:r>
              <a:rPr sz="1350" spc="55" dirty="0">
                <a:solidFill>
                  <a:srgbClr val="4B4A4A"/>
                </a:solidFill>
                <a:latin typeface="Trebuchet MS"/>
                <a:cs typeface="Trebuchet MS"/>
              </a:rPr>
              <a:t>=</a:t>
            </a:r>
            <a:r>
              <a:rPr sz="1350" spc="-45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005CC5"/>
                </a:solidFill>
                <a:latin typeface="Trebuchet MS"/>
                <a:cs typeface="Trebuchet MS"/>
              </a:rPr>
              <a:t>[Original</a:t>
            </a:r>
            <a:r>
              <a:rPr sz="1350" spc="-45" dirty="0">
                <a:solidFill>
                  <a:srgbClr val="005CC5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005CC5"/>
                </a:solidFill>
                <a:latin typeface="Trebuchet MS"/>
                <a:cs typeface="Trebuchet MS"/>
              </a:rPr>
              <a:t>Price]</a:t>
            </a:r>
            <a:r>
              <a:rPr sz="1350" spc="-35" dirty="0">
                <a:solidFill>
                  <a:srgbClr val="005CC5"/>
                </a:solidFill>
                <a:latin typeface="Trebuchet MS"/>
                <a:cs typeface="Trebuchet MS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Trebuchet MS"/>
                <a:cs typeface="Trebuchet MS"/>
              </a:rPr>
              <a:t>-</a:t>
            </a:r>
            <a:r>
              <a:rPr sz="1350" spc="-40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005CC5"/>
                </a:solidFill>
                <a:latin typeface="Trebuchet MS"/>
                <a:cs typeface="Trebuchet MS"/>
              </a:rPr>
              <a:t>[Discounted Price]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534262" y="6105537"/>
            <a:ext cx="3305810" cy="885825"/>
          </a:xfrm>
          <a:custGeom>
            <a:avLst/>
            <a:gdLst/>
            <a:ahLst/>
            <a:cxnLst/>
            <a:rect l="l" t="t" r="r" b="b"/>
            <a:pathLst>
              <a:path w="3305809" h="885825">
                <a:moveTo>
                  <a:pt x="3305187" y="120129"/>
                </a:moveTo>
                <a:lnTo>
                  <a:pt x="3304362" y="111772"/>
                </a:lnTo>
                <a:lnTo>
                  <a:pt x="3302787" y="103898"/>
                </a:lnTo>
                <a:lnTo>
                  <a:pt x="3302736" y="103492"/>
                </a:lnTo>
                <a:lnTo>
                  <a:pt x="3302635" y="103111"/>
                </a:lnTo>
                <a:lnTo>
                  <a:pt x="3301073" y="95224"/>
                </a:lnTo>
                <a:lnTo>
                  <a:pt x="3298634" y="87172"/>
                </a:lnTo>
                <a:lnTo>
                  <a:pt x="3292170" y="71564"/>
                </a:lnTo>
                <a:lnTo>
                  <a:pt x="3288195" y="64160"/>
                </a:lnTo>
                <a:lnTo>
                  <a:pt x="3283699" y="57442"/>
                </a:lnTo>
                <a:lnTo>
                  <a:pt x="3283521" y="57124"/>
                </a:lnTo>
                <a:lnTo>
                  <a:pt x="3283305" y="56845"/>
                </a:lnTo>
                <a:lnTo>
                  <a:pt x="3278822" y="50114"/>
                </a:lnTo>
                <a:lnTo>
                  <a:pt x="3273488" y="43624"/>
                </a:lnTo>
                <a:lnTo>
                  <a:pt x="3267506" y="37655"/>
                </a:lnTo>
                <a:lnTo>
                  <a:pt x="3261550" y="31673"/>
                </a:lnTo>
                <a:lnTo>
                  <a:pt x="3255060" y="26352"/>
                </a:lnTo>
                <a:lnTo>
                  <a:pt x="3248469" y="21958"/>
                </a:lnTo>
                <a:lnTo>
                  <a:pt x="3248050" y="21640"/>
                </a:lnTo>
                <a:lnTo>
                  <a:pt x="3247580" y="21374"/>
                </a:lnTo>
                <a:lnTo>
                  <a:pt x="3209963" y="4102"/>
                </a:lnTo>
                <a:lnTo>
                  <a:pt x="3202038" y="2540"/>
                </a:lnTo>
                <a:lnTo>
                  <a:pt x="3201682" y="2438"/>
                </a:lnTo>
                <a:lnTo>
                  <a:pt x="3201301" y="2387"/>
                </a:lnTo>
                <a:lnTo>
                  <a:pt x="3193402" y="812"/>
                </a:lnTo>
                <a:lnTo>
                  <a:pt x="3185045" y="0"/>
                </a:lnTo>
                <a:lnTo>
                  <a:pt x="3176587" y="0"/>
                </a:lnTo>
                <a:lnTo>
                  <a:pt x="128587" y="0"/>
                </a:lnTo>
                <a:lnTo>
                  <a:pt x="120154" y="0"/>
                </a:lnTo>
                <a:lnTo>
                  <a:pt x="111798" y="812"/>
                </a:lnTo>
                <a:lnTo>
                  <a:pt x="103924" y="2387"/>
                </a:lnTo>
                <a:lnTo>
                  <a:pt x="103505" y="2438"/>
                </a:lnTo>
                <a:lnTo>
                  <a:pt x="103085" y="2552"/>
                </a:lnTo>
                <a:lnTo>
                  <a:pt x="95237" y="4102"/>
                </a:lnTo>
                <a:lnTo>
                  <a:pt x="87185" y="6540"/>
                </a:lnTo>
                <a:lnTo>
                  <a:pt x="79375" y="9791"/>
                </a:lnTo>
                <a:lnTo>
                  <a:pt x="71589" y="13017"/>
                </a:lnTo>
                <a:lnTo>
                  <a:pt x="64185" y="16967"/>
                </a:lnTo>
                <a:lnTo>
                  <a:pt x="57645" y="21336"/>
                </a:lnTo>
                <a:lnTo>
                  <a:pt x="57137" y="21640"/>
                </a:lnTo>
                <a:lnTo>
                  <a:pt x="56642" y="22009"/>
                </a:lnTo>
                <a:lnTo>
                  <a:pt x="50139" y="26352"/>
                </a:lnTo>
                <a:lnTo>
                  <a:pt x="43649" y="31673"/>
                </a:lnTo>
                <a:lnTo>
                  <a:pt x="37668" y="37655"/>
                </a:lnTo>
                <a:lnTo>
                  <a:pt x="31699" y="43624"/>
                </a:lnTo>
                <a:lnTo>
                  <a:pt x="26377" y="50114"/>
                </a:lnTo>
                <a:lnTo>
                  <a:pt x="22047" y="56591"/>
                </a:lnTo>
                <a:lnTo>
                  <a:pt x="21653" y="57124"/>
                </a:lnTo>
                <a:lnTo>
                  <a:pt x="21297" y="57708"/>
                </a:lnTo>
                <a:lnTo>
                  <a:pt x="9766" y="79451"/>
                </a:lnTo>
                <a:lnTo>
                  <a:pt x="6565" y="87172"/>
                </a:lnTo>
                <a:lnTo>
                  <a:pt x="4127" y="95224"/>
                </a:lnTo>
                <a:lnTo>
                  <a:pt x="2603" y="102870"/>
                </a:lnTo>
                <a:lnTo>
                  <a:pt x="2451" y="103492"/>
                </a:lnTo>
                <a:lnTo>
                  <a:pt x="2349" y="104140"/>
                </a:lnTo>
                <a:lnTo>
                  <a:pt x="838" y="111772"/>
                </a:lnTo>
                <a:lnTo>
                  <a:pt x="12" y="120129"/>
                </a:lnTo>
                <a:lnTo>
                  <a:pt x="12" y="128333"/>
                </a:lnTo>
                <a:lnTo>
                  <a:pt x="0" y="128587"/>
                </a:lnTo>
                <a:lnTo>
                  <a:pt x="0" y="757237"/>
                </a:lnTo>
                <a:lnTo>
                  <a:pt x="12" y="757504"/>
                </a:lnTo>
                <a:lnTo>
                  <a:pt x="12" y="765670"/>
                </a:lnTo>
                <a:lnTo>
                  <a:pt x="838" y="774026"/>
                </a:lnTo>
                <a:lnTo>
                  <a:pt x="2349" y="781659"/>
                </a:lnTo>
                <a:lnTo>
                  <a:pt x="2451" y="782320"/>
                </a:lnTo>
                <a:lnTo>
                  <a:pt x="2603" y="782980"/>
                </a:lnTo>
                <a:lnTo>
                  <a:pt x="4127" y="790587"/>
                </a:lnTo>
                <a:lnTo>
                  <a:pt x="6565" y="798626"/>
                </a:lnTo>
                <a:lnTo>
                  <a:pt x="9690" y="806196"/>
                </a:lnTo>
                <a:lnTo>
                  <a:pt x="9791" y="806450"/>
                </a:lnTo>
                <a:lnTo>
                  <a:pt x="9906" y="806704"/>
                </a:lnTo>
                <a:lnTo>
                  <a:pt x="13030" y="814235"/>
                </a:lnTo>
                <a:lnTo>
                  <a:pt x="16992" y="821639"/>
                </a:lnTo>
                <a:lnTo>
                  <a:pt x="21234" y="828001"/>
                </a:lnTo>
                <a:lnTo>
                  <a:pt x="21653" y="828687"/>
                </a:lnTo>
                <a:lnTo>
                  <a:pt x="22123" y="829335"/>
                </a:lnTo>
                <a:lnTo>
                  <a:pt x="37871" y="848347"/>
                </a:lnTo>
                <a:lnTo>
                  <a:pt x="43649" y="854113"/>
                </a:lnTo>
                <a:lnTo>
                  <a:pt x="50139" y="859447"/>
                </a:lnTo>
                <a:lnTo>
                  <a:pt x="56489" y="863701"/>
                </a:lnTo>
                <a:lnTo>
                  <a:pt x="57137" y="864171"/>
                </a:lnTo>
                <a:lnTo>
                  <a:pt x="57823" y="864590"/>
                </a:lnTo>
                <a:lnTo>
                  <a:pt x="64185" y="868832"/>
                </a:lnTo>
                <a:lnTo>
                  <a:pt x="71589" y="872794"/>
                </a:lnTo>
                <a:lnTo>
                  <a:pt x="79171" y="875944"/>
                </a:lnTo>
                <a:lnTo>
                  <a:pt x="79375" y="876033"/>
                </a:lnTo>
                <a:lnTo>
                  <a:pt x="79578" y="876109"/>
                </a:lnTo>
                <a:lnTo>
                  <a:pt x="87185" y="879259"/>
                </a:lnTo>
                <a:lnTo>
                  <a:pt x="95237" y="881684"/>
                </a:lnTo>
                <a:lnTo>
                  <a:pt x="102717" y="883183"/>
                </a:lnTo>
                <a:lnTo>
                  <a:pt x="103505" y="883373"/>
                </a:lnTo>
                <a:lnTo>
                  <a:pt x="104279" y="883500"/>
                </a:lnTo>
                <a:lnTo>
                  <a:pt x="111798" y="884986"/>
                </a:lnTo>
                <a:lnTo>
                  <a:pt x="120154" y="885812"/>
                </a:lnTo>
                <a:lnTo>
                  <a:pt x="128320" y="885812"/>
                </a:lnTo>
                <a:lnTo>
                  <a:pt x="128587" y="885825"/>
                </a:lnTo>
                <a:lnTo>
                  <a:pt x="3176587" y="885825"/>
                </a:lnTo>
                <a:lnTo>
                  <a:pt x="3176841" y="885812"/>
                </a:lnTo>
                <a:lnTo>
                  <a:pt x="3185045" y="885812"/>
                </a:lnTo>
                <a:lnTo>
                  <a:pt x="3193402" y="884986"/>
                </a:lnTo>
                <a:lnTo>
                  <a:pt x="3200946" y="883488"/>
                </a:lnTo>
                <a:lnTo>
                  <a:pt x="3201682" y="883373"/>
                </a:lnTo>
                <a:lnTo>
                  <a:pt x="3202406" y="883196"/>
                </a:lnTo>
                <a:lnTo>
                  <a:pt x="3209963" y="881684"/>
                </a:lnTo>
                <a:lnTo>
                  <a:pt x="3218015" y="879259"/>
                </a:lnTo>
                <a:lnTo>
                  <a:pt x="3225774" y="876046"/>
                </a:lnTo>
                <a:lnTo>
                  <a:pt x="3233610" y="872794"/>
                </a:lnTo>
                <a:lnTo>
                  <a:pt x="3241002" y="868832"/>
                </a:lnTo>
                <a:lnTo>
                  <a:pt x="3247415" y="864552"/>
                </a:lnTo>
                <a:lnTo>
                  <a:pt x="3248050" y="864171"/>
                </a:lnTo>
                <a:lnTo>
                  <a:pt x="3248622" y="863739"/>
                </a:lnTo>
                <a:lnTo>
                  <a:pt x="3255060" y="859447"/>
                </a:lnTo>
                <a:lnTo>
                  <a:pt x="3261550" y="854113"/>
                </a:lnTo>
                <a:lnTo>
                  <a:pt x="3267506" y="848156"/>
                </a:lnTo>
                <a:lnTo>
                  <a:pt x="3273488" y="842175"/>
                </a:lnTo>
                <a:lnTo>
                  <a:pt x="3278822" y="835685"/>
                </a:lnTo>
                <a:lnTo>
                  <a:pt x="3283229" y="829081"/>
                </a:lnTo>
                <a:lnTo>
                  <a:pt x="3283521" y="828687"/>
                </a:lnTo>
                <a:lnTo>
                  <a:pt x="3283775" y="828268"/>
                </a:lnTo>
                <a:lnTo>
                  <a:pt x="3288195" y="821639"/>
                </a:lnTo>
                <a:lnTo>
                  <a:pt x="3292170" y="814235"/>
                </a:lnTo>
                <a:lnTo>
                  <a:pt x="3295383" y="806450"/>
                </a:lnTo>
                <a:lnTo>
                  <a:pt x="3298634" y="798626"/>
                </a:lnTo>
                <a:lnTo>
                  <a:pt x="3301073" y="790587"/>
                </a:lnTo>
                <a:lnTo>
                  <a:pt x="3302622" y="782739"/>
                </a:lnTo>
                <a:lnTo>
                  <a:pt x="3302736" y="782320"/>
                </a:lnTo>
                <a:lnTo>
                  <a:pt x="3302787" y="781900"/>
                </a:lnTo>
                <a:lnTo>
                  <a:pt x="3304362" y="774026"/>
                </a:lnTo>
                <a:lnTo>
                  <a:pt x="3305187" y="765670"/>
                </a:lnTo>
                <a:lnTo>
                  <a:pt x="3305187" y="120129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18006" y="4649787"/>
            <a:ext cx="3132455" cy="18745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10" dirty="0">
                <a:solidFill>
                  <a:srgbClr val="006646"/>
                </a:solidFill>
                <a:latin typeface="Verdana"/>
                <a:cs typeface="Verdana"/>
              </a:rPr>
              <a:t>BR-</a:t>
            </a:r>
            <a:r>
              <a:rPr sz="1650" b="1" spc="-165" dirty="0">
                <a:solidFill>
                  <a:srgbClr val="006646"/>
                </a:solidFill>
                <a:latin typeface="Verdana"/>
                <a:cs typeface="Verdana"/>
              </a:rPr>
              <a:t>h:</a:t>
            </a:r>
            <a:r>
              <a:rPr sz="1650" b="1" spc="-105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45" dirty="0">
                <a:solidFill>
                  <a:srgbClr val="006646"/>
                </a:solidFill>
                <a:latin typeface="Verdana"/>
                <a:cs typeface="Verdana"/>
              </a:rPr>
              <a:t>Profit</a:t>
            </a:r>
            <a:r>
              <a:rPr sz="1650" b="1" spc="-105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40" dirty="0">
                <a:solidFill>
                  <a:srgbClr val="006646"/>
                </a:solidFill>
                <a:latin typeface="Verdana"/>
                <a:cs typeface="Verdana"/>
              </a:rPr>
              <a:t>Margin</a:t>
            </a:r>
            <a:r>
              <a:rPr sz="1650" b="1" spc="-100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535" dirty="0">
                <a:solidFill>
                  <a:srgbClr val="006646"/>
                </a:solidFill>
                <a:latin typeface="Verdana"/>
                <a:cs typeface="Verdana"/>
              </a:rPr>
              <a:t>%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915"/>
              </a:spcBef>
            </a:pP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Expresses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profit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percentage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of 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revenue.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Format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4B4A4A"/>
                </a:solidFill>
                <a:latin typeface="Verdana"/>
                <a:cs typeface="Verdana"/>
              </a:rPr>
              <a:t>cell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b="1" spc="-10" dirty="0">
                <a:solidFill>
                  <a:srgbClr val="4B4A4A"/>
                </a:solidFill>
                <a:latin typeface="Trebuchet MS"/>
                <a:cs typeface="Trebuchet MS"/>
              </a:rPr>
              <a:t>Percentage </a:t>
            </a:r>
            <a:r>
              <a:rPr sz="1350" b="1" dirty="0">
                <a:solidFill>
                  <a:srgbClr val="4B4A4A"/>
                </a:solidFill>
                <a:latin typeface="Trebuchet MS"/>
                <a:cs typeface="Trebuchet MS"/>
              </a:rPr>
              <a:t>(%)</a:t>
            </a:r>
            <a:r>
              <a:rPr sz="1350" b="1" spc="-35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in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Excel.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Verdana"/>
              <a:cs typeface="Verdana"/>
            </a:endParaRPr>
          </a:p>
          <a:p>
            <a:pPr marL="218440">
              <a:lnSpc>
                <a:spcPct val="100000"/>
              </a:lnSpc>
            </a:pPr>
            <a:r>
              <a:rPr sz="1350" spc="55" dirty="0">
                <a:solidFill>
                  <a:srgbClr val="4B4A4A"/>
                </a:solidFill>
                <a:latin typeface="Trebuchet MS"/>
                <a:cs typeface="Trebuchet MS"/>
              </a:rPr>
              <a:t>=</a:t>
            </a:r>
            <a:r>
              <a:rPr sz="1350" spc="-50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spc="-25" dirty="0">
                <a:solidFill>
                  <a:srgbClr val="005CC5"/>
                </a:solidFill>
                <a:latin typeface="Trebuchet MS"/>
                <a:cs typeface="Trebuchet MS"/>
              </a:rPr>
              <a:t>[Profit]</a:t>
            </a:r>
            <a:r>
              <a:rPr sz="1350" spc="-40" dirty="0">
                <a:solidFill>
                  <a:srgbClr val="005CC5"/>
                </a:solidFill>
                <a:latin typeface="Trebuchet MS"/>
                <a:cs typeface="Trebuchet MS"/>
              </a:rPr>
              <a:t> </a:t>
            </a:r>
            <a:r>
              <a:rPr sz="1350" spc="-229" dirty="0">
                <a:solidFill>
                  <a:srgbClr val="4B4A4A"/>
                </a:solidFill>
                <a:latin typeface="Trebuchet MS"/>
                <a:cs typeface="Trebuchet MS"/>
              </a:rPr>
              <a:t>/</a:t>
            </a:r>
            <a:r>
              <a:rPr sz="1350" spc="-45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005CC5"/>
                </a:solidFill>
                <a:latin typeface="Trebuchet MS"/>
                <a:cs typeface="Trebuchet MS"/>
              </a:rPr>
              <a:t>[Revenue]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34275" y="7191375"/>
            <a:ext cx="3305175" cy="942975"/>
            <a:chOff x="7534275" y="7191375"/>
            <a:chExt cx="3305175" cy="942975"/>
          </a:xfrm>
        </p:grpSpPr>
        <p:sp>
          <p:nvSpPr>
            <p:cNvPr id="12" name="object 12"/>
            <p:cNvSpPr/>
            <p:nvPr/>
          </p:nvSpPr>
          <p:spPr>
            <a:xfrm>
              <a:off x="7534275" y="7191375"/>
              <a:ext cx="3305175" cy="942975"/>
            </a:xfrm>
            <a:custGeom>
              <a:avLst/>
              <a:gdLst/>
              <a:ahLst/>
              <a:cxnLst/>
              <a:rect l="l" t="t" r="r" b="b"/>
              <a:pathLst>
                <a:path w="3305175" h="942975">
                  <a:moveTo>
                    <a:pt x="3185033" y="0"/>
                  </a:moveTo>
                  <a:lnTo>
                    <a:pt x="120142" y="0"/>
                  </a:lnTo>
                  <a:lnTo>
                    <a:pt x="111785" y="825"/>
                  </a:lnTo>
                  <a:lnTo>
                    <a:pt x="71577" y="13017"/>
                  </a:lnTo>
                  <a:lnTo>
                    <a:pt x="31686" y="43637"/>
                  </a:lnTo>
                  <a:lnTo>
                    <a:pt x="6553" y="87185"/>
                  </a:lnTo>
                  <a:lnTo>
                    <a:pt x="0" y="120142"/>
                  </a:lnTo>
                  <a:lnTo>
                    <a:pt x="0" y="814388"/>
                  </a:lnTo>
                  <a:lnTo>
                    <a:pt x="0" y="822826"/>
                  </a:lnTo>
                  <a:lnTo>
                    <a:pt x="13017" y="871394"/>
                  </a:lnTo>
                  <a:lnTo>
                    <a:pt x="43637" y="911280"/>
                  </a:lnTo>
                  <a:lnTo>
                    <a:pt x="87172" y="936418"/>
                  </a:lnTo>
                  <a:lnTo>
                    <a:pt x="120142" y="942971"/>
                  </a:lnTo>
                  <a:lnTo>
                    <a:pt x="3185033" y="942971"/>
                  </a:lnTo>
                  <a:lnTo>
                    <a:pt x="3233597" y="929953"/>
                  </a:lnTo>
                  <a:lnTo>
                    <a:pt x="3273488" y="899339"/>
                  </a:lnTo>
                  <a:lnTo>
                    <a:pt x="3298621" y="855792"/>
                  </a:lnTo>
                  <a:lnTo>
                    <a:pt x="3305175" y="822826"/>
                  </a:lnTo>
                  <a:lnTo>
                    <a:pt x="3305175" y="120142"/>
                  </a:lnTo>
                  <a:lnTo>
                    <a:pt x="3292157" y="71577"/>
                  </a:lnTo>
                  <a:lnTo>
                    <a:pt x="3261537" y="31686"/>
                  </a:lnTo>
                  <a:lnTo>
                    <a:pt x="3218002" y="6553"/>
                  </a:lnTo>
                  <a:lnTo>
                    <a:pt x="3193389" y="825"/>
                  </a:lnTo>
                  <a:lnTo>
                    <a:pt x="3185033" y="0"/>
                  </a:lnTo>
                  <a:close/>
                </a:path>
              </a:pathLst>
            </a:custGeom>
            <a:solidFill>
              <a:srgbClr val="B2F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7868" y="7449743"/>
              <a:ext cx="150025" cy="15001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075218" y="7317740"/>
            <a:ext cx="253873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35" dirty="0">
                <a:latin typeface="Verdana"/>
                <a:cs typeface="Verdana"/>
              </a:rPr>
              <a:t>A</a:t>
            </a:r>
            <a:r>
              <a:rPr sz="1350" spc="-114" dirty="0">
                <a:latin typeface="Verdana"/>
                <a:cs typeface="Verdana"/>
              </a:rPr>
              <a:t> </a:t>
            </a:r>
            <a:r>
              <a:rPr sz="1350" spc="-95" dirty="0">
                <a:latin typeface="Verdana"/>
                <a:cs typeface="Verdana"/>
              </a:rPr>
              <a:t>margin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below</a:t>
            </a:r>
            <a:r>
              <a:rPr sz="1350" spc="-114" dirty="0">
                <a:latin typeface="Verdana"/>
                <a:cs typeface="Verdana"/>
              </a:rPr>
              <a:t> </a:t>
            </a:r>
            <a:r>
              <a:rPr sz="1350" spc="-245" dirty="0">
                <a:latin typeface="Verdana"/>
                <a:cs typeface="Verdana"/>
              </a:rPr>
              <a:t>10%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120" dirty="0">
                <a:latin typeface="Verdana"/>
                <a:cs typeface="Verdana"/>
              </a:rPr>
              <a:t>may</a:t>
            </a:r>
            <a:r>
              <a:rPr sz="1350" spc="-110" dirty="0">
                <a:latin typeface="Verdana"/>
                <a:cs typeface="Verdana"/>
              </a:rPr>
              <a:t> </a:t>
            </a:r>
            <a:r>
              <a:rPr sz="1350" spc="-20" dirty="0">
                <a:latin typeface="Verdana"/>
                <a:cs typeface="Verdana"/>
              </a:rPr>
              <a:t>flag </a:t>
            </a:r>
            <a:r>
              <a:rPr sz="1350" spc="-50" dirty="0">
                <a:latin typeface="Verdana"/>
                <a:cs typeface="Verdana"/>
              </a:rPr>
              <a:t>low-</a:t>
            </a:r>
            <a:r>
              <a:rPr sz="1350" spc="-85" dirty="0">
                <a:latin typeface="Verdana"/>
                <a:cs typeface="Verdana"/>
              </a:rPr>
              <a:t>performing</a:t>
            </a:r>
            <a:r>
              <a:rPr sz="1350" spc="-100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SKUs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for</a:t>
            </a:r>
            <a:r>
              <a:rPr sz="1350" spc="-100" dirty="0">
                <a:latin typeface="Verdana"/>
                <a:cs typeface="Verdana"/>
              </a:rPr>
              <a:t> </a:t>
            </a:r>
            <a:r>
              <a:rPr sz="1350" spc="-95" dirty="0">
                <a:latin typeface="Verdana"/>
                <a:cs typeface="Verdana"/>
              </a:rPr>
              <a:t>review.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0745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E4F9F1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0074" y="1076324"/>
            <a:ext cx="1847850" cy="314325"/>
          </a:xfrm>
          <a:custGeom>
            <a:avLst/>
            <a:gdLst/>
            <a:ahLst/>
            <a:cxnLst/>
            <a:rect l="l" t="t" r="r" b="b"/>
            <a:pathLst>
              <a:path w="1847850" h="314325">
                <a:moveTo>
                  <a:pt x="1751734" y="314324"/>
                </a:moveTo>
                <a:lnTo>
                  <a:pt x="96115" y="314324"/>
                </a:lnTo>
                <a:lnTo>
                  <a:pt x="89425" y="313666"/>
                </a:lnTo>
                <a:lnTo>
                  <a:pt x="51334" y="300740"/>
                </a:lnTo>
                <a:lnTo>
                  <a:pt x="21089" y="274222"/>
                </a:lnTo>
                <a:lnTo>
                  <a:pt x="3294" y="238148"/>
                </a:lnTo>
                <a:lnTo>
                  <a:pt x="0" y="218209"/>
                </a:lnTo>
                <a:lnTo>
                  <a:pt x="0" y="211454"/>
                </a:lnTo>
                <a:lnTo>
                  <a:pt x="0" y="96115"/>
                </a:lnTo>
                <a:lnTo>
                  <a:pt x="10415" y="57262"/>
                </a:lnTo>
                <a:lnTo>
                  <a:pt x="34906" y="25353"/>
                </a:lnTo>
                <a:lnTo>
                  <a:pt x="69743" y="5245"/>
                </a:lnTo>
                <a:lnTo>
                  <a:pt x="96115" y="0"/>
                </a:lnTo>
                <a:lnTo>
                  <a:pt x="1751734" y="0"/>
                </a:lnTo>
                <a:lnTo>
                  <a:pt x="1790586" y="10415"/>
                </a:lnTo>
                <a:lnTo>
                  <a:pt x="1822495" y="34906"/>
                </a:lnTo>
                <a:lnTo>
                  <a:pt x="1842603" y="69743"/>
                </a:lnTo>
                <a:lnTo>
                  <a:pt x="1847849" y="96115"/>
                </a:lnTo>
                <a:lnTo>
                  <a:pt x="1847849" y="218209"/>
                </a:lnTo>
                <a:lnTo>
                  <a:pt x="1837434" y="257061"/>
                </a:lnTo>
                <a:lnTo>
                  <a:pt x="1812943" y="288970"/>
                </a:lnTo>
                <a:lnTo>
                  <a:pt x="1778105" y="309079"/>
                </a:lnTo>
                <a:lnTo>
                  <a:pt x="1758423" y="313666"/>
                </a:lnTo>
                <a:lnTo>
                  <a:pt x="1751734" y="314324"/>
                </a:lnTo>
                <a:close/>
              </a:path>
            </a:pathLst>
          </a:custGeom>
          <a:solidFill>
            <a:srgbClr val="CCF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0215" y="1126489"/>
            <a:ext cx="166433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65" dirty="0">
                <a:solidFill>
                  <a:srgbClr val="4A4A4A"/>
                </a:solidFill>
                <a:latin typeface="Verdana"/>
                <a:cs typeface="Verdana"/>
              </a:rPr>
              <a:t>AGGREGATION</a:t>
            </a:r>
            <a:r>
              <a:rPr sz="1050" spc="-4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050" spc="-105" dirty="0">
                <a:solidFill>
                  <a:srgbClr val="4A4A4A"/>
                </a:solidFill>
                <a:latin typeface="Verdana"/>
                <a:cs typeface="Verdana"/>
              </a:rPr>
              <a:t>&amp;</a:t>
            </a:r>
            <a:r>
              <a:rPr sz="1050" spc="-4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A4A4A"/>
                </a:solidFill>
                <a:latin typeface="Verdana"/>
                <a:cs typeface="Verdana"/>
              </a:rPr>
              <a:t>LOOKUP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4" y="1473200"/>
            <a:ext cx="685101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80" dirty="0"/>
              <a:t>Summarising</a:t>
            </a:r>
            <a:r>
              <a:rPr spc="-245" dirty="0"/>
              <a:t> </a:t>
            </a:r>
            <a:r>
              <a:rPr spc="-210" dirty="0"/>
              <a:t>&amp;</a:t>
            </a:r>
            <a:r>
              <a:rPr spc="-245" dirty="0"/>
              <a:t> </a:t>
            </a:r>
            <a:r>
              <a:rPr spc="-170" dirty="0"/>
              <a:t>Validating</a:t>
            </a:r>
            <a:r>
              <a:rPr spc="-245" dirty="0"/>
              <a:t> </a:t>
            </a:r>
            <a:r>
              <a:rPr spc="-145" dirty="0"/>
              <a:t>Data</a:t>
            </a:r>
          </a:p>
        </p:txBody>
      </p:sp>
      <p:sp>
        <p:nvSpPr>
          <p:cNvPr id="6" name="object 6"/>
          <p:cNvSpPr/>
          <p:nvPr/>
        </p:nvSpPr>
        <p:spPr>
          <a:xfrm>
            <a:off x="646495" y="2257425"/>
            <a:ext cx="250190" cy="342900"/>
          </a:xfrm>
          <a:custGeom>
            <a:avLst/>
            <a:gdLst/>
            <a:ahLst/>
            <a:cxnLst/>
            <a:rect l="l" t="t" r="r" b="b"/>
            <a:pathLst>
              <a:path w="250190" h="342900">
                <a:moveTo>
                  <a:pt x="129491" y="160724"/>
                </a:moveTo>
                <a:lnTo>
                  <a:pt x="110661" y="199928"/>
                </a:lnTo>
                <a:lnTo>
                  <a:pt x="95862" y="219117"/>
                </a:lnTo>
              </a:path>
              <a:path w="250190" h="342900">
                <a:moveTo>
                  <a:pt x="1" y="681"/>
                </a:moveTo>
                <a:lnTo>
                  <a:pt x="239117" y="0"/>
                </a:lnTo>
              </a:path>
              <a:path w="250190" h="342900">
                <a:moveTo>
                  <a:pt x="129491" y="160724"/>
                </a:moveTo>
                <a:lnTo>
                  <a:pt x="129054" y="158747"/>
                </a:lnTo>
                <a:lnTo>
                  <a:pt x="128407" y="156722"/>
                </a:lnTo>
                <a:lnTo>
                  <a:pt x="1" y="681"/>
                </a:lnTo>
              </a:path>
              <a:path w="250190" h="342900">
                <a:moveTo>
                  <a:pt x="0" y="342866"/>
                </a:moveTo>
                <a:lnTo>
                  <a:pt x="250058" y="342899"/>
                </a:lnTo>
              </a:path>
              <a:path w="250190" h="342900">
                <a:moveTo>
                  <a:pt x="95862" y="219117"/>
                </a:moveTo>
                <a:lnTo>
                  <a:pt x="0" y="342866"/>
                </a:lnTo>
              </a:path>
            </a:pathLst>
          </a:custGeom>
          <a:ln w="15189">
            <a:solidFill>
              <a:srgbClr val="006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7374" y="2662634"/>
            <a:ext cx="3162935" cy="130873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30" dirty="0">
                <a:solidFill>
                  <a:srgbClr val="4A4A4A"/>
                </a:solidFill>
                <a:latin typeface="Verdana"/>
                <a:cs typeface="Verdana"/>
              </a:rPr>
              <a:t>SUM</a:t>
            </a:r>
            <a:r>
              <a:rPr sz="1650" b="1" spc="-13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470" dirty="0">
                <a:solidFill>
                  <a:srgbClr val="4A4A4A"/>
                </a:solidFill>
                <a:latin typeface="Verdana"/>
                <a:cs typeface="Verdana"/>
              </a:rPr>
              <a:t>/</a:t>
            </a:r>
            <a:r>
              <a:rPr sz="1650" b="1" spc="-13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20" dirty="0">
                <a:solidFill>
                  <a:srgbClr val="4A4A4A"/>
                </a:solidFill>
                <a:latin typeface="Verdana"/>
                <a:cs typeface="Verdana"/>
              </a:rPr>
              <a:t>SUMIF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sz="1350" spc="-75" dirty="0">
                <a:solidFill>
                  <a:srgbClr val="4A4A4A"/>
                </a:solidFill>
                <a:latin typeface="Verdana"/>
                <a:cs typeface="Verdana"/>
              </a:rPr>
              <a:t>Aggregate</a:t>
            </a:r>
            <a:r>
              <a:rPr sz="1350" spc="-8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A4A4A"/>
                </a:solidFill>
                <a:latin typeface="Verdana"/>
                <a:cs typeface="Verdana"/>
              </a:rPr>
              <a:t>total</a:t>
            </a:r>
            <a:r>
              <a:rPr sz="1350" spc="-8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4A4A4A"/>
                </a:solidFill>
                <a:latin typeface="Verdana"/>
                <a:cs typeface="Verdana"/>
              </a:rPr>
              <a:t>revenue,</a:t>
            </a:r>
            <a:r>
              <a:rPr sz="1350" spc="-8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A4A4A"/>
                </a:solidFill>
                <a:latin typeface="Verdana"/>
                <a:cs typeface="Verdana"/>
              </a:rPr>
              <a:t>profit,</a:t>
            </a:r>
            <a:r>
              <a:rPr sz="1350" spc="-8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A4A4A"/>
                </a:solidFill>
                <a:latin typeface="Verdana"/>
                <a:cs typeface="Verdana"/>
              </a:rPr>
              <a:t>or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quantity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A4A4A"/>
                </a:solidFill>
                <a:latin typeface="Verdana"/>
                <a:cs typeface="Verdana"/>
              </a:rPr>
              <a:t>across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A4A4A"/>
                </a:solidFill>
                <a:latin typeface="Verdana"/>
                <a:cs typeface="Verdana"/>
              </a:rPr>
              <a:t>all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orders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or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A4A4A"/>
                </a:solidFill>
                <a:latin typeface="Verdana"/>
                <a:cs typeface="Verdana"/>
              </a:rPr>
              <a:t>filtered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A4A4A"/>
                </a:solidFill>
                <a:latin typeface="Verdana"/>
                <a:cs typeface="Verdana"/>
              </a:rPr>
              <a:t>by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A4A4A"/>
                </a:solidFill>
                <a:latin typeface="Verdana"/>
                <a:cs typeface="Verdana"/>
              </a:rPr>
              <a:t>a </a:t>
            </a:r>
            <a:r>
              <a:rPr sz="1350" spc="-10" dirty="0">
                <a:solidFill>
                  <a:srgbClr val="4A4A4A"/>
                </a:solidFill>
                <a:latin typeface="Verdana"/>
                <a:cs typeface="Verdana"/>
              </a:rPr>
              <a:t>condition.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0062" y="4200525"/>
            <a:ext cx="3267075" cy="1162050"/>
          </a:xfrm>
          <a:custGeom>
            <a:avLst/>
            <a:gdLst/>
            <a:ahLst/>
            <a:cxnLst/>
            <a:rect l="l" t="t" r="r" b="b"/>
            <a:pathLst>
              <a:path w="3267075" h="1162050">
                <a:moveTo>
                  <a:pt x="3267075" y="120154"/>
                </a:moveTo>
                <a:lnTo>
                  <a:pt x="3266262" y="111785"/>
                </a:lnTo>
                <a:lnTo>
                  <a:pt x="3264700" y="104000"/>
                </a:lnTo>
                <a:lnTo>
                  <a:pt x="3264636" y="103505"/>
                </a:lnTo>
                <a:lnTo>
                  <a:pt x="3264509" y="103022"/>
                </a:lnTo>
                <a:lnTo>
                  <a:pt x="3262960" y="95224"/>
                </a:lnTo>
                <a:lnTo>
                  <a:pt x="3260521" y="87185"/>
                </a:lnTo>
                <a:lnTo>
                  <a:pt x="3257334" y="79502"/>
                </a:lnTo>
                <a:lnTo>
                  <a:pt x="3257232" y="79286"/>
                </a:lnTo>
                <a:lnTo>
                  <a:pt x="3254057" y="71589"/>
                </a:lnTo>
                <a:lnTo>
                  <a:pt x="3250095" y="64173"/>
                </a:lnTo>
                <a:lnTo>
                  <a:pt x="3245726" y="57632"/>
                </a:lnTo>
                <a:lnTo>
                  <a:pt x="3245434" y="57137"/>
                </a:lnTo>
                <a:lnTo>
                  <a:pt x="3245091" y="56692"/>
                </a:lnTo>
                <a:lnTo>
                  <a:pt x="3240722" y="50126"/>
                </a:lnTo>
                <a:lnTo>
                  <a:pt x="3235388" y="43637"/>
                </a:lnTo>
                <a:lnTo>
                  <a:pt x="3229419" y="37668"/>
                </a:lnTo>
                <a:lnTo>
                  <a:pt x="3223450" y="31699"/>
                </a:lnTo>
                <a:lnTo>
                  <a:pt x="3216948" y="26365"/>
                </a:lnTo>
                <a:lnTo>
                  <a:pt x="3210369" y="21983"/>
                </a:lnTo>
                <a:lnTo>
                  <a:pt x="3209950" y="21653"/>
                </a:lnTo>
                <a:lnTo>
                  <a:pt x="3209493" y="21386"/>
                </a:lnTo>
                <a:lnTo>
                  <a:pt x="3202914" y="16979"/>
                </a:lnTo>
                <a:lnTo>
                  <a:pt x="3195497" y="13030"/>
                </a:lnTo>
                <a:lnTo>
                  <a:pt x="3187801" y="9855"/>
                </a:lnTo>
                <a:lnTo>
                  <a:pt x="3187585" y="9753"/>
                </a:lnTo>
                <a:lnTo>
                  <a:pt x="3179902" y="6565"/>
                </a:lnTo>
                <a:lnTo>
                  <a:pt x="3171863" y="4127"/>
                </a:lnTo>
                <a:lnTo>
                  <a:pt x="3164065" y="2578"/>
                </a:lnTo>
                <a:lnTo>
                  <a:pt x="3163582" y="2451"/>
                </a:lnTo>
                <a:lnTo>
                  <a:pt x="3163087" y="2387"/>
                </a:lnTo>
                <a:lnTo>
                  <a:pt x="3155302" y="825"/>
                </a:lnTo>
                <a:lnTo>
                  <a:pt x="3146933" y="0"/>
                </a:lnTo>
                <a:lnTo>
                  <a:pt x="3138487" y="0"/>
                </a:lnTo>
                <a:lnTo>
                  <a:pt x="128587" y="0"/>
                </a:lnTo>
                <a:lnTo>
                  <a:pt x="120154" y="0"/>
                </a:lnTo>
                <a:lnTo>
                  <a:pt x="111785" y="825"/>
                </a:lnTo>
                <a:lnTo>
                  <a:pt x="103987" y="2387"/>
                </a:lnTo>
                <a:lnTo>
                  <a:pt x="103505" y="2451"/>
                </a:lnTo>
                <a:lnTo>
                  <a:pt x="103009" y="2578"/>
                </a:lnTo>
                <a:lnTo>
                  <a:pt x="95224" y="4127"/>
                </a:lnTo>
                <a:lnTo>
                  <a:pt x="87185" y="6565"/>
                </a:lnTo>
                <a:lnTo>
                  <a:pt x="79489" y="9753"/>
                </a:lnTo>
                <a:lnTo>
                  <a:pt x="79273" y="9855"/>
                </a:lnTo>
                <a:lnTo>
                  <a:pt x="71589" y="13030"/>
                </a:lnTo>
                <a:lnTo>
                  <a:pt x="64173" y="16979"/>
                </a:lnTo>
                <a:lnTo>
                  <a:pt x="57581" y="21386"/>
                </a:lnTo>
                <a:lnTo>
                  <a:pt x="57137" y="21653"/>
                </a:lnTo>
                <a:lnTo>
                  <a:pt x="56705" y="21983"/>
                </a:lnTo>
                <a:lnTo>
                  <a:pt x="50139" y="26365"/>
                </a:lnTo>
                <a:lnTo>
                  <a:pt x="43637" y="31699"/>
                </a:lnTo>
                <a:lnTo>
                  <a:pt x="37668" y="37668"/>
                </a:lnTo>
                <a:lnTo>
                  <a:pt x="31699" y="43637"/>
                </a:lnTo>
                <a:lnTo>
                  <a:pt x="26365" y="50126"/>
                </a:lnTo>
                <a:lnTo>
                  <a:pt x="21983" y="56692"/>
                </a:lnTo>
                <a:lnTo>
                  <a:pt x="21653" y="57137"/>
                </a:lnTo>
                <a:lnTo>
                  <a:pt x="21348" y="57632"/>
                </a:lnTo>
                <a:lnTo>
                  <a:pt x="16992" y="64173"/>
                </a:lnTo>
                <a:lnTo>
                  <a:pt x="13030" y="71589"/>
                </a:lnTo>
                <a:lnTo>
                  <a:pt x="9842" y="79286"/>
                </a:lnTo>
                <a:lnTo>
                  <a:pt x="9740" y="79502"/>
                </a:lnTo>
                <a:lnTo>
                  <a:pt x="6565" y="87185"/>
                </a:lnTo>
                <a:lnTo>
                  <a:pt x="4127" y="95224"/>
                </a:lnTo>
                <a:lnTo>
                  <a:pt x="2565" y="103022"/>
                </a:lnTo>
                <a:lnTo>
                  <a:pt x="2451" y="103505"/>
                </a:lnTo>
                <a:lnTo>
                  <a:pt x="2374" y="104000"/>
                </a:lnTo>
                <a:lnTo>
                  <a:pt x="825" y="111785"/>
                </a:lnTo>
                <a:lnTo>
                  <a:pt x="0" y="120154"/>
                </a:lnTo>
                <a:lnTo>
                  <a:pt x="0" y="128587"/>
                </a:lnTo>
                <a:lnTo>
                  <a:pt x="0" y="1033462"/>
                </a:lnTo>
                <a:lnTo>
                  <a:pt x="0" y="1041908"/>
                </a:lnTo>
                <a:lnTo>
                  <a:pt x="825" y="1050277"/>
                </a:lnTo>
                <a:lnTo>
                  <a:pt x="2374" y="1058075"/>
                </a:lnTo>
                <a:lnTo>
                  <a:pt x="2451" y="1058557"/>
                </a:lnTo>
                <a:lnTo>
                  <a:pt x="2565" y="1059053"/>
                </a:lnTo>
                <a:lnTo>
                  <a:pt x="4127" y="1066838"/>
                </a:lnTo>
                <a:lnTo>
                  <a:pt x="6565" y="1074877"/>
                </a:lnTo>
                <a:lnTo>
                  <a:pt x="9740" y="1082573"/>
                </a:lnTo>
                <a:lnTo>
                  <a:pt x="9842" y="1082789"/>
                </a:lnTo>
                <a:lnTo>
                  <a:pt x="13030" y="1090472"/>
                </a:lnTo>
                <a:lnTo>
                  <a:pt x="16992" y="1097889"/>
                </a:lnTo>
                <a:lnTo>
                  <a:pt x="21323" y="1104379"/>
                </a:lnTo>
                <a:lnTo>
                  <a:pt x="21653" y="1104925"/>
                </a:lnTo>
                <a:lnTo>
                  <a:pt x="22021" y="1105433"/>
                </a:lnTo>
                <a:lnTo>
                  <a:pt x="26365" y="1111923"/>
                </a:lnTo>
                <a:lnTo>
                  <a:pt x="31699" y="1118425"/>
                </a:lnTo>
                <a:lnTo>
                  <a:pt x="37668" y="1124394"/>
                </a:lnTo>
                <a:lnTo>
                  <a:pt x="43637" y="1130363"/>
                </a:lnTo>
                <a:lnTo>
                  <a:pt x="50139" y="1135697"/>
                </a:lnTo>
                <a:lnTo>
                  <a:pt x="56629" y="1140040"/>
                </a:lnTo>
                <a:lnTo>
                  <a:pt x="57137" y="1140409"/>
                </a:lnTo>
                <a:lnTo>
                  <a:pt x="57670" y="1140739"/>
                </a:lnTo>
                <a:lnTo>
                  <a:pt x="64173" y="1145070"/>
                </a:lnTo>
                <a:lnTo>
                  <a:pt x="71589" y="1149032"/>
                </a:lnTo>
                <a:lnTo>
                  <a:pt x="79273" y="1152220"/>
                </a:lnTo>
                <a:lnTo>
                  <a:pt x="79489" y="1152321"/>
                </a:lnTo>
                <a:lnTo>
                  <a:pt x="87185" y="1155496"/>
                </a:lnTo>
                <a:lnTo>
                  <a:pt x="95224" y="1157935"/>
                </a:lnTo>
                <a:lnTo>
                  <a:pt x="103009" y="1159497"/>
                </a:lnTo>
                <a:lnTo>
                  <a:pt x="103505" y="1159611"/>
                </a:lnTo>
                <a:lnTo>
                  <a:pt x="103987" y="1159687"/>
                </a:lnTo>
                <a:lnTo>
                  <a:pt x="111785" y="1161237"/>
                </a:lnTo>
                <a:lnTo>
                  <a:pt x="120154" y="1162050"/>
                </a:lnTo>
                <a:lnTo>
                  <a:pt x="128587" y="1162050"/>
                </a:lnTo>
                <a:lnTo>
                  <a:pt x="3138487" y="1162050"/>
                </a:lnTo>
                <a:lnTo>
                  <a:pt x="3146933" y="1162050"/>
                </a:lnTo>
                <a:lnTo>
                  <a:pt x="3155302" y="1161237"/>
                </a:lnTo>
                <a:lnTo>
                  <a:pt x="3163087" y="1159687"/>
                </a:lnTo>
                <a:lnTo>
                  <a:pt x="3163582" y="1159611"/>
                </a:lnTo>
                <a:lnTo>
                  <a:pt x="3164065" y="1159497"/>
                </a:lnTo>
                <a:lnTo>
                  <a:pt x="3187801" y="1152220"/>
                </a:lnTo>
                <a:lnTo>
                  <a:pt x="3195497" y="1149032"/>
                </a:lnTo>
                <a:lnTo>
                  <a:pt x="3202914" y="1145070"/>
                </a:lnTo>
                <a:lnTo>
                  <a:pt x="3209404" y="1140739"/>
                </a:lnTo>
                <a:lnTo>
                  <a:pt x="3209950" y="1140409"/>
                </a:lnTo>
                <a:lnTo>
                  <a:pt x="3210445" y="1140040"/>
                </a:lnTo>
                <a:lnTo>
                  <a:pt x="3216948" y="1135697"/>
                </a:lnTo>
                <a:lnTo>
                  <a:pt x="3223450" y="1130363"/>
                </a:lnTo>
                <a:lnTo>
                  <a:pt x="3229419" y="1124394"/>
                </a:lnTo>
                <a:lnTo>
                  <a:pt x="3235388" y="1118425"/>
                </a:lnTo>
                <a:lnTo>
                  <a:pt x="3240722" y="1111923"/>
                </a:lnTo>
                <a:lnTo>
                  <a:pt x="3245053" y="1105433"/>
                </a:lnTo>
                <a:lnTo>
                  <a:pt x="3245434" y="1104925"/>
                </a:lnTo>
                <a:lnTo>
                  <a:pt x="3245751" y="1104379"/>
                </a:lnTo>
                <a:lnTo>
                  <a:pt x="3250095" y="1097889"/>
                </a:lnTo>
                <a:lnTo>
                  <a:pt x="3254057" y="1090472"/>
                </a:lnTo>
                <a:lnTo>
                  <a:pt x="3257232" y="1082789"/>
                </a:lnTo>
                <a:lnTo>
                  <a:pt x="3257334" y="1082573"/>
                </a:lnTo>
                <a:lnTo>
                  <a:pt x="3260521" y="1074877"/>
                </a:lnTo>
                <a:lnTo>
                  <a:pt x="3262960" y="1066838"/>
                </a:lnTo>
                <a:lnTo>
                  <a:pt x="3264509" y="1059053"/>
                </a:lnTo>
                <a:lnTo>
                  <a:pt x="3264636" y="1058557"/>
                </a:lnTo>
                <a:lnTo>
                  <a:pt x="3264700" y="1058075"/>
                </a:lnTo>
                <a:lnTo>
                  <a:pt x="3266262" y="1050277"/>
                </a:lnTo>
                <a:lnTo>
                  <a:pt x="3267075" y="1041908"/>
                </a:lnTo>
                <a:lnTo>
                  <a:pt x="3267075" y="1033462"/>
                </a:lnTo>
                <a:lnTo>
                  <a:pt x="3267075" y="128587"/>
                </a:lnTo>
                <a:lnTo>
                  <a:pt x="3267075" y="120154"/>
                </a:lnTo>
                <a:close/>
              </a:path>
            </a:pathLst>
          </a:custGeom>
          <a:solidFill>
            <a:srgbClr val="D8EC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3204" y="4317364"/>
            <a:ext cx="2869565" cy="85407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350" spc="-10" dirty="0">
                <a:solidFill>
                  <a:srgbClr val="4A4A4A"/>
                </a:solidFill>
                <a:latin typeface="Trebuchet MS"/>
                <a:cs typeface="Trebuchet MS"/>
              </a:rPr>
              <a:t>=</a:t>
            </a:r>
            <a:r>
              <a:rPr sz="1350" spc="-10" dirty="0">
                <a:solidFill>
                  <a:srgbClr val="E36109"/>
                </a:solidFill>
                <a:latin typeface="Trebuchet MS"/>
                <a:cs typeface="Trebuchet MS"/>
              </a:rPr>
              <a:t>SUM</a:t>
            </a:r>
            <a:r>
              <a:rPr sz="1350" spc="-10" dirty="0">
                <a:solidFill>
                  <a:srgbClr val="4A4A4A"/>
                </a:solidFill>
                <a:latin typeface="Trebuchet MS"/>
                <a:cs typeface="Trebuchet MS"/>
              </a:rPr>
              <a:t>(E2:E1000)</a:t>
            </a:r>
            <a:endParaRPr sz="13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</a:pPr>
            <a:r>
              <a:rPr sz="1350" spc="-10" dirty="0">
                <a:solidFill>
                  <a:srgbClr val="4A4A4A"/>
                </a:solidFill>
                <a:latin typeface="Trebuchet MS"/>
                <a:cs typeface="Trebuchet MS"/>
              </a:rPr>
              <a:t>=</a:t>
            </a:r>
            <a:r>
              <a:rPr sz="1350" spc="-10" dirty="0">
                <a:solidFill>
                  <a:srgbClr val="E36109"/>
                </a:solidFill>
                <a:latin typeface="Trebuchet MS"/>
                <a:cs typeface="Trebuchet MS"/>
              </a:rPr>
              <a:t>SUMIF</a:t>
            </a:r>
            <a:r>
              <a:rPr sz="1350" spc="-10" dirty="0">
                <a:solidFill>
                  <a:srgbClr val="4A4A4A"/>
                </a:solidFill>
                <a:latin typeface="Trebuchet MS"/>
                <a:cs typeface="Trebuchet MS"/>
              </a:rPr>
              <a:t>(Category,"Electronics",Reve </a:t>
            </a:r>
            <a:r>
              <a:rPr sz="1350" spc="-20" dirty="0">
                <a:solidFill>
                  <a:srgbClr val="4A4A4A"/>
                </a:solidFill>
                <a:latin typeface="Trebuchet MS"/>
                <a:cs typeface="Trebuchet MS"/>
              </a:rPr>
              <a:t>nue)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86225" y="2275918"/>
            <a:ext cx="342900" cy="306070"/>
          </a:xfrm>
          <a:custGeom>
            <a:avLst/>
            <a:gdLst/>
            <a:ahLst/>
            <a:cxnLst/>
            <a:rect l="l" t="t" r="r" b="b"/>
            <a:pathLst>
              <a:path w="342900" h="306069">
                <a:moveTo>
                  <a:pt x="301119" y="305912"/>
                </a:moveTo>
                <a:lnTo>
                  <a:pt x="337409" y="286202"/>
                </a:lnTo>
                <a:lnTo>
                  <a:pt x="342837" y="261446"/>
                </a:lnTo>
                <a:lnTo>
                  <a:pt x="342875" y="249947"/>
                </a:lnTo>
              </a:path>
              <a:path w="342900" h="306069">
                <a:moveTo>
                  <a:pt x="342868" y="42925"/>
                </a:moveTo>
                <a:lnTo>
                  <a:pt x="324673" y="6192"/>
                </a:lnTo>
                <a:lnTo>
                  <a:pt x="300064" y="20"/>
                </a:lnTo>
                <a:lnTo>
                  <a:pt x="288572" y="0"/>
                </a:lnTo>
              </a:path>
              <a:path w="342900" h="306069">
                <a:moveTo>
                  <a:pt x="36076" y="162"/>
                </a:moveTo>
                <a:lnTo>
                  <a:pt x="3300" y="23385"/>
                </a:lnTo>
                <a:lnTo>
                  <a:pt x="12" y="40972"/>
                </a:lnTo>
                <a:lnTo>
                  <a:pt x="0" y="48783"/>
                </a:lnTo>
              </a:path>
              <a:path w="342900" h="306069">
                <a:moveTo>
                  <a:pt x="10" y="266261"/>
                </a:moveTo>
                <a:lnTo>
                  <a:pt x="19563" y="300767"/>
                </a:lnTo>
                <a:lnTo>
                  <a:pt x="42234" y="305898"/>
                </a:lnTo>
                <a:lnTo>
                  <a:pt x="52689" y="305905"/>
                </a:lnTo>
              </a:path>
              <a:path w="342900" h="306069">
                <a:moveTo>
                  <a:pt x="342872" y="196645"/>
                </a:moveTo>
                <a:lnTo>
                  <a:pt x="14" y="196486"/>
                </a:lnTo>
              </a:path>
              <a:path w="342900" h="306069">
                <a:moveTo>
                  <a:pt x="178148" y="305899"/>
                </a:moveTo>
                <a:lnTo>
                  <a:pt x="301119" y="305912"/>
                </a:lnTo>
              </a:path>
              <a:path w="342900" h="306069">
                <a:moveTo>
                  <a:pt x="172071" y="305898"/>
                </a:moveTo>
                <a:lnTo>
                  <a:pt x="171849" y="76898"/>
                </a:lnTo>
              </a:path>
              <a:path w="342900" h="306069">
                <a:moveTo>
                  <a:pt x="342899" y="76912"/>
                </a:moveTo>
                <a:lnTo>
                  <a:pt x="0" y="76909"/>
                </a:lnTo>
              </a:path>
              <a:path w="342900" h="306069">
                <a:moveTo>
                  <a:pt x="342875" y="249947"/>
                </a:moveTo>
                <a:lnTo>
                  <a:pt x="342868" y="42925"/>
                </a:lnTo>
              </a:path>
              <a:path w="342900" h="306069">
                <a:moveTo>
                  <a:pt x="288572" y="0"/>
                </a:moveTo>
                <a:lnTo>
                  <a:pt x="36076" y="162"/>
                </a:lnTo>
              </a:path>
              <a:path w="342900" h="306069">
                <a:moveTo>
                  <a:pt x="0" y="48783"/>
                </a:moveTo>
                <a:lnTo>
                  <a:pt x="10" y="266261"/>
                </a:lnTo>
              </a:path>
              <a:path w="342900" h="306069">
                <a:moveTo>
                  <a:pt x="52689" y="305905"/>
                </a:moveTo>
                <a:lnTo>
                  <a:pt x="178148" y="305899"/>
                </a:lnTo>
              </a:path>
            </a:pathLst>
          </a:custGeom>
          <a:ln w="15188">
            <a:solidFill>
              <a:srgbClr val="006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68762" y="2662634"/>
            <a:ext cx="2952115" cy="130873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90" dirty="0">
                <a:solidFill>
                  <a:srgbClr val="4A4A4A"/>
                </a:solidFill>
                <a:latin typeface="Verdana"/>
                <a:cs typeface="Verdana"/>
              </a:rPr>
              <a:t>Pivot</a:t>
            </a:r>
            <a:r>
              <a:rPr sz="1650" b="1" spc="-114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A4A4A"/>
                </a:solidFill>
                <a:latin typeface="Verdana"/>
                <a:cs typeface="Verdana"/>
              </a:rPr>
              <a:t>Tables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sz="1350" spc="-65" dirty="0">
                <a:solidFill>
                  <a:srgbClr val="4A4A4A"/>
                </a:solidFill>
                <a:latin typeface="Verdana"/>
                <a:cs typeface="Verdana"/>
              </a:rPr>
              <a:t>Quickly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A4A4A"/>
                </a:solidFill>
                <a:latin typeface="Verdana"/>
                <a:cs typeface="Verdana"/>
              </a:rPr>
              <a:t>summarise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4A4A4A"/>
                </a:solidFill>
                <a:latin typeface="Verdana"/>
                <a:cs typeface="Verdana"/>
              </a:rPr>
              <a:t>sales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A4A4A"/>
                </a:solidFill>
                <a:latin typeface="Verdana"/>
                <a:cs typeface="Verdana"/>
              </a:rPr>
              <a:t>by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A4A4A"/>
                </a:solidFill>
                <a:latin typeface="Verdana"/>
                <a:cs typeface="Verdana"/>
              </a:rPr>
              <a:t>category, 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region,</a:t>
            </a:r>
            <a:r>
              <a:rPr sz="1350" spc="-1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or</a:t>
            </a:r>
            <a:r>
              <a:rPr sz="1350" spc="-1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date</a:t>
            </a:r>
            <a:r>
              <a:rPr sz="1350" spc="-1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A4A4A"/>
                </a:solidFill>
                <a:latin typeface="Verdana"/>
                <a:cs typeface="Verdana"/>
              </a:rPr>
              <a:t>for</a:t>
            </a:r>
            <a:r>
              <a:rPr sz="1350" spc="-1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A4A4A"/>
                </a:solidFill>
                <a:latin typeface="Verdana"/>
                <a:cs typeface="Verdana"/>
              </a:rPr>
              <a:t>the</a:t>
            </a:r>
            <a:r>
              <a:rPr sz="1350" spc="-1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4A4A4A"/>
                </a:solidFill>
                <a:latin typeface="Verdana"/>
                <a:cs typeface="Verdana"/>
              </a:rPr>
              <a:t>KPI</a:t>
            </a:r>
            <a:r>
              <a:rPr sz="1350" spc="-11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Verdana"/>
                <a:cs typeface="Verdana"/>
              </a:rPr>
              <a:t>dashboard summary.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86212" y="4200525"/>
            <a:ext cx="3267075" cy="1162050"/>
          </a:xfrm>
          <a:custGeom>
            <a:avLst/>
            <a:gdLst/>
            <a:ahLst/>
            <a:cxnLst/>
            <a:rect l="l" t="t" r="r" b="b"/>
            <a:pathLst>
              <a:path w="3267075" h="1162050">
                <a:moveTo>
                  <a:pt x="3267075" y="120154"/>
                </a:moveTo>
                <a:lnTo>
                  <a:pt x="3266262" y="111785"/>
                </a:lnTo>
                <a:lnTo>
                  <a:pt x="3264700" y="104000"/>
                </a:lnTo>
                <a:lnTo>
                  <a:pt x="3264636" y="103505"/>
                </a:lnTo>
                <a:lnTo>
                  <a:pt x="3264509" y="103022"/>
                </a:lnTo>
                <a:lnTo>
                  <a:pt x="3262960" y="95224"/>
                </a:lnTo>
                <a:lnTo>
                  <a:pt x="3260521" y="87185"/>
                </a:lnTo>
                <a:lnTo>
                  <a:pt x="3257334" y="79502"/>
                </a:lnTo>
                <a:lnTo>
                  <a:pt x="3257232" y="79286"/>
                </a:lnTo>
                <a:lnTo>
                  <a:pt x="3254057" y="71589"/>
                </a:lnTo>
                <a:lnTo>
                  <a:pt x="3250095" y="64173"/>
                </a:lnTo>
                <a:lnTo>
                  <a:pt x="3245713" y="57632"/>
                </a:lnTo>
                <a:lnTo>
                  <a:pt x="3245434" y="57137"/>
                </a:lnTo>
                <a:lnTo>
                  <a:pt x="3245091" y="56692"/>
                </a:lnTo>
                <a:lnTo>
                  <a:pt x="3240722" y="50126"/>
                </a:lnTo>
                <a:lnTo>
                  <a:pt x="3235388" y="43637"/>
                </a:lnTo>
                <a:lnTo>
                  <a:pt x="3229419" y="37668"/>
                </a:lnTo>
                <a:lnTo>
                  <a:pt x="3223450" y="31699"/>
                </a:lnTo>
                <a:lnTo>
                  <a:pt x="3216948" y="26365"/>
                </a:lnTo>
                <a:lnTo>
                  <a:pt x="3210369" y="21983"/>
                </a:lnTo>
                <a:lnTo>
                  <a:pt x="3209950" y="21653"/>
                </a:lnTo>
                <a:lnTo>
                  <a:pt x="3209493" y="21386"/>
                </a:lnTo>
                <a:lnTo>
                  <a:pt x="3202914" y="16979"/>
                </a:lnTo>
                <a:lnTo>
                  <a:pt x="3195497" y="13030"/>
                </a:lnTo>
                <a:lnTo>
                  <a:pt x="3187801" y="9855"/>
                </a:lnTo>
                <a:lnTo>
                  <a:pt x="3187585" y="9753"/>
                </a:lnTo>
                <a:lnTo>
                  <a:pt x="3179902" y="6565"/>
                </a:lnTo>
                <a:lnTo>
                  <a:pt x="3171863" y="4127"/>
                </a:lnTo>
                <a:lnTo>
                  <a:pt x="3164065" y="2578"/>
                </a:lnTo>
                <a:lnTo>
                  <a:pt x="3163582" y="2451"/>
                </a:lnTo>
                <a:lnTo>
                  <a:pt x="3163087" y="2387"/>
                </a:lnTo>
                <a:lnTo>
                  <a:pt x="3155302" y="825"/>
                </a:lnTo>
                <a:lnTo>
                  <a:pt x="3146933" y="0"/>
                </a:lnTo>
                <a:lnTo>
                  <a:pt x="3138487" y="0"/>
                </a:lnTo>
                <a:lnTo>
                  <a:pt x="128587" y="0"/>
                </a:lnTo>
                <a:lnTo>
                  <a:pt x="120154" y="0"/>
                </a:lnTo>
                <a:lnTo>
                  <a:pt x="111785" y="825"/>
                </a:lnTo>
                <a:lnTo>
                  <a:pt x="103987" y="2387"/>
                </a:lnTo>
                <a:lnTo>
                  <a:pt x="103505" y="2451"/>
                </a:lnTo>
                <a:lnTo>
                  <a:pt x="103009" y="2578"/>
                </a:lnTo>
                <a:lnTo>
                  <a:pt x="95224" y="4127"/>
                </a:lnTo>
                <a:lnTo>
                  <a:pt x="87185" y="6565"/>
                </a:lnTo>
                <a:lnTo>
                  <a:pt x="79489" y="9753"/>
                </a:lnTo>
                <a:lnTo>
                  <a:pt x="79273" y="9855"/>
                </a:lnTo>
                <a:lnTo>
                  <a:pt x="71589" y="13030"/>
                </a:lnTo>
                <a:lnTo>
                  <a:pt x="64173" y="16979"/>
                </a:lnTo>
                <a:lnTo>
                  <a:pt x="57581" y="21386"/>
                </a:lnTo>
                <a:lnTo>
                  <a:pt x="57137" y="21653"/>
                </a:lnTo>
                <a:lnTo>
                  <a:pt x="56705" y="21983"/>
                </a:lnTo>
                <a:lnTo>
                  <a:pt x="50139" y="26365"/>
                </a:lnTo>
                <a:lnTo>
                  <a:pt x="43637" y="31699"/>
                </a:lnTo>
                <a:lnTo>
                  <a:pt x="37668" y="37668"/>
                </a:lnTo>
                <a:lnTo>
                  <a:pt x="31699" y="43637"/>
                </a:lnTo>
                <a:lnTo>
                  <a:pt x="26365" y="50126"/>
                </a:lnTo>
                <a:lnTo>
                  <a:pt x="21920" y="56781"/>
                </a:lnTo>
                <a:lnTo>
                  <a:pt x="21653" y="57137"/>
                </a:lnTo>
                <a:lnTo>
                  <a:pt x="21412" y="57543"/>
                </a:lnTo>
                <a:lnTo>
                  <a:pt x="16979" y="64173"/>
                </a:lnTo>
                <a:lnTo>
                  <a:pt x="13030" y="71589"/>
                </a:lnTo>
                <a:lnTo>
                  <a:pt x="9842" y="79286"/>
                </a:lnTo>
                <a:lnTo>
                  <a:pt x="9740" y="79502"/>
                </a:lnTo>
                <a:lnTo>
                  <a:pt x="6565" y="87185"/>
                </a:lnTo>
                <a:lnTo>
                  <a:pt x="4127" y="95224"/>
                </a:lnTo>
                <a:lnTo>
                  <a:pt x="2565" y="103022"/>
                </a:lnTo>
                <a:lnTo>
                  <a:pt x="2451" y="103505"/>
                </a:lnTo>
                <a:lnTo>
                  <a:pt x="2374" y="104000"/>
                </a:lnTo>
                <a:lnTo>
                  <a:pt x="825" y="111785"/>
                </a:lnTo>
                <a:lnTo>
                  <a:pt x="0" y="120154"/>
                </a:lnTo>
                <a:lnTo>
                  <a:pt x="0" y="128587"/>
                </a:lnTo>
                <a:lnTo>
                  <a:pt x="0" y="1033462"/>
                </a:lnTo>
                <a:lnTo>
                  <a:pt x="0" y="1041908"/>
                </a:lnTo>
                <a:lnTo>
                  <a:pt x="825" y="1050277"/>
                </a:lnTo>
                <a:lnTo>
                  <a:pt x="2374" y="1058075"/>
                </a:lnTo>
                <a:lnTo>
                  <a:pt x="2451" y="1058557"/>
                </a:lnTo>
                <a:lnTo>
                  <a:pt x="2565" y="1059053"/>
                </a:lnTo>
                <a:lnTo>
                  <a:pt x="4127" y="1066838"/>
                </a:lnTo>
                <a:lnTo>
                  <a:pt x="6565" y="1074877"/>
                </a:lnTo>
                <a:lnTo>
                  <a:pt x="9740" y="1082573"/>
                </a:lnTo>
                <a:lnTo>
                  <a:pt x="9842" y="1082789"/>
                </a:lnTo>
                <a:lnTo>
                  <a:pt x="13030" y="1090472"/>
                </a:lnTo>
                <a:lnTo>
                  <a:pt x="16979" y="1097889"/>
                </a:lnTo>
                <a:lnTo>
                  <a:pt x="21374" y="1104480"/>
                </a:lnTo>
                <a:lnTo>
                  <a:pt x="21653" y="1104925"/>
                </a:lnTo>
                <a:lnTo>
                  <a:pt x="21971" y="1105357"/>
                </a:lnTo>
                <a:lnTo>
                  <a:pt x="26365" y="1111923"/>
                </a:lnTo>
                <a:lnTo>
                  <a:pt x="31699" y="1118425"/>
                </a:lnTo>
                <a:lnTo>
                  <a:pt x="37668" y="1124394"/>
                </a:lnTo>
                <a:lnTo>
                  <a:pt x="43637" y="1130363"/>
                </a:lnTo>
                <a:lnTo>
                  <a:pt x="50139" y="1135697"/>
                </a:lnTo>
                <a:lnTo>
                  <a:pt x="56629" y="1140040"/>
                </a:lnTo>
                <a:lnTo>
                  <a:pt x="57137" y="1140409"/>
                </a:lnTo>
                <a:lnTo>
                  <a:pt x="57670" y="1140739"/>
                </a:lnTo>
                <a:lnTo>
                  <a:pt x="64173" y="1145070"/>
                </a:lnTo>
                <a:lnTo>
                  <a:pt x="71589" y="1149032"/>
                </a:lnTo>
                <a:lnTo>
                  <a:pt x="79273" y="1152220"/>
                </a:lnTo>
                <a:lnTo>
                  <a:pt x="79489" y="1152321"/>
                </a:lnTo>
                <a:lnTo>
                  <a:pt x="87185" y="1155496"/>
                </a:lnTo>
                <a:lnTo>
                  <a:pt x="95224" y="1157935"/>
                </a:lnTo>
                <a:lnTo>
                  <a:pt x="103009" y="1159497"/>
                </a:lnTo>
                <a:lnTo>
                  <a:pt x="103505" y="1159611"/>
                </a:lnTo>
                <a:lnTo>
                  <a:pt x="103987" y="1159687"/>
                </a:lnTo>
                <a:lnTo>
                  <a:pt x="111785" y="1161237"/>
                </a:lnTo>
                <a:lnTo>
                  <a:pt x="120154" y="1162050"/>
                </a:lnTo>
                <a:lnTo>
                  <a:pt x="128587" y="1162050"/>
                </a:lnTo>
                <a:lnTo>
                  <a:pt x="3138487" y="1162050"/>
                </a:lnTo>
                <a:lnTo>
                  <a:pt x="3146933" y="1162050"/>
                </a:lnTo>
                <a:lnTo>
                  <a:pt x="3155302" y="1161237"/>
                </a:lnTo>
                <a:lnTo>
                  <a:pt x="3163087" y="1159687"/>
                </a:lnTo>
                <a:lnTo>
                  <a:pt x="3163582" y="1159611"/>
                </a:lnTo>
                <a:lnTo>
                  <a:pt x="3164065" y="1159497"/>
                </a:lnTo>
                <a:lnTo>
                  <a:pt x="3187801" y="1152220"/>
                </a:lnTo>
                <a:lnTo>
                  <a:pt x="3195497" y="1149032"/>
                </a:lnTo>
                <a:lnTo>
                  <a:pt x="3202914" y="1145070"/>
                </a:lnTo>
                <a:lnTo>
                  <a:pt x="3209404" y="1140739"/>
                </a:lnTo>
                <a:lnTo>
                  <a:pt x="3209950" y="1140409"/>
                </a:lnTo>
                <a:lnTo>
                  <a:pt x="3210445" y="1140040"/>
                </a:lnTo>
                <a:lnTo>
                  <a:pt x="3216948" y="1135697"/>
                </a:lnTo>
                <a:lnTo>
                  <a:pt x="3223450" y="1130363"/>
                </a:lnTo>
                <a:lnTo>
                  <a:pt x="3229419" y="1124394"/>
                </a:lnTo>
                <a:lnTo>
                  <a:pt x="3235388" y="1118425"/>
                </a:lnTo>
                <a:lnTo>
                  <a:pt x="3240722" y="1111923"/>
                </a:lnTo>
                <a:lnTo>
                  <a:pt x="3245053" y="1105433"/>
                </a:lnTo>
                <a:lnTo>
                  <a:pt x="3245434" y="1104925"/>
                </a:lnTo>
                <a:lnTo>
                  <a:pt x="3245751" y="1104392"/>
                </a:lnTo>
                <a:lnTo>
                  <a:pt x="3250095" y="1097889"/>
                </a:lnTo>
                <a:lnTo>
                  <a:pt x="3254057" y="1090472"/>
                </a:lnTo>
                <a:lnTo>
                  <a:pt x="3257232" y="1082789"/>
                </a:lnTo>
                <a:lnTo>
                  <a:pt x="3257334" y="1082573"/>
                </a:lnTo>
                <a:lnTo>
                  <a:pt x="3260521" y="1074877"/>
                </a:lnTo>
                <a:lnTo>
                  <a:pt x="3262960" y="1066838"/>
                </a:lnTo>
                <a:lnTo>
                  <a:pt x="3264509" y="1059053"/>
                </a:lnTo>
                <a:lnTo>
                  <a:pt x="3264636" y="1058557"/>
                </a:lnTo>
                <a:lnTo>
                  <a:pt x="3264700" y="1058075"/>
                </a:lnTo>
                <a:lnTo>
                  <a:pt x="3266262" y="1050277"/>
                </a:lnTo>
                <a:lnTo>
                  <a:pt x="3267075" y="1041908"/>
                </a:lnTo>
                <a:lnTo>
                  <a:pt x="3267075" y="1033462"/>
                </a:lnTo>
                <a:lnTo>
                  <a:pt x="3267075" y="128587"/>
                </a:lnTo>
                <a:lnTo>
                  <a:pt x="3267075" y="120154"/>
                </a:lnTo>
                <a:close/>
              </a:path>
            </a:pathLst>
          </a:custGeom>
          <a:solidFill>
            <a:srgbClr val="D8EC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274591" y="4290950"/>
            <a:ext cx="1804035" cy="88074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140"/>
              </a:spcBef>
            </a:pPr>
            <a:r>
              <a:rPr sz="1350" dirty="0">
                <a:solidFill>
                  <a:srgbClr val="D63A49"/>
                </a:solidFill>
                <a:latin typeface="Trebuchet MS"/>
                <a:cs typeface="Trebuchet MS"/>
              </a:rPr>
              <a:t>Insert</a:t>
            </a:r>
            <a:r>
              <a:rPr sz="1350" spc="45" dirty="0">
                <a:solidFill>
                  <a:srgbClr val="D63A49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A4A4A"/>
                </a:solidFill>
                <a:latin typeface="Lucida Sans Unicode"/>
                <a:cs typeface="Lucida Sans Unicode"/>
              </a:rPr>
              <a:t>→</a:t>
            </a:r>
            <a:r>
              <a:rPr sz="1500" spc="-125" dirty="0">
                <a:solidFill>
                  <a:srgbClr val="4A4A4A"/>
                </a:solidFill>
                <a:latin typeface="Lucida Sans Unicode"/>
                <a:cs typeface="Lucida Sans Unicode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rebuchet MS"/>
                <a:cs typeface="Trebuchet MS"/>
              </a:rPr>
              <a:t>PivotTable </a:t>
            </a:r>
            <a:r>
              <a:rPr sz="1350" dirty="0">
                <a:solidFill>
                  <a:srgbClr val="D63A49"/>
                </a:solidFill>
                <a:latin typeface="Trebuchet MS"/>
                <a:cs typeface="Trebuchet MS"/>
              </a:rPr>
              <a:t>Rows</a:t>
            </a:r>
            <a:r>
              <a:rPr sz="1350" dirty="0">
                <a:solidFill>
                  <a:srgbClr val="4A4A4A"/>
                </a:solidFill>
                <a:latin typeface="Trebuchet MS"/>
                <a:cs typeface="Trebuchet MS"/>
              </a:rPr>
              <a:t>:</a:t>
            </a:r>
            <a:r>
              <a:rPr sz="1350" spc="2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Trebuchet MS"/>
                <a:cs typeface="Trebuchet MS"/>
              </a:rPr>
              <a:t>Category</a:t>
            </a:r>
            <a:r>
              <a:rPr sz="1350" spc="500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dirty="0">
                <a:solidFill>
                  <a:srgbClr val="D63A49"/>
                </a:solidFill>
                <a:latin typeface="Trebuchet MS"/>
                <a:cs typeface="Trebuchet MS"/>
              </a:rPr>
              <a:t>Values</a:t>
            </a:r>
            <a:r>
              <a:rPr sz="1350" dirty="0">
                <a:solidFill>
                  <a:srgbClr val="4A4A4A"/>
                </a:solidFill>
                <a:latin typeface="Trebuchet MS"/>
                <a:cs typeface="Trebuchet MS"/>
              </a:rPr>
              <a:t>:</a:t>
            </a:r>
            <a:r>
              <a:rPr sz="1350" spc="-15" dirty="0">
                <a:solidFill>
                  <a:srgbClr val="4A4A4A"/>
                </a:solidFill>
                <a:latin typeface="Trebuchet MS"/>
                <a:cs typeface="Trebuchet MS"/>
              </a:rPr>
              <a:t> </a:t>
            </a:r>
            <a:r>
              <a:rPr sz="1350" spc="-10" dirty="0">
                <a:solidFill>
                  <a:srgbClr val="E36109"/>
                </a:solidFill>
                <a:latin typeface="Trebuchet MS"/>
                <a:cs typeface="Trebuchet MS"/>
              </a:rPr>
              <a:t>SUM</a:t>
            </a:r>
            <a:r>
              <a:rPr sz="1350" spc="-10" dirty="0">
                <a:solidFill>
                  <a:srgbClr val="4A4A4A"/>
                </a:solidFill>
                <a:latin typeface="Trebuchet MS"/>
                <a:cs typeface="Trebuchet MS"/>
              </a:rPr>
              <a:t>(Revenue)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57323" y="2249829"/>
            <a:ext cx="354330" cy="358140"/>
            <a:chOff x="7557323" y="2249829"/>
            <a:chExt cx="354330" cy="35814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3929" y="2249829"/>
              <a:ext cx="267167" cy="35809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64919" y="2259460"/>
              <a:ext cx="217170" cy="247650"/>
            </a:xfrm>
            <a:custGeom>
              <a:avLst/>
              <a:gdLst/>
              <a:ahLst/>
              <a:cxnLst/>
              <a:rect l="l" t="t" r="r" b="b"/>
              <a:pathLst>
                <a:path w="217170" h="247650">
                  <a:moveTo>
                    <a:pt x="103770" y="0"/>
                  </a:moveTo>
                  <a:lnTo>
                    <a:pt x="64639" y="14583"/>
                  </a:lnTo>
                  <a:lnTo>
                    <a:pt x="58559" y="18066"/>
                  </a:lnTo>
                  <a:lnTo>
                    <a:pt x="32271" y="40969"/>
                  </a:lnTo>
                  <a:lnTo>
                    <a:pt x="27633" y="46222"/>
                  </a:lnTo>
                  <a:lnTo>
                    <a:pt x="10101" y="76358"/>
                  </a:lnTo>
                  <a:lnTo>
                    <a:pt x="7398" y="82823"/>
                  </a:lnTo>
                  <a:lnTo>
                    <a:pt x="5239" y="89464"/>
                  </a:lnTo>
                  <a:lnTo>
                    <a:pt x="3625" y="96283"/>
                  </a:lnTo>
                  <a:lnTo>
                    <a:pt x="2011" y="103101"/>
                  </a:lnTo>
                  <a:lnTo>
                    <a:pt x="963" y="110006"/>
                  </a:lnTo>
                  <a:lnTo>
                    <a:pt x="481" y="116996"/>
                  </a:lnTo>
                  <a:lnTo>
                    <a:pt x="0" y="123986"/>
                  </a:lnTo>
                  <a:lnTo>
                    <a:pt x="6224" y="165343"/>
                  </a:lnTo>
                  <a:lnTo>
                    <a:pt x="25410" y="202505"/>
                  </a:lnTo>
                  <a:lnTo>
                    <a:pt x="55523" y="231529"/>
                  </a:lnTo>
                  <a:lnTo>
                    <a:pt x="80112" y="244783"/>
                  </a:lnTo>
                  <a:lnTo>
                    <a:pt x="86739" y="247059"/>
                  </a:lnTo>
                </a:path>
                <a:path w="217170" h="247650">
                  <a:moveTo>
                    <a:pt x="184761" y="243202"/>
                  </a:moveTo>
                  <a:lnTo>
                    <a:pt x="193502" y="238649"/>
                  </a:lnTo>
                  <a:lnTo>
                    <a:pt x="201814" y="233464"/>
                  </a:lnTo>
                  <a:lnTo>
                    <a:pt x="209697" y="227647"/>
                  </a:lnTo>
                  <a:lnTo>
                    <a:pt x="217150" y="221198"/>
                  </a:lnTo>
                </a:path>
              </a:pathLst>
            </a:custGeom>
            <a:ln w="15190">
              <a:solidFill>
                <a:srgbClr val="006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550150" y="2662634"/>
            <a:ext cx="3119755" cy="103251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sz="1650" b="1" spc="-50" dirty="0">
                <a:solidFill>
                  <a:srgbClr val="4A4A4A"/>
                </a:solidFill>
                <a:latin typeface="Verdana"/>
                <a:cs typeface="Verdana"/>
              </a:rPr>
              <a:t>VLOOKUP</a:t>
            </a:r>
            <a:r>
              <a:rPr sz="1650" b="1" spc="-12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470" dirty="0">
                <a:solidFill>
                  <a:srgbClr val="4A4A4A"/>
                </a:solidFill>
                <a:latin typeface="Verdana"/>
                <a:cs typeface="Verdana"/>
              </a:rPr>
              <a:t>/</a:t>
            </a:r>
            <a:r>
              <a:rPr sz="1650" b="1" spc="-12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A4A4A"/>
                </a:solidFill>
                <a:latin typeface="Verdana"/>
                <a:cs typeface="Verdana"/>
              </a:rPr>
              <a:t>XLOOKUP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385"/>
              </a:spcBef>
            </a:pPr>
            <a:r>
              <a:rPr sz="1350" spc="-75" dirty="0">
                <a:solidFill>
                  <a:srgbClr val="4A4A4A"/>
                </a:solidFill>
                <a:latin typeface="Verdana"/>
                <a:cs typeface="Verdana"/>
              </a:rPr>
              <a:t>Validate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A4A4A"/>
                </a:solidFill>
                <a:latin typeface="Verdana"/>
                <a:cs typeface="Verdana"/>
              </a:rPr>
              <a:t>product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4A4A4A"/>
                </a:solidFill>
                <a:latin typeface="Verdana"/>
                <a:cs typeface="Verdana"/>
              </a:rPr>
              <a:t>IDs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4A4A4A"/>
                </a:solidFill>
                <a:latin typeface="Verdana"/>
                <a:cs typeface="Verdana"/>
              </a:rPr>
              <a:t>fetch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A4A4A"/>
                </a:solidFill>
                <a:latin typeface="Verdana"/>
                <a:cs typeface="Verdana"/>
              </a:rPr>
              <a:t>category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or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4A4A4A"/>
                </a:solidFill>
                <a:latin typeface="Verdana"/>
                <a:cs typeface="Verdana"/>
              </a:rPr>
              <a:t>cost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A4A4A"/>
                </a:solidFill>
                <a:latin typeface="Verdana"/>
                <a:cs typeface="Verdana"/>
              </a:rPr>
              <a:t>data</a:t>
            </a:r>
            <a:r>
              <a:rPr sz="1350" spc="-100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A4A4A"/>
                </a:solidFill>
                <a:latin typeface="Verdana"/>
                <a:cs typeface="Verdana"/>
              </a:rPr>
              <a:t>from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A4A4A"/>
                </a:solidFill>
                <a:latin typeface="Verdana"/>
                <a:cs typeface="Verdana"/>
              </a:rPr>
              <a:t>reference</a:t>
            </a:r>
            <a:r>
              <a:rPr sz="1350" spc="-105" dirty="0">
                <a:solidFill>
                  <a:srgbClr val="4A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A4A4A"/>
                </a:solidFill>
                <a:latin typeface="Verdana"/>
                <a:cs typeface="Verdana"/>
              </a:rPr>
              <a:t>tables.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62837" y="3924300"/>
            <a:ext cx="3267075" cy="895350"/>
          </a:xfrm>
          <a:custGeom>
            <a:avLst/>
            <a:gdLst/>
            <a:ahLst/>
            <a:cxnLst/>
            <a:rect l="l" t="t" r="r" b="b"/>
            <a:pathLst>
              <a:path w="3267075" h="895350">
                <a:moveTo>
                  <a:pt x="3267075" y="120154"/>
                </a:moveTo>
                <a:lnTo>
                  <a:pt x="3266262" y="111785"/>
                </a:lnTo>
                <a:lnTo>
                  <a:pt x="3264700" y="104000"/>
                </a:lnTo>
                <a:lnTo>
                  <a:pt x="3264636" y="103505"/>
                </a:lnTo>
                <a:lnTo>
                  <a:pt x="3264509" y="103022"/>
                </a:lnTo>
                <a:lnTo>
                  <a:pt x="3262960" y="95224"/>
                </a:lnTo>
                <a:lnTo>
                  <a:pt x="3260521" y="87185"/>
                </a:lnTo>
                <a:lnTo>
                  <a:pt x="3257334" y="79502"/>
                </a:lnTo>
                <a:lnTo>
                  <a:pt x="3257232" y="79286"/>
                </a:lnTo>
                <a:lnTo>
                  <a:pt x="3254057" y="71589"/>
                </a:lnTo>
                <a:lnTo>
                  <a:pt x="3250095" y="64173"/>
                </a:lnTo>
                <a:lnTo>
                  <a:pt x="3245637" y="57505"/>
                </a:lnTo>
                <a:lnTo>
                  <a:pt x="3245421" y="57137"/>
                </a:lnTo>
                <a:lnTo>
                  <a:pt x="3245154" y="56794"/>
                </a:lnTo>
                <a:lnTo>
                  <a:pt x="3240722" y="50139"/>
                </a:lnTo>
                <a:lnTo>
                  <a:pt x="3235388" y="43637"/>
                </a:lnTo>
                <a:lnTo>
                  <a:pt x="3229419" y="37668"/>
                </a:lnTo>
                <a:lnTo>
                  <a:pt x="3223450" y="31699"/>
                </a:lnTo>
                <a:lnTo>
                  <a:pt x="3216948" y="26365"/>
                </a:lnTo>
                <a:lnTo>
                  <a:pt x="3210369" y="21971"/>
                </a:lnTo>
                <a:lnTo>
                  <a:pt x="3209950" y="21653"/>
                </a:lnTo>
                <a:lnTo>
                  <a:pt x="3209493" y="21386"/>
                </a:lnTo>
                <a:lnTo>
                  <a:pt x="3202914" y="16979"/>
                </a:lnTo>
                <a:lnTo>
                  <a:pt x="3195497" y="13030"/>
                </a:lnTo>
                <a:lnTo>
                  <a:pt x="3187801" y="9855"/>
                </a:lnTo>
                <a:lnTo>
                  <a:pt x="3187585" y="9753"/>
                </a:lnTo>
                <a:lnTo>
                  <a:pt x="3179902" y="6565"/>
                </a:lnTo>
                <a:lnTo>
                  <a:pt x="3171863" y="4127"/>
                </a:lnTo>
                <a:lnTo>
                  <a:pt x="3164065" y="2578"/>
                </a:lnTo>
                <a:lnTo>
                  <a:pt x="3163582" y="2451"/>
                </a:lnTo>
                <a:lnTo>
                  <a:pt x="3163087" y="2387"/>
                </a:lnTo>
                <a:lnTo>
                  <a:pt x="3155302" y="825"/>
                </a:lnTo>
                <a:lnTo>
                  <a:pt x="3146933" y="0"/>
                </a:lnTo>
                <a:lnTo>
                  <a:pt x="3138487" y="0"/>
                </a:lnTo>
                <a:lnTo>
                  <a:pt x="128587" y="0"/>
                </a:lnTo>
                <a:lnTo>
                  <a:pt x="120154" y="0"/>
                </a:lnTo>
                <a:lnTo>
                  <a:pt x="111785" y="825"/>
                </a:lnTo>
                <a:lnTo>
                  <a:pt x="103987" y="2387"/>
                </a:lnTo>
                <a:lnTo>
                  <a:pt x="103505" y="2451"/>
                </a:lnTo>
                <a:lnTo>
                  <a:pt x="103009" y="2578"/>
                </a:lnTo>
                <a:lnTo>
                  <a:pt x="95224" y="4127"/>
                </a:lnTo>
                <a:lnTo>
                  <a:pt x="87185" y="6565"/>
                </a:lnTo>
                <a:lnTo>
                  <a:pt x="79451" y="9779"/>
                </a:lnTo>
                <a:lnTo>
                  <a:pt x="79311" y="9829"/>
                </a:lnTo>
                <a:lnTo>
                  <a:pt x="71577" y="13030"/>
                </a:lnTo>
                <a:lnTo>
                  <a:pt x="64173" y="16979"/>
                </a:lnTo>
                <a:lnTo>
                  <a:pt x="57531" y="21424"/>
                </a:lnTo>
                <a:lnTo>
                  <a:pt x="57137" y="21653"/>
                </a:lnTo>
                <a:lnTo>
                  <a:pt x="56769" y="21932"/>
                </a:lnTo>
                <a:lnTo>
                  <a:pt x="50126" y="26365"/>
                </a:lnTo>
                <a:lnTo>
                  <a:pt x="43637" y="31699"/>
                </a:lnTo>
                <a:lnTo>
                  <a:pt x="37668" y="37668"/>
                </a:lnTo>
                <a:lnTo>
                  <a:pt x="31699" y="43637"/>
                </a:lnTo>
                <a:lnTo>
                  <a:pt x="26365" y="50139"/>
                </a:lnTo>
                <a:lnTo>
                  <a:pt x="21971" y="56718"/>
                </a:lnTo>
                <a:lnTo>
                  <a:pt x="21653" y="57137"/>
                </a:lnTo>
                <a:lnTo>
                  <a:pt x="21374" y="57594"/>
                </a:lnTo>
                <a:lnTo>
                  <a:pt x="16979" y="64173"/>
                </a:lnTo>
                <a:lnTo>
                  <a:pt x="13017" y="71589"/>
                </a:lnTo>
                <a:lnTo>
                  <a:pt x="9791" y="79387"/>
                </a:lnTo>
                <a:lnTo>
                  <a:pt x="6565" y="87185"/>
                </a:lnTo>
                <a:lnTo>
                  <a:pt x="4127" y="95224"/>
                </a:lnTo>
                <a:lnTo>
                  <a:pt x="2565" y="103022"/>
                </a:lnTo>
                <a:lnTo>
                  <a:pt x="2451" y="103505"/>
                </a:lnTo>
                <a:lnTo>
                  <a:pt x="2374" y="104000"/>
                </a:lnTo>
                <a:lnTo>
                  <a:pt x="825" y="111785"/>
                </a:lnTo>
                <a:lnTo>
                  <a:pt x="0" y="120154"/>
                </a:lnTo>
                <a:lnTo>
                  <a:pt x="0" y="128587"/>
                </a:lnTo>
                <a:lnTo>
                  <a:pt x="0" y="766762"/>
                </a:lnTo>
                <a:lnTo>
                  <a:pt x="0" y="775208"/>
                </a:lnTo>
                <a:lnTo>
                  <a:pt x="825" y="783577"/>
                </a:lnTo>
                <a:lnTo>
                  <a:pt x="2374" y="791375"/>
                </a:lnTo>
                <a:lnTo>
                  <a:pt x="2451" y="791857"/>
                </a:lnTo>
                <a:lnTo>
                  <a:pt x="2565" y="792353"/>
                </a:lnTo>
                <a:lnTo>
                  <a:pt x="4127" y="800138"/>
                </a:lnTo>
                <a:lnTo>
                  <a:pt x="6565" y="808177"/>
                </a:lnTo>
                <a:lnTo>
                  <a:pt x="9791" y="815975"/>
                </a:lnTo>
                <a:lnTo>
                  <a:pt x="13017" y="823772"/>
                </a:lnTo>
                <a:lnTo>
                  <a:pt x="16979" y="831189"/>
                </a:lnTo>
                <a:lnTo>
                  <a:pt x="21374" y="837780"/>
                </a:lnTo>
                <a:lnTo>
                  <a:pt x="21653" y="838225"/>
                </a:lnTo>
                <a:lnTo>
                  <a:pt x="21971" y="838657"/>
                </a:lnTo>
                <a:lnTo>
                  <a:pt x="26365" y="845223"/>
                </a:lnTo>
                <a:lnTo>
                  <a:pt x="31699" y="851725"/>
                </a:lnTo>
                <a:lnTo>
                  <a:pt x="37668" y="857694"/>
                </a:lnTo>
                <a:lnTo>
                  <a:pt x="43637" y="863663"/>
                </a:lnTo>
                <a:lnTo>
                  <a:pt x="50126" y="868997"/>
                </a:lnTo>
                <a:lnTo>
                  <a:pt x="56680" y="873379"/>
                </a:lnTo>
                <a:lnTo>
                  <a:pt x="57137" y="873709"/>
                </a:lnTo>
                <a:lnTo>
                  <a:pt x="57619" y="874001"/>
                </a:lnTo>
                <a:lnTo>
                  <a:pt x="64173" y="878370"/>
                </a:lnTo>
                <a:lnTo>
                  <a:pt x="71577" y="882332"/>
                </a:lnTo>
                <a:lnTo>
                  <a:pt x="79324" y="885545"/>
                </a:lnTo>
                <a:lnTo>
                  <a:pt x="79451" y="885596"/>
                </a:lnTo>
                <a:lnTo>
                  <a:pt x="87185" y="888796"/>
                </a:lnTo>
                <a:lnTo>
                  <a:pt x="95224" y="891235"/>
                </a:lnTo>
                <a:lnTo>
                  <a:pt x="103009" y="892797"/>
                </a:lnTo>
                <a:lnTo>
                  <a:pt x="103505" y="892911"/>
                </a:lnTo>
                <a:lnTo>
                  <a:pt x="103987" y="892987"/>
                </a:lnTo>
                <a:lnTo>
                  <a:pt x="111785" y="894537"/>
                </a:lnTo>
                <a:lnTo>
                  <a:pt x="120154" y="895350"/>
                </a:lnTo>
                <a:lnTo>
                  <a:pt x="128587" y="895350"/>
                </a:lnTo>
                <a:lnTo>
                  <a:pt x="3138487" y="895350"/>
                </a:lnTo>
                <a:lnTo>
                  <a:pt x="3146933" y="895350"/>
                </a:lnTo>
                <a:lnTo>
                  <a:pt x="3155302" y="894537"/>
                </a:lnTo>
                <a:lnTo>
                  <a:pt x="3163087" y="892987"/>
                </a:lnTo>
                <a:lnTo>
                  <a:pt x="3163582" y="892911"/>
                </a:lnTo>
                <a:lnTo>
                  <a:pt x="3164065" y="892797"/>
                </a:lnTo>
                <a:lnTo>
                  <a:pt x="3187801" y="885520"/>
                </a:lnTo>
                <a:lnTo>
                  <a:pt x="3195497" y="882332"/>
                </a:lnTo>
                <a:lnTo>
                  <a:pt x="3202914" y="878370"/>
                </a:lnTo>
                <a:lnTo>
                  <a:pt x="3209404" y="874039"/>
                </a:lnTo>
                <a:lnTo>
                  <a:pt x="3209950" y="873709"/>
                </a:lnTo>
                <a:lnTo>
                  <a:pt x="3210445" y="873340"/>
                </a:lnTo>
                <a:lnTo>
                  <a:pt x="3216948" y="868997"/>
                </a:lnTo>
                <a:lnTo>
                  <a:pt x="3223450" y="863663"/>
                </a:lnTo>
                <a:lnTo>
                  <a:pt x="3229419" y="857694"/>
                </a:lnTo>
                <a:lnTo>
                  <a:pt x="3235388" y="851725"/>
                </a:lnTo>
                <a:lnTo>
                  <a:pt x="3240722" y="845223"/>
                </a:lnTo>
                <a:lnTo>
                  <a:pt x="3245154" y="838581"/>
                </a:lnTo>
                <a:lnTo>
                  <a:pt x="3245421" y="838225"/>
                </a:lnTo>
                <a:lnTo>
                  <a:pt x="3245637" y="837869"/>
                </a:lnTo>
                <a:lnTo>
                  <a:pt x="3250095" y="831189"/>
                </a:lnTo>
                <a:lnTo>
                  <a:pt x="3254057" y="823772"/>
                </a:lnTo>
                <a:lnTo>
                  <a:pt x="3257232" y="816089"/>
                </a:lnTo>
                <a:lnTo>
                  <a:pt x="3257334" y="815873"/>
                </a:lnTo>
                <a:lnTo>
                  <a:pt x="3260521" y="808177"/>
                </a:lnTo>
                <a:lnTo>
                  <a:pt x="3262960" y="800138"/>
                </a:lnTo>
                <a:lnTo>
                  <a:pt x="3264509" y="792353"/>
                </a:lnTo>
                <a:lnTo>
                  <a:pt x="3264636" y="791857"/>
                </a:lnTo>
                <a:lnTo>
                  <a:pt x="3264700" y="791375"/>
                </a:lnTo>
                <a:lnTo>
                  <a:pt x="3266262" y="783577"/>
                </a:lnTo>
                <a:lnTo>
                  <a:pt x="3267075" y="775208"/>
                </a:lnTo>
                <a:lnTo>
                  <a:pt x="3267075" y="766762"/>
                </a:lnTo>
                <a:lnTo>
                  <a:pt x="3267075" y="128587"/>
                </a:lnTo>
                <a:lnTo>
                  <a:pt x="3267075" y="120154"/>
                </a:lnTo>
                <a:close/>
              </a:path>
            </a:pathLst>
          </a:custGeom>
          <a:solidFill>
            <a:srgbClr val="D8EC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755979" y="4041139"/>
            <a:ext cx="915035" cy="5778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350" spc="60" dirty="0">
                <a:solidFill>
                  <a:srgbClr val="4A4A4A"/>
                </a:solidFill>
                <a:latin typeface="Trebuchet MS"/>
                <a:cs typeface="Trebuchet MS"/>
              </a:rPr>
              <a:t>=XLOOKUP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60" dirty="0">
                <a:solidFill>
                  <a:srgbClr val="4A4A4A"/>
                </a:solidFill>
                <a:latin typeface="Trebuchet MS"/>
                <a:cs typeface="Trebuchet MS"/>
              </a:rPr>
              <a:t>=VLOOKUP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4837" y="1119187"/>
            <a:ext cx="1019175" cy="323850"/>
          </a:xfrm>
          <a:custGeom>
            <a:avLst/>
            <a:gdLst/>
            <a:ahLst/>
            <a:cxnLst/>
            <a:rect l="l" t="t" r="r" b="b"/>
            <a:pathLst>
              <a:path w="1019175" h="323850">
                <a:moveTo>
                  <a:pt x="0" y="225742"/>
                </a:moveTo>
                <a:lnTo>
                  <a:pt x="0" y="98107"/>
                </a:lnTo>
                <a:lnTo>
                  <a:pt x="0" y="91668"/>
                </a:lnTo>
                <a:lnTo>
                  <a:pt x="629" y="85280"/>
                </a:lnTo>
                <a:lnTo>
                  <a:pt x="1884" y="78968"/>
                </a:lnTo>
                <a:lnTo>
                  <a:pt x="3140" y="72644"/>
                </a:lnTo>
                <a:lnTo>
                  <a:pt x="5001" y="66509"/>
                </a:lnTo>
                <a:lnTo>
                  <a:pt x="7466" y="60566"/>
                </a:lnTo>
                <a:lnTo>
                  <a:pt x="9931" y="54610"/>
                </a:lnTo>
                <a:lnTo>
                  <a:pt x="12952" y="48958"/>
                </a:lnTo>
                <a:lnTo>
                  <a:pt x="16535" y="43599"/>
                </a:lnTo>
                <a:lnTo>
                  <a:pt x="20111" y="38239"/>
                </a:lnTo>
                <a:lnTo>
                  <a:pt x="24179" y="33286"/>
                </a:lnTo>
                <a:lnTo>
                  <a:pt x="28733" y="28740"/>
                </a:lnTo>
                <a:lnTo>
                  <a:pt x="33287" y="24180"/>
                </a:lnTo>
                <a:lnTo>
                  <a:pt x="38243" y="20116"/>
                </a:lnTo>
                <a:lnTo>
                  <a:pt x="43601" y="16535"/>
                </a:lnTo>
                <a:lnTo>
                  <a:pt x="48959" y="12954"/>
                </a:lnTo>
                <a:lnTo>
                  <a:pt x="54610" y="9931"/>
                </a:lnTo>
                <a:lnTo>
                  <a:pt x="60563" y="7467"/>
                </a:lnTo>
                <a:lnTo>
                  <a:pt x="66516" y="5003"/>
                </a:lnTo>
                <a:lnTo>
                  <a:pt x="72647" y="3136"/>
                </a:lnTo>
                <a:lnTo>
                  <a:pt x="78968" y="1892"/>
                </a:lnTo>
                <a:lnTo>
                  <a:pt x="85283" y="622"/>
                </a:lnTo>
                <a:lnTo>
                  <a:pt x="91663" y="0"/>
                </a:lnTo>
                <a:lnTo>
                  <a:pt x="98107" y="0"/>
                </a:lnTo>
                <a:lnTo>
                  <a:pt x="921067" y="0"/>
                </a:lnTo>
                <a:lnTo>
                  <a:pt x="927506" y="0"/>
                </a:lnTo>
                <a:lnTo>
                  <a:pt x="933894" y="622"/>
                </a:lnTo>
                <a:lnTo>
                  <a:pt x="940206" y="1892"/>
                </a:lnTo>
                <a:lnTo>
                  <a:pt x="946531" y="3136"/>
                </a:lnTo>
                <a:lnTo>
                  <a:pt x="952665" y="5003"/>
                </a:lnTo>
                <a:lnTo>
                  <a:pt x="958608" y="7467"/>
                </a:lnTo>
                <a:lnTo>
                  <a:pt x="964565" y="9931"/>
                </a:lnTo>
                <a:lnTo>
                  <a:pt x="990447" y="28740"/>
                </a:lnTo>
                <a:lnTo>
                  <a:pt x="994994" y="33286"/>
                </a:lnTo>
                <a:lnTo>
                  <a:pt x="1011707" y="60566"/>
                </a:lnTo>
                <a:lnTo>
                  <a:pt x="1014171" y="66509"/>
                </a:lnTo>
                <a:lnTo>
                  <a:pt x="1016038" y="72644"/>
                </a:lnTo>
                <a:lnTo>
                  <a:pt x="1017295" y="78968"/>
                </a:lnTo>
                <a:lnTo>
                  <a:pt x="1018540" y="85280"/>
                </a:lnTo>
                <a:lnTo>
                  <a:pt x="1019175" y="91668"/>
                </a:lnTo>
                <a:lnTo>
                  <a:pt x="1019175" y="98107"/>
                </a:lnTo>
                <a:lnTo>
                  <a:pt x="1019175" y="225742"/>
                </a:lnTo>
                <a:lnTo>
                  <a:pt x="1019175" y="232181"/>
                </a:lnTo>
                <a:lnTo>
                  <a:pt x="1018540" y="238556"/>
                </a:lnTo>
                <a:lnTo>
                  <a:pt x="1017295" y="244881"/>
                </a:lnTo>
                <a:lnTo>
                  <a:pt x="1016038" y="251193"/>
                </a:lnTo>
                <a:lnTo>
                  <a:pt x="1014171" y="257340"/>
                </a:lnTo>
                <a:lnTo>
                  <a:pt x="1011707" y="263283"/>
                </a:lnTo>
                <a:lnTo>
                  <a:pt x="1009243" y="269240"/>
                </a:lnTo>
                <a:lnTo>
                  <a:pt x="985888" y="299669"/>
                </a:lnTo>
                <a:lnTo>
                  <a:pt x="958608" y="316382"/>
                </a:lnTo>
                <a:lnTo>
                  <a:pt x="952665" y="318846"/>
                </a:lnTo>
                <a:lnTo>
                  <a:pt x="946531" y="320700"/>
                </a:lnTo>
                <a:lnTo>
                  <a:pt x="940206" y="321970"/>
                </a:lnTo>
                <a:lnTo>
                  <a:pt x="933894" y="323215"/>
                </a:lnTo>
                <a:lnTo>
                  <a:pt x="927506" y="323850"/>
                </a:lnTo>
                <a:lnTo>
                  <a:pt x="921067" y="323850"/>
                </a:lnTo>
                <a:lnTo>
                  <a:pt x="98107" y="323850"/>
                </a:lnTo>
                <a:lnTo>
                  <a:pt x="91663" y="323850"/>
                </a:lnTo>
                <a:lnTo>
                  <a:pt x="85283" y="323215"/>
                </a:lnTo>
                <a:lnTo>
                  <a:pt x="78968" y="321970"/>
                </a:lnTo>
                <a:lnTo>
                  <a:pt x="72647" y="320700"/>
                </a:lnTo>
                <a:lnTo>
                  <a:pt x="66516" y="318846"/>
                </a:lnTo>
                <a:lnTo>
                  <a:pt x="60563" y="316382"/>
                </a:lnTo>
                <a:lnTo>
                  <a:pt x="54610" y="313918"/>
                </a:lnTo>
                <a:lnTo>
                  <a:pt x="28733" y="295109"/>
                </a:lnTo>
                <a:lnTo>
                  <a:pt x="24179" y="290563"/>
                </a:lnTo>
                <a:lnTo>
                  <a:pt x="7466" y="263283"/>
                </a:lnTo>
                <a:lnTo>
                  <a:pt x="5001" y="257340"/>
                </a:lnTo>
                <a:lnTo>
                  <a:pt x="3140" y="251193"/>
                </a:lnTo>
                <a:lnTo>
                  <a:pt x="1884" y="244881"/>
                </a:lnTo>
                <a:lnTo>
                  <a:pt x="629" y="238556"/>
                </a:lnTo>
                <a:lnTo>
                  <a:pt x="0" y="232181"/>
                </a:lnTo>
                <a:lnTo>
                  <a:pt x="0" y="225742"/>
                </a:lnTo>
                <a:close/>
              </a:path>
            </a:pathLst>
          </a:custGeom>
          <a:ln w="9525">
            <a:solidFill>
              <a:srgbClr val="006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9740" y="1174114"/>
            <a:ext cx="829944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20" dirty="0">
                <a:solidFill>
                  <a:srgbClr val="006646"/>
                </a:solidFill>
                <a:latin typeface="Verdana"/>
                <a:cs typeface="Verdana"/>
              </a:rPr>
              <a:t>BR-</a:t>
            </a:r>
            <a:r>
              <a:rPr sz="1050" dirty="0">
                <a:solidFill>
                  <a:srgbClr val="006646"/>
                </a:solidFill>
                <a:latin typeface="Verdana"/>
                <a:cs typeface="Verdana"/>
              </a:rPr>
              <a:t>5</a:t>
            </a:r>
            <a:r>
              <a:rPr sz="1050" spc="-70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050" spc="-105" dirty="0">
                <a:solidFill>
                  <a:srgbClr val="006646"/>
                </a:solidFill>
                <a:latin typeface="Verdana"/>
                <a:cs typeface="Verdana"/>
              </a:rPr>
              <a:t>&amp;</a:t>
            </a:r>
            <a:r>
              <a:rPr sz="1050" spc="-65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006646"/>
                </a:solidFill>
                <a:latin typeface="Verdana"/>
                <a:cs typeface="Verdana"/>
              </a:rPr>
              <a:t>BR-</a:t>
            </a:r>
            <a:r>
              <a:rPr sz="1050" spc="-50" dirty="0">
                <a:solidFill>
                  <a:srgbClr val="006646"/>
                </a:solidFill>
                <a:latin typeface="Verdana"/>
                <a:cs typeface="Verdana"/>
              </a:rPr>
              <a:t>6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5" y="1530350"/>
            <a:ext cx="1004824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85" dirty="0"/>
              <a:t>Total</a:t>
            </a:r>
            <a:r>
              <a:rPr spc="-270" dirty="0"/>
              <a:t> </a:t>
            </a:r>
            <a:r>
              <a:rPr spc="-245" dirty="0"/>
              <a:t>Sales</a:t>
            </a:r>
            <a:r>
              <a:rPr spc="-265" dirty="0"/>
              <a:t> </a:t>
            </a:r>
            <a:r>
              <a:rPr spc="-200" dirty="0"/>
              <a:t>Summary</a:t>
            </a:r>
            <a:r>
              <a:rPr spc="-265" dirty="0"/>
              <a:t> </a:t>
            </a:r>
            <a:r>
              <a:rPr spc="-210" dirty="0"/>
              <a:t>&amp;</a:t>
            </a:r>
            <a:r>
              <a:rPr spc="-265" dirty="0"/>
              <a:t> </a:t>
            </a:r>
            <a:r>
              <a:rPr spc="-210" dirty="0"/>
              <a:t>Category</a:t>
            </a:r>
            <a:r>
              <a:rPr spc="-260" dirty="0"/>
              <a:t> </a:t>
            </a:r>
            <a:r>
              <a:rPr spc="-125" dirty="0"/>
              <a:t>Performance</a:t>
            </a:r>
          </a:p>
        </p:txBody>
      </p:sp>
      <p:sp>
        <p:nvSpPr>
          <p:cNvPr id="6" name="object 6"/>
          <p:cNvSpPr/>
          <p:nvPr/>
        </p:nvSpPr>
        <p:spPr>
          <a:xfrm>
            <a:off x="933450" y="2666999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4767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88" y="228600"/>
                </a:lnTo>
                <a:lnTo>
                  <a:pt x="476707" y="228600"/>
                </a:lnTo>
                <a:lnTo>
                  <a:pt x="495300" y="210007"/>
                </a:lnTo>
                <a:lnTo>
                  <a:pt x="495300" y="18592"/>
                </a:lnTo>
                <a:lnTo>
                  <a:pt x="479450" y="546"/>
                </a:lnTo>
                <a:lnTo>
                  <a:pt x="476707" y="0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05275" y="4010025"/>
            <a:ext cx="1190625" cy="228600"/>
          </a:xfrm>
          <a:custGeom>
            <a:avLst/>
            <a:gdLst/>
            <a:ahLst/>
            <a:cxnLst/>
            <a:rect l="l" t="t" r="r" b="b"/>
            <a:pathLst>
              <a:path w="1190625" h="228600">
                <a:moveTo>
                  <a:pt x="11720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75"/>
                </a:lnTo>
                <a:lnTo>
                  <a:pt x="0" y="210007"/>
                </a:lnTo>
                <a:lnTo>
                  <a:pt x="18592" y="228600"/>
                </a:lnTo>
                <a:lnTo>
                  <a:pt x="1172032" y="228600"/>
                </a:lnTo>
                <a:lnTo>
                  <a:pt x="1190625" y="210007"/>
                </a:lnTo>
                <a:lnTo>
                  <a:pt x="1190625" y="18592"/>
                </a:lnTo>
                <a:lnTo>
                  <a:pt x="1174775" y="546"/>
                </a:lnTo>
                <a:lnTo>
                  <a:pt x="1172032" y="0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00075" y="4467225"/>
            <a:ext cx="10229850" cy="666750"/>
            <a:chOff x="600075" y="4467225"/>
            <a:chExt cx="10229850" cy="666750"/>
          </a:xfrm>
        </p:grpSpPr>
        <p:sp>
          <p:nvSpPr>
            <p:cNvPr id="9" name="object 9"/>
            <p:cNvSpPr/>
            <p:nvPr/>
          </p:nvSpPr>
          <p:spPr>
            <a:xfrm>
              <a:off x="600075" y="4467225"/>
              <a:ext cx="10229850" cy="666750"/>
            </a:xfrm>
            <a:custGeom>
              <a:avLst/>
              <a:gdLst/>
              <a:ahLst/>
              <a:cxnLst/>
              <a:rect l="l" t="t" r="r" b="b"/>
              <a:pathLst>
                <a:path w="10229850" h="666750">
                  <a:moveTo>
                    <a:pt x="10109708" y="0"/>
                  </a:moveTo>
                  <a:lnTo>
                    <a:pt x="120144" y="0"/>
                  </a:lnTo>
                  <a:lnTo>
                    <a:pt x="111780" y="825"/>
                  </a:lnTo>
                  <a:lnTo>
                    <a:pt x="71575" y="13017"/>
                  </a:lnTo>
                  <a:lnTo>
                    <a:pt x="31690" y="43637"/>
                  </a:lnTo>
                  <a:lnTo>
                    <a:pt x="6558" y="87185"/>
                  </a:lnTo>
                  <a:lnTo>
                    <a:pt x="0" y="120142"/>
                  </a:lnTo>
                  <a:lnTo>
                    <a:pt x="0" y="538162"/>
                  </a:lnTo>
                  <a:lnTo>
                    <a:pt x="0" y="546608"/>
                  </a:lnTo>
                  <a:lnTo>
                    <a:pt x="13017" y="595172"/>
                  </a:lnTo>
                  <a:lnTo>
                    <a:pt x="43630" y="635050"/>
                  </a:lnTo>
                  <a:lnTo>
                    <a:pt x="87179" y="660196"/>
                  </a:lnTo>
                  <a:lnTo>
                    <a:pt x="120144" y="666750"/>
                  </a:lnTo>
                  <a:lnTo>
                    <a:pt x="10109708" y="666750"/>
                  </a:lnTo>
                  <a:lnTo>
                    <a:pt x="10158272" y="653732"/>
                  </a:lnTo>
                  <a:lnTo>
                    <a:pt x="10198163" y="623112"/>
                  </a:lnTo>
                  <a:lnTo>
                    <a:pt x="10223296" y="579564"/>
                  </a:lnTo>
                  <a:lnTo>
                    <a:pt x="10229850" y="546608"/>
                  </a:lnTo>
                  <a:lnTo>
                    <a:pt x="10229850" y="120142"/>
                  </a:lnTo>
                  <a:lnTo>
                    <a:pt x="10216832" y="71577"/>
                  </a:lnTo>
                  <a:lnTo>
                    <a:pt x="10186212" y="31686"/>
                  </a:lnTo>
                  <a:lnTo>
                    <a:pt x="10142677" y="6553"/>
                  </a:lnTo>
                  <a:lnTo>
                    <a:pt x="10118064" y="825"/>
                  </a:lnTo>
                  <a:lnTo>
                    <a:pt x="10109708" y="0"/>
                  </a:lnTo>
                  <a:close/>
                </a:path>
              </a:pathLst>
            </a:custGeom>
            <a:solidFill>
              <a:srgbClr val="B5FC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956" y="4705349"/>
              <a:ext cx="171450" cy="17145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87375" y="2125662"/>
            <a:ext cx="9961245" cy="2779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10" dirty="0">
                <a:solidFill>
                  <a:srgbClr val="006646"/>
                </a:solidFill>
                <a:latin typeface="Verdana"/>
                <a:cs typeface="Verdana"/>
              </a:rPr>
              <a:t>BR-</a:t>
            </a:r>
            <a:r>
              <a:rPr sz="1650" b="1" spc="-165" dirty="0">
                <a:solidFill>
                  <a:srgbClr val="006646"/>
                </a:solidFill>
                <a:latin typeface="Verdana"/>
                <a:cs typeface="Verdana"/>
              </a:rPr>
              <a:t>5:</a:t>
            </a:r>
            <a:r>
              <a:rPr sz="1650" b="1" spc="-110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80" dirty="0">
                <a:solidFill>
                  <a:srgbClr val="006646"/>
                </a:solidFill>
                <a:latin typeface="Verdana"/>
                <a:cs typeface="Verdana"/>
              </a:rPr>
              <a:t>Total</a:t>
            </a:r>
            <a:r>
              <a:rPr sz="1650" b="1" spc="-105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114" dirty="0">
                <a:solidFill>
                  <a:srgbClr val="006646"/>
                </a:solidFill>
                <a:latin typeface="Verdana"/>
                <a:cs typeface="Verdana"/>
              </a:rPr>
              <a:t>Sales</a:t>
            </a:r>
            <a:r>
              <a:rPr sz="1650" b="1" spc="-105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006646"/>
                </a:solidFill>
                <a:latin typeface="Verdana"/>
                <a:cs typeface="Verdana"/>
              </a:rPr>
              <a:t>Summary</a:t>
            </a:r>
            <a:endParaRPr sz="1650">
              <a:latin typeface="Verdana"/>
              <a:cs typeface="Verdana"/>
            </a:endParaRPr>
          </a:p>
          <a:p>
            <a:pPr marL="12700" marR="500380">
              <a:lnSpc>
                <a:spcPct val="134300"/>
              </a:lnSpc>
              <a:spcBef>
                <a:spcPts val="1664"/>
              </a:spcBef>
            </a:pP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Use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4B4A4A"/>
                </a:solidFill>
                <a:latin typeface="Trebuchet MS"/>
                <a:cs typeface="Trebuchet MS"/>
              </a:rPr>
              <a:t>SUM()</a:t>
            </a:r>
            <a:r>
              <a:rPr sz="1350" spc="-20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across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order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rows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compute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grand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totals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Revenue,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Profit,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Quantity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Sold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35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the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headline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figures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for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management.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b="1" spc="-110" dirty="0">
                <a:solidFill>
                  <a:srgbClr val="006646"/>
                </a:solidFill>
                <a:latin typeface="Verdana"/>
                <a:cs typeface="Verdana"/>
              </a:rPr>
              <a:t>BR-</a:t>
            </a:r>
            <a:r>
              <a:rPr sz="1650" b="1" spc="-165" dirty="0">
                <a:solidFill>
                  <a:srgbClr val="006646"/>
                </a:solidFill>
                <a:latin typeface="Verdana"/>
                <a:cs typeface="Verdana"/>
              </a:rPr>
              <a:t>6:</a:t>
            </a:r>
            <a:r>
              <a:rPr sz="1650" b="1" spc="-105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80" dirty="0">
                <a:solidFill>
                  <a:srgbClr val="006646"/>
                </a:solidFill>
                <a:latin typeface="Verdana"/>
                <a:cs typeface="Verdana"/>
              </a:rPr>
              <a:t>Top</a:t>
            </a:r>
            <a:r>
              <a:rPr sz="1650" b="1" spc="-100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65" dirty="0">
                <a:solidFill>
                  <a:srgbClr val="006646"/>
                </a:solidFill>
                <a:latin typeface="Verdana"/>
                <a:cs typeface="Verdana"/>
              </a:rPr>
              <a:t>Performing</a:t>
            </a:r>
            <a:r>
              <a:rPr sz="1650" b="1" spc="-100" dirty="0">
                <a:solidFill>
                  <a:srgbClr val="006646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006646"/>
                </a:solidFill>
                <a:latin typeface="Verdana"/>
                <a:cs typeface="Verdana"/>
              </a:rPr>
              <a:t>Categories</a:t>
            </a:r>
            <a:endParaRPr sz="16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Use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b="1" dirty="0">
                <a:solidFill>
                  <a:srgbClr val="4B4A4A"/>
                </a:solidFill>
                <a:latin typeface="Trebuchet MS"/>
                <a:cs typeface="Trebuchet MS"/>
              </a:rPr>
              <a:t>Pivot</a:t>
            </a:r>
            <a:r>
              <a:rPr sz="1350" b="1" spc="-30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b="1" dirty="0">
                <a:solidFill>
                  <a:srgbClr val="4B4A4A"/>
                </a:solidFill>
                <a:latin typeface="Trebuchet MS"/>
                <a:cs typeface="Trebuchet MS"/>
              </a:rPr>
              <a:t>Table</a:t>
            </a:r>
            <a:r>
              <a:rPr sz="1350" b="1" spc="5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grouped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by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Category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with </a:t>
            </a:r>
            <a:r>
              <a:rPr sz="1350" dirty="0">
                <a:solidFill>
                  <a:srgbClr val="4B4A4A"/>
                </a:solidFill>
                <a:latin typeface="Trebuchet MS"/>
                <a:cs typeface="Trebuchet MS"/>
              </a:rPr>
              <a:t>SUM(Revenue)</a:t>
            </a:r>
            <a:r>
              <a:rPr sz="1350" spc="5" dirty="0">
                <a:solidFill>
                  <a:srgbClr val="4B4A4A"/>
                </a:solidFill>
                <a:latin typeface="Trebuchet MS"/>
                <a:cs typeface="Trebuchet MS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rank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categories.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Grocery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Electronics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typically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lead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at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DMart.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350">
              <a:latin typeface="Verdana"/>
              <a:cs typeface="Verdana"/>
            </a:endParaRPr>
          </a:p>
          <a:p>
            <a:pPr marL="569595">
              <a:lnSpc>
                <a:spcPct val="100000"/>
              </a:lnSpc>
              <a:spcBef>
                <a:spcPts val="5"/>
              </a:spcBef>
            </a:pPr>
            <a:r>
              <a:rPr sz="1350" spc="-75" dirty="0">
                <a:latin typeface="Verdana"/>
                <a:cs typeface="Verdana"/>
              </a:rPr>
              <a:t>Sort</a:t>
            </a:r>
            <a:r>
              <a:rPr sz="1350" spc="-100" dirty="0">
                <a:latin typeface="Verdana"/>
                <a:cs typeface="Verdana"/>
              </a:rPr>
              <a:t> </a:t>
            </a:r>
            <a:r>
              <a:rPr sz="1350" spc="-60" dirty="0">
                <a:latin typeface="Verdana"/>
                <a:cs typeface="Verdana"/>
              </a:rPr>
              <a:t>Pivot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90" dirty="0">
                <a:latin typeface="Verdana"/>
                <a:cs typeface="Verdana"/>
              </a:rPr>
              <a:t>Table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85" dirty="0">
                <a:latin typeface="Verdana"/>
                <a:cs typeface="Verdana"/>
              </a:rPr>
              <a:t>by</a:t>
            </a:r>
            <a:r>
              <a:rPr sz="1350" spc="-100" dirty="0">
                <a:latin typeface="Verdana"/>
                <a:cs typeface="Verdana"/>
              </a:rPr>
              <a:t> </a:t>
            </a:r>
            <a:r>
              <a:rPr sz="1350" spc="-85" dirty="0">
                <a:latin typeface="Verdana"/>
                <a:cs typeface="Verdana"/>
              </a:rPr>
              <a:t>Revenue</a:t>
            </a:r>
            <a:r>
              <a:rPr sz="1350" spc="-95" dirty="0">
                <a:latin typeface="Verdana"/>
                <a:cs typeface="Verdana"/>
              </a:rPr>
              <a:t> (Descending) </a:t>
            </a:r>
            <a:r>
              <a:rPr sz="1350" spc="-55" dirty="0">
                <a:latin typeface="Verdana"/>
                <a:cs typeface="Verdana"/>
              </a:rPr>
              <a:t>to</a:t>
            </a:r>
            <a:r>
              <a:rPr sz="1350" spc="-100" dirty="0">
                <a:latin typeface="Verdana"/>
                <a:cs typeface="Verdana"/>
              </a:rPr>
              <a:t> </a:t>
            </a:r>
            <a:r>
              <a:rPr sz="1350" spc="-70" dirty="0">
                <a:latin typeface="Verdana"/>
                <a:cs typeface="Verdana"/>
              </a:rPr>
              <a:t>instantly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55" dirty="0">
                <a:latin typeface="Verdana"/>
                <a:cs typeface="Verdana"/>
              </a:rPr>
              <a:t>surface</a:t>
            </a:r>
            <a:r>
              <a:rPr sz="1350" spc="-95" dirty="0">
                <a:latin typeface="Verdana"/>
                <a:cs typeface="Verdana"/>
              </a:rPr>
              <a:t> </a:t>
            </a:r>
            <a:r>
              <a:rPr sz="1350" spc="-60" dirty="0">
                <a:latin typeface="Verdana"/>
                <a:cs typeface="Verdana"/>
              </a:rPr>
              <a:t>top</a:t>
            </a:r>
            <a:r>
              <a:rPr sz="1350" spc="-100" dirty="0">
                <a:latin typeface="Verdana"/>
                <a:cs typeface="Verdana"/>
              </a:rPr>
              <a:t> </a:t>
            </a:r>
            <a:r>
              <a:rPr sz="1350" spc="-10" dirty="0">
                <a:latin typeface="Verdana"/>
                <a:cs typeface="Verdana"/>
              </a:rPr>
              <a:t>performers.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1051560"/>
          </a:xfrm>
          <a:prstGeom prst="rect">
            <a:avLst/>
          </a:prstGeom>
          <a:solidFill>
            <a:srgbClr val="1A4731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164592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645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4731"/>
                </a:solidFill>
              </a:rPr>
              <a:t>BR-7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70432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KPI Summary for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6217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F3D0"/>
                </a:solidFill>
              </a:rPr>
              <a:t>Consolidate all calculated metrics into a single KPI Summary Sheet — the foundation for future Power BI or Excel dashboard sprints.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283464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89888"/>
            <a:ext cx="566928" cy="566928"/>
          </a:xfrm>
          <a:prstGeom prst="ellipse">
            <a:avLst/>
          </a:prstGeom>
          <a:solidFill>
            <a:srgbClr val="1A473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89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1288" y="14081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" y="2048256"/>
            <a:ext cx="2487168" cy="475488"/>
          </a:xfrm>
          <a:prstGeom prst="roundRect">
            <a:avLst>
              <a:gd name="adj" fmla="val 11538"/>
            </a:avLst>
          </a:prstGeom>
          <a:solidFill>
            <a:srgbClr val="E8FFF4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04825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₹39.26M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" y="256032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</a:rPr>
              <a:t>Gross sales across all regions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27832" y="1207008"/>
            <a:ext cx="283464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10712" y="1389888"/>
            <a:ext cx="566928" cy="56692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6" name="Text 14"/>
          <p:cNvSpPr/>
          <p:nvPr/>
        </p:nvSpPr>
        <p:spPr>
          <a:xfrm>
            <a:off x="3410712" y="1389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69080" y="14081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92424" y="2048256"/>
            <a:ext cx="2487168" cy="475488"/>
          </a:xfrm>
          <a:prstGeom prst="roundRect">
            <a:avLst>
              <a:gd name="adj" fmla="val 11538"/>
            </a:avLst>
          </a:prstGeom>
          <a:solidFill>
            <a:srgbClr val="F0FDF8"/>
          </a:solidFill>
          <a:ln/>
        </p:spPr>
      </p:sp>
      <p:sp>
        <p:nvSpPr>
          <p:cNvPr id="19" name="Text 17"/>
          <p:cNvSpPr/>
          <p:nvPr/>
        </p:nvSpPr>
        <p:spPr>
          <a:xfrm>
            <a:off x="3392424" y="204825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9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₹6.87M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92424" y="256032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</a:rPr>
              <a:t>Net profit after all deductions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35624" y="1207008"/>
            <a:ext cx="283464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18504" y="1389888"/>
            <a:ext cx="566928" cy="566928"/>
          </a:xfrm>
          <a:prstGeom prst="ellipse">
            <a:avLst/>
          </a:prstGeom>
          <a:solidFill>
            <a:srgbClr val="0A6E61"/>
          </a:solidFill>
          <a:ln/>
        </p:spPr>
      </p:sp>
      <p:sp>
        <p:nvSpPr>
          <p:cNvPr id="23" name="Text 21"/>
          <p:cNvSpPr/>
          <p:nvPr/>
        </p:nvSpPr>
        <p:spPr>
          <a:xfrm>
            <a:off x="6318504" y="1389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76872" y="14081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Margin 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0216" y="2048256"/>
            <a:ext cx="2487168" cy="475488"/>
          </a:xfrm>
          <a:prstGeom prst="roundRect">
            <a:avLst>
              <a:gd name="adj" fmla="val 11538"/>
            </a:avLst>
          </a:prstGeom>
          <a:solidFill>
            <a:srgbClr val="F0FDF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204825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17.51%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00216" y="2560320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B5563"/>
                </a:solidFill>
              </a:rPr>
              <a:t>Average profit margin per order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907792"/>
            <a:ext cx="42976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136392"/>
            <a:ext cx="658368" cy="658368"/>
          </a:xfrm>
          <a:prstGeom prst="ellipse">
            <a:avLst/>
          </a:prstGeom>
          <a:solidFill>
            <a:srgbClr val="122F2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136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🛒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1208" y="3895344"/>
            <a:ext cx="3886200" cy="566928"/>
          </a:xfrm>
          <a:prstGeom prst="roundRect">
            <a:avLst>
              <a:gd name="adj" fmla="val 9677"/>
            </a:avLst>
          </a:prstGeom>
          <a:solidFill>
            <a:srgbClr val="EAF7F0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" y="389534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47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15,345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21208" y="4489704"/>
            <a:ext cx="3886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Total transactions processed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2907792"/>
            <a:ext cx="429768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0" y="3136392"/>
            <a:ext cx="658368" cy="658368"/>
          </a:xfrm>
          <a:prstGeom prst="ellipse">
            <a:avLst/>
          </a:prstGeom>
          <a:solidFill>
            <a:srgbClr val="7A5B0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1363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📦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806440" y="3154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Sold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001768" y="3895344"/>
            <a:ext cx="3886200" cy="566928"/>
          </a:xfrm>
          <a:prstGeom prst="roundRect">
            <a:avLst>
              <a:gd name="adj" fmla="val 9677"/>
            </a:avLst>
          </a:prstGeom>
          <a:solidFill>
            <a:srgbClr val="FFFBEB"/>
          </a:solidFill>
          <a:ln/>
        </p:spPr>
      </p:sp>
      <p:sp>
        <p:nvSpPr>
          <p:cNvPr id="40" name="Text 38"/>
          <p:cNvSpPr/>
          <p:nvPr/>
        </p:nvSpPr>
        <p:spPr>
          <a:xfrm>
            <a:off x="5001768" y="389534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76,831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5001768" y="4489704"/>
            <a:ext cx="3886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5563"/>
                </a:solidFill>
              </a:rPr>
              <a:t>Total units sold across categories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07450"/>
          </a:xfrm>
          <a:custGeom>
            <a:avLst/>
            <a:gdLst/>
            <a:ahLst/>
            <a:cxnLst/>
            <a:rect l="l" t="t" r="r" b="b"/>
            <a:pathLst>
              <a:path w="11430000" h="6753225">
                <a:moveTo>
                  <a:pt x="11430000" y="0"/>
                </a:moveTo>
                <a:lnTo>
                  <a:pt x="0" y="0"/>
                </a:lnTo>
                <a:lnTo>
                  <a:pt x="0" y="6753225"/>
                </a:lnTo>
                <a:lnTo>
                  <a:pt x="11430000" y="67532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4837" y="481012"/>
            <a:ext cx="1447800" cy="323850"/>
          </a:xfrm>
          <a:custGeom>
            <a:avLst/>
            <a:gdLst/>
            <a:ahLst/>
            <a:cxnLst/>
            <a:rect l="l" t="t" r="r" b="b"/>
            <a:pathLst>
              <a:path w="1447800" h="323850">
                <a:moveTo>
                  <a:pt x="0" y="225742"/>
                </a:moveTo>
                <a:lnTo>
                  <a:pt x="0" y="98107"/>
                </a:lnTo>
                <a:lnTo>
                  <a:pt x="0" y="91668"/>
                </a:lnTo>
                <a:lnTo>
                  <a:pt x="629" y="85280"/>
                </a:lnTo>
                <a:lnTo>
                  <a:pt x="1884" y="78968"/>
                </a:lnTo>
                <a:lnTo>
                  <a:pt x="3140" y="72644"/>
                </a:lnTo>
                <a:lnTo>
                  <a:pt x="5001" y="66509"/>
                </a:lnTo>
                <a:lnTo>
                  <a:pt x="7466" y="60566"/>
                </a:lnTo>
                <a:lnTo>
                  <a:pt x="9931" y="54610"/>
                </a:lnTo>
                <a:lnTo>
                  <a:pt x="12952" y="48958"/>
                </a:lnTo>
                <a:lnTo>
                  <a:pt x="16535" y="43599"/>
                </a:lnTo>
                <a:lnTo>
                  <a:pt x="20111" y="38239"/>
                </a:lnTo>
                <a:lnTo>
                  <a:pt x="24179" y="33286"/>
                </a:lnTo>
                <a:lnTo>
                  <a:pt x="28733" y="28727"/>
                </a:lnTo>
                <a:lnTo>
                  <a:pt x="33287" y="24180"/>
                </a:lnTo>
                <a:lnTo>
                  <a:pt x="38243" y="20116"/>
                </a:lnTo>
                <a:lnTo>
                  <a:pt x="43601" y="16535"/>
                </a:lnTo>
                <a:lnTo>
                  <a:pt x="48959" y="12954"/>
                </a:lnTo>
                <a:lnTo>
                  <a:pt x="54610" y="9931"/>
                </a:lnTo>
                <a:lnTo>
                  <a:pt x="60563" y="7467"/>
                </a:lnTo>
                <a:lnTo>
                  <a:pt x="66516" y="5003"/>
                </a:lnTo>
                <a:lnTo>
                  <a:pt x="72647" y="3136"/>
                </a:lnTo>
                <a:lnTo>
                  <a:pt x="78968" y="1879"/>
                </a:lnTo>
                <a:lnTo>
                  <a:pt x="85283" y="635"/>
                </a:lnTo>
                <a:lnTo>
                  <a:pt x="91663" y="0"/>
                </a:lnTo>
                <a:lnTo>
                  <a:pt x="98107" y="0"/>
                </a:lnTo>
                <a:lnTo>
                  <a:pt x="1349692" y="0"/>
                </a:lnTo>
                <a:lnTo>
                  <a:pt x="1356131" y="0"/>
                </a:lnTo>
                <a:lnTo>
                  <a:pt x="1362506" y="635"/>
                </a:lnTo>
                <a:lnTo>
                  <a:pt x="1368831" y="1879"/>
                </a:lnTo>
                <a:lnTo>
                  <a:pt x="1375156" y="3136"/>
                </a:lnTo>
                <a:lnTo>
                  <a:pt x="1381290" y="5003"/>
                </a:lnTo>
                <a:lnTo>
                  <a:pt x="1387233" y="7467"/>
                </a:lnTo>
                <a:lnTo>
                  <a:pt x="1393190" y="9931"/>
                </a:lnTo>
                <a:lnTo>
                  <a:pt x="1398841" y="12954"/>
                </a:lnTo>
                <a:lnTo>
                  <a:pt x="1404200" y="16535"/>
                </a:lnTo>
                <a:lnTo>
                  <a:pt x="1409560" y="20116"/>
                </a:lnTo>
                <a:lnTo>
                  <a:pt x="1434846" y="48958"/>
                </a:lnTo>
                <a:lnTo>
                  <a:pt x="1440332" y="60566"/>
                </a:lnTo>
                <a:lnTo>
                  <a:pt x="1442796" y="66509"/>
                </a:lnTo>
                <a:lnTo>
                  <a:pt x="1444663" y="72644"/>
                </a:lnTo>
                <a:lnTo>
                  <a:pt x="1445920" y="78968"/>
                </a:lnTo>
                <a:lnTo>
                  <a:pt x="1447165" y="85280"/>
                </a:lnTo>
                <a:lnTo>
                  <a:pt x="1447800" y="91668"/>
                </a:lnTo>
                <a:lnTo>
                  <a:pt x="1447800" y="98107"/>
                </a:lnTo>
                <a:lnTo>
                  <a:pt x="1447800" y="225742"/>
                </a:lnTo>
                <a:lnTo>
                  <a:pt x="1447800" y="232181"/>
                </a:lnTo>
                <a:lnTo>
                  <a:pt x="1447165" y="238569"/>
                </a:lnTo>
                <a:lnTo>
                  <a:pt x="1434846" y="274891"/>
                </a:lnTo>
                <a:lnTo>
                  <a:pt x="1419072" y="295109"/>
                </a:lnTo>
                <a:lnTo>
                  <a:pt x="1414513" y="299669"/>
                </a:lnTo>
                <a:lnTo>
                  <a:pt x="1387233" y="316382"/>
                </a:lnTo>
                <a:lnTo>
                  <a:pt x="1381290" y="318846"/>
                </a:lnTo>
                <a:lnTo>
                  <a:pt x="1375156" y="320713"/>
                </a:lnTo>
                <a:lnTo>
                  <a:pt x="1368831" y="321957"/>
                </a:lnTo>
                <a:lnTo>
                  <a:pt x="1362519" y="323215"/>
                </a:lnTo>
                <a:lnTo>
                  <a:pt x="1356131" y="323850"/>
                </a:lnTo>
                <a:lnTo>
                  <a:pt x="1349692" y="323850"/>
                </a:lnTo>
                <a:lnTo>
                  <a:pt x="98107" y="323850"/>
                </a:lnTo>
                <a:lnTo>
                  <a:pt x="91663" y="323850"/>
                </a:lnTo>
                <a:lnTo>
                  <a:pt x="85283" y="323215"/>
                </a:lnTo>
                <a:lnTo>
                  <a:pt x="78968" y="321957"/>
                </a:lnTo>
                <a:lnTo>
                  <a:pt x="72647" y="320713"/>
                </a:lnTo>
                <a:lnTo>
                  <a:pt x="66516" y="318846"/>
                </a:lnTo>
                <a:lnTo>
                  <a:pt x="60563" y="316382"/>
                </a:lnTo>
                <a:lnTo>
                  <a:pt x="54610" y="313918"/>
                </a:lnTo>
                <a:lnTo>
                  <a:pt x="28733" y="295109"/>
                </a:lnTo>
                <a:lnTo>
                  <a:pt x="24179" y="290563"/>
                </a:lnTo>
                <a:lnTo>
                  <a:pt x="20111" y="285610"/>
                </a:lnTo>
                <a:lnTo>
                  <a:pt x="16535" y="280250"/>
                </a:lnTo>
                <a:lnTo>
                  <a:pt x="12952" y="274891"/>
                </a:lnTo>
                <a:lnTo>
                  <a:pt x="1884" y="244881"/>
                </a:lnTo>
                <a:lnTo>
                  <a:pt x="629" y="238569"/>
                </a:lnTo>
                <a:lnTo>
                  <a:pt x="0" y="232181"/>
                </a:lnTo>
                <a:lnTo>
                  <a:pt x="0" y="225742"/>
                </a:lnTo>
                <a:close/>
              </a:path>
            </a:pathLst>
          </a:custGeom>
          <a:ln w="9525">
            <a:solidFill>
              <a:srgbClr val="006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9740" y="535940"/>
            <a:ext cx="126047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60" dirty="0">
                <a:solidFill>
                  <a:srgbClr val="006646"/>
                </a:solidFill>
                <a:latin typeface="Verdana"/>
                <a:cs typeface="Verdana"/>
              </a:rPr>
              <a:t>QUICK </a:t>
            </a:r>
            <a:r>
              <a:rPr sz="1050" spc="-10" dirty="0">
                <a:solidFill>
                  <a:srgbClr val="006646"/>
                </a:solidFill>
                <a:latin typeface="Verdana"/>
                <a:cs typeface="Verdana"/>
              </a:rPr>
              <a:t>REFERENCE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5" dirty="0"/>
              <a:t>Formula</a:t>
            </a:r>
            <a:r>
              <a:rPr spc="-254" dirty="0"/>
              <a:t> </a:t>
            </a:r>
            <a:r>
              <a:rPr spc="-190" dirty="0"/>
              <a:t>Cheat</a:t>
            </a:r>
            <a:r>
              <a:rPr spc="-254" dirty="0"/>
              <a:t> </a:t>
            </a:r>
            <a:r>
              <a:rPr spc="-275" dirty="0"/>
              <a:t>Sheet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7375" y="1682750"/>
            <a:ext cx="50184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Keep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this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reference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handy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while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working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through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Sprint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2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tasks.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4837" y="2147887"/>
            <a:ext cx="10220325" cy="4133850"/>
          </a:xfrm>
          <a:custGeom>
            <a:avLst/>
            <a:gdLst/>
            <a:ahLst/>
            <a:cxnLst/>
            <a:rect l="l" t="t" r="r" b="b"/>
            <a:pathLst>
              <a:path w="10220325" h="4133850">
                <a:moveTo>
                  <a:pt x="0" y="4010023"/>
                </a:moveTo>
                <a:lnTo>
                  <a:pt x="0" y="123825"/>
                </a:lnTo>
                <a:lnTo>
                  <a:pt x="0" y="115697"/>
                </a:lnTo>
                <a:lnTo>
                  <a:pt x="793" y="107645"/>
                </a:lnTo>
                <a:lnTo>
                  <a:pt x="2381" y="99669"/>
                </a:lnTo>
                <a:lnTo>
                  <a:pt x="3963" y="91694"/>
                </a:lnTo>
                <a:lnTo>
                  <a:pt x="6315" y="83947"/>
                </a:lnTo>
                <a:lnTo>
                  <a:pt x="9425" y="76441"/>
                </a:lnTo>
                <a:lnTo>
                  <a:pt x="12536" y="68922"/>
                </a:lnTo>
                <a:lnTo>
                  <a:pt x="16351" y="61798"/>
                </a:lnTo>
                <a:lnTo>
                  <a:pt x="20866" y="55029"/>
                </a:lnTo>
                <a:lnTo>
                  <a:pt x="25384" y="48272"/>
                </a:lnTo>
                <a:lnTo>
                  <a:pt x="30519" y="42011"/>
                </a:lnTo>
                <a:lnTo>
                  <a:pt x="36269" y="36271"/>
                </a:lnTo>
                <a:lnTo>
                  <a:pt x="42014" y="30518"/>
                </a:lnTo>
                <a:lnTo>
                  <a:pt x="76438" y="9423"/>
                </a:lnTo>
                <a:lnTo>
                  <a:pt x="83949" y="6311"/>
                </a:lnTo>
                <a:lnTo>
                  <a:pt x="91692" y="3962"/>
                </a:lnTo>
                <a:lnTo>
                  <a:pt x="99669" y="2374"/>
                </a:lnTo>
                <a:lnTo>
                  <a:pt x="107642" y="787"/>
                </a:lnTo>
                <a:lnTo>
                  <a:pt x="115694" y="0"/>
                </a:lnTo>
                <a:lnTo>
                  <a:pt x="123825" y="0"/>
                </a:lnTo>
                <a:lnTo>
                  <a:pt x="10096500" y="0"/>
                </a:lnTo>
                <a:lnTo>
                  <a:pt x="10104628" y="0"/>
                </a:lnTo>
                <a:lnTo>
                  <a:pt x="10112679" y="787"/>
                </a:lnTo>
                <a:lnTo>
                  <a:pt x="10120655" y="2374"/>
                </a:lnTo>
                <a:lnTo>
                  <a:pt x="10128631" y="3962"/>
                </a:lnTo>
                <a:lnTo>
                  <a:pt x="10136378" y="6311"/>
                </a:lnTo>
                <a:lnTo>
                  <a:pt x="10143883" y="9423"/>
                </a:lnTo>
                <a:lnTo>
                  <a:pt x="10151402" y="12534"/>
                </a:lnTo>
                <a:lnTo>
                  <a:pt x="10184053" y="36271"/>
                </a:lnTo>
                <a:lnTo>
                  <a:pt x="10189807" y="42011"/>
                </a:lnTo>
                <a:lnTo>
                  <a:pt x="10210901" y="76441"/>
                </a:lnTo>
                <a:lnTo>
                  <a:pt x="10214013" y="83947"/>
                </a:lnTo>
                <a:lnTo>
                  <a:pt x="10216362" y="91694"/>
                </a:lnTo>
                <a:lnTo>
                  <a:pt x="10217950" y="99669"/>
                </a:lnTo>
                <a:lnTo>
                  <a:pt x="10219537" y="107645"/>
                </a:lnTo>
                <a:lnTo>
                  <a:pt x="10220325" y="115697"/>
                </a:lnTo>
                <a:lnTo>
                  <a:pt x="10220325" y="123825"/>
                </a:lnTo>
                <a:lnTo>
                  <a:pt x="10220325" y="4010023"/>
                </a:lnTo>
                <a:lnTo>
                  <a:pt x="10220325" y="4018155"/>
                </a:lnTo>
                <a:lnTo>
                  <a:pt x="10219537" y="4026206"/>
                </a:lnTo>
                <a:lnTo>
                  <a:pt x="10217950" y="4034179"/>
                </a:lnTo>
                <a:lnTo>
                  <a:pt x="10216362" y="4042156"/>
                </a:lnTo>
                <a:lnTo>
                  <a:pt x="10199459" y="4078817"/>
                </a:lnTo>
                <a:lnTo>
                  <a:pt x="10172052" y="4108464"/>
                </a:lnTo>
                <a:lnTo>
                  <a:pt x="10143883" y="4124422"/>
                </a:lnTo>
                <a:lnTo>
                  <a:pt x="10136378" y="4127534"/>
                </a:lnTo>
                <a:lnTo>
                  <a:pt x="10128631" y="4129880"/>
                </a:lnTo>
                <a:lnTo>
                  <a:pt x="10120655" y="4131467"/>
                </a:lnTo>
                <a:lnTo>
                  <a:pt x="10112679" y="4133055"/>
                </a:lnTo>
                <a:lnTo>
                  <a:pt x="10104628" y="4133848"/>
                </a:lnTo>
                <a:lnTo>
                  <a:pt x="10096500" y="4133848"/>
                </a:lnTo>
                <a:lnTo>
                  <a:pt x="123825" y="4133848"/>
                </a:lnTo>
                <a:lnTo>
                  <a:pt x="115694" y="4133848"/>
                </a:lnTo>
                <a:lnTo>
                  <a:pt x="107642" y="4133055"/>
                </a:lnTo>
                <a:lnTo>
                  <a:pt x="99669" y="4131467"/>
                </a:lnTo>
                <a:lnTo>
                  <a:pt x="91692" y="4129880"/>
                </a:lnTo>
                <a:lnTo>
                  <a:pt x="83949" y="4127534"/>
                </a:lnTo>
                <a:lnTo>
                  <a:pt x="76438" y="4124422"/>
                </a:lnTo>
                <a:lnTo>
                  <a:pt x="68926" y="4121312"/>
                </a:lnTo>
                <a:lnTo>
                  <a:pt x="61793" y="4117497"/>
                </a:lnTo>
                <a:lnTo>
                  <a:pt x="55031" y="4112978"/>
                </a:lnTo>
                <a:lnTo>
                  <a:pt x="48270" y="4108464"/>
                </a:lnTo>
                <a:lnTo>
                  <a:pt x="42014" y="4103329"/>
                </a:lnTo>
                <a:lnTo>
                  <a:pt x="36269" y="4097580"/>
                </a:lnTo>
                <a:lnTo>
                  <a:pt x="30519" y="4091829"/>
                </a:lnTo>
                <a:lnTo>
                  <a:pt x="9425" y="4057411"/>
                </a:lnTo>
                <a:lnTo>
                  <a:pt x="2381" y="4034179"/>
                </a:lnTo>
                <a:lnTo>
                  <a:pt x="793" y="4026206"/>
                </a:lnTo>
                <a:lnTo>
                  <a:pt x="0" y="4018155"/>
                </a:lnTo>
                <a:lnTo>
                  <a:pt x="0" y="40100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96100" y="2790825"/>
            <a:ext cx="638175" cy="228600"/>
          </a:xfrm>
          <a:custGeom>
            <a:avLst/>
            <a:gdLst/>
            <a:ahLst/>
            <a:cxnLst/>
            <a:rect l="l" t="t" r="r" b="b"/>
            <a:pathLst>
              <a:path w="638175" h="228600">
                <a:moveTo>
                  <a:pt x="6195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62"/>
                </a:lnTo>
                <a:lnTo>
                  <a:pt x="0" y="210007"/>
                </a:lnTo>
                <a:lnTo>
                  <a:pt x="18592" y="228600"/>
                </a:lnTo>
                <a:lnTo>
                  <a:pt x="619582" y="228600"/>
                </a:lnTo>
                <a:lnTo>
                  <a:pt x="638175" y="210007"/>
                </a:lnTo>
                <a:lnTo>
                  <a:pt x="638175" y="18592"/>
                </a:lnTo>
                <a:lnTo>
                  <a:pt x="622325" y="546"/>
                </a:lnTo>
                <a:lnTo>
                  <a:pt x="619582" y="0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96100" y="3305175"/>
            <a:ext cx="552450" cy="228600"/>
          </a:xfrm>
          <a:custGeom>
            <a:avLst/>
            <a:gdLst/>
            <a:ahLst/>
            <a:cxnLst/>
            <a:rect l="l" t="t" r="r" b="b"/>
            <a:pathLst>
              <a:path w="552450" h="228600">
                <a:moveTo>
                  <a:pt x="5338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62"/>
                </a:lnTo>
                <a:lnTo>
                  <a:pt x="0" y="210007"/>
                </a:lnTo>
                <a:lnTo>
                  <a:pt x="18592" y="228600"/>
                </a:lnTo>
                <a:lnTo>
                  <a:pt x="533857" y="228600"/>
                </a:lnTo>
                <a:lnTo>
                  <a:pt x="552450" y="210007"/>
                </a:lnTo>
                <a:lnTo>
                  <a:pt x="552450" y="18592"/>
                </a:lnTo>
                <a:lnTo>
                  <a:pt x="536600" y="546"/>
                </a:lnTo>
                <a:lnTo>
                  <a:pt x="533857" y="0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96100" y="3829050"/>
            <a:ext cx="619125" cy="228600"/>
          </a:xfrm>
          <a:custGeom>
            <a:avLst/>
            <a:gdLst/>
            <a:ahLst/>
            <a:cxnLst/>
            <a:rect l="l" t="t" r="r" b="b"/>
            <a:pathLst>
              <a:path w="619125" h="228600">
                <a:moveTo>
                  <a:pt x="6005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62"/>
                </a:lnTo>
                <a:lnTo>
                  <a:pt x="0" y="210007"/>
                </a:lnTo>
                <a:lnTo>
                  <a:pt x="18592" y="228600"/>
                </a:lnTo>
                <a:lnTo>
                  <a:pt x="600532" y="228600"/>
                </a:lnTo>
                <a:lnTo>
                  <a:pt x="619125" y="210007"/>
                </a:lnTo>
                <a:lnTo>
                  <a:pt x="619125" y="18592"/>
                </a:lnTo>
                <a:lnTo>
                  <a:pt x="603275" y="546"/>
                </a:lnTo>
                <a:lnTo>
                  <a:pt x="600532" y="0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96100" y="4343400"/>
            <a:ext cx="523875" cy="228600"/>
          </a:xfrm>
          <a:custGeom>
            <a:avLst/>
            <a:gdLst/>
            <a:ahLst/>
            <a:cxnLst/>
            <a:rect l="l" t="t" r="r" b="b"/>
            <a:pathLst>
              <a:path w="523875" h="228600">
                <a:moveTo>
                  <a:pt x="5052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62"/>
                </a:lnTo>
                <a:lnTo>
                  <a:pt x="0" y="210007"/>
                </a:lnTo>
                <a:lnTo>
                  <a:pt x="18592" y="228600"/>
                </a:lnTo>
                <a:lnTo>
                  <a:pt x="505282" y="228600"/>
                </a:lnTo>
                <a:lnTo>
                  <a:pt x="523875" y="210007"/>
                </a:lnTo>
                <a:lnTo>
                  <a:pt x="523875" y="18592"/>
                </a:lnTo>
                <a:lnTo>
                  <a:pt x="508025" y="546"/>
                </a:lnTo>
                <a:lnTo>
                  <a:pt x="505282" y="0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96100" y="4867275"/>
            <a:ext cx="1314450" cy="228600"/>
          </a:xfrm>
          <a:custGeom>
            <a:avLst/>
            <a:gdLst/>
            <a:ahLst/>
            <a:cxnLst/>
            <a:rect l="l" t="t" r="r" b="b"/>
            <a:pathLst>
              <a:path w="1314450" h="228600">
                <a:moveTo>
                  <a:pt x="12958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62"/>
                </a:lnTo>
                <a:lnTo>
                  <a:pt x="0" y="210007"/>
                </a:lnTo>
                <a:lnTo>
                  <a:pt x="18592" y="228600"/>
                </a:lnTo>
                <a:lnTo>
                  <a:pt x="1295857" y="228600"/>
                </a:lnTo>
                <a:lnTo>
                  <a:pt x="1314450" y="210007"/>
                </a:lnTo>
                <a:lnTo>
                  <a:pt x="1314450" y="18592"/>
                </a:lnTo>
                <a:lnTo>
                  <a:pt x="1298600" y="546"/>
                </a:lnTo>
                <a:lnTo>
                  <a:pt x="1295857" y="0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96100" y="5381625"/>
            <a:ext cx="2085975" cy="228600"/>
          </a:xfrm>
          <a:custGeom>
            <a:avLst/>
            <a:gdLst/>
            <a:ahLst/>
            <a:cxnLst/>
            <a:rect l="l" t="t" r="r" b="b"/>
            <a:pathLst>
              <a:path w="2085975" h="228600">
                <a:moveTo>
                  <a:pt x="20673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07167"/>
                </a:lnTo>
                <a:lnTo>
                  <a:pt x="0" y="210009"/>
                </a:lnTo>
                <a:lnTo>
                  <a:pt x="18592" y="228598"/>
                </a:lnTo>
                <a:lnTo>
                  <a:pt x="2067382" y="228598"/>
                </a:lnTo>
                <a:lnTo>
                  <a:pt x="2085975" y="210009"/>
                </a:lnTo>
                <a:lnTo>
                  <a:pt x="2085975" y="18592"/>
                </a:lnTo>
                <a:lnTo>
                  <a:pt x="2070125" y="546"/>
                </a:lnTo>
                <a:lnTo>
                  <a:pt x="2067382" y="0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96100" y="5895973"/>
            <a:ext cx="2676525" cy="228600"/>
          </a:xfrm>
          <a:custGeom>
            <a:avLst/>
            <a:gdLst/>
            <a:ahLst/>
            <a:cxnLst/>
            <a:rect l="l" t="t" r="r" b="b"/>
            <a:pathLst>
              <a:path w="2676525" h="228600">
                <a:moveTo>
                  <a:pt x="2657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88"/>
                </a:lnTo>
                <a:lnTo>
                  <a:pt x="0" y="207168"/>
                </a:lnTo>
                <a:lnTo>
                  <a:pt x="0" y="210011"/>
                </a:lnTo>
                <a:lnTo>
                  <a:pt x="18592" y="228600"/>
                </a:lnTo>
                <a:lnTo>
                  <a:pt x="2657932" y="228600"/>
                </a:lnTo>
                <a:lnTo>
                  <a:pt x="2676525" y="210011"/>
                </a:lnTo>
                <a:lnTo>
                  <a:pt x="2676525" y="18588"/>
                </a:lnTo>
                <a:lnTo>
                  <a:pt x="2660675" y="546"/>
                </a:lnTo>
                <a:lnTo>
                  <a:pt x="2657932" y="0"/>
                </a:lnTo>
                <a:close/>
              </a:path>
            </a:pathLst>
          </a:custGeom>
          <a:solidFill>
            <a:srgbClr val="D8ECE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09600" y="2285142"/>
          <a:ext cx="10210800" cy="384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6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1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03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50" b="1" spc="4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KPI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50" b="1" spc="-1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Formula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90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50" b="1" spc="-1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Example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63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Revenue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5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Sales</a:t>
                      </a:r>
                      <a:r>
                        <a:rPr sz="1350" spc="-114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4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Price</a:t>
                      </a:r>
                      <a:r>
                        <a:rPr sz="1350" spc="-1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43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×</a:t>
                      </a:r>
                      <a:r>
                        <a:rPr sz="1350" spc="-1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Quantity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902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350" spc="85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=C2*D2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473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Profit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2827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350" spc="-8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Revenue</a:t>
                      </a:r>
                      <a:r>
                        <a:rPr sz="1350" spc="-12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409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−</a:t>
                      </a:r>
                      <a:r>
                        <a:rPr sz="1350" spc="-12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2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Cost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2827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90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=E2-</a:t>
                      </a:r>
                      <a:r>
                        <a:rPr sz="1350" spc="-25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F2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Discount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7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Original</a:t>
                      </a:r>
                      <a:r>
                        <a:rPr sz="1350" spc="-9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409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−</a:t>
                      </a:r>
                      <a:r>
                        <a:rPr sz="1350" spc="-9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6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Discounted</a:t>
                      </a:r>
                      <a:r>
                        <a:rPr sz="1350" spc="-9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2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Price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902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35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=G2-</a:t>
                      </a:r>
                      <a:r>
                        <a:rPr sz="1350" spc="-25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H2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473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6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Margin</a:t>
                      </a:r>
                      <a:r>
                        <a:rPr sz="1350" spc="-1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43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%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5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Profit</a:t>
                      </a:r>
                      <a:r>
                        <a:rPr sz="1350" spc="-12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37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÷</a:t>
                      </a:r>
                      <a:r>
                        <a:rPr sz="1350" spc="-12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Revenue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902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350" spc="-1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=I2/E2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473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9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Total</a:t>
                      </a:r>
                      <a:r>
                        <a:rPr sz="1350" spc="-1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Revenue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3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SUM</a:t>
                      </a:r>
                      <a:r>
                        <a:rPr sz="1350" spc="-114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3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sz="1350" spc="-12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8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Revenue</a:t>
                      </a:r>
                      <a:r>
                        <a:rPr sz="1350" spc="-114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column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902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350" spc="-1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=SUM(E2:E1000)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473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7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Category</a:t>
                      </a:r>
                      <a:r>
                        <a:rPr sz="1350" spc="-10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2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Total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7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SUMIF</a:t>
                      </a:r>
                      <a:r>
                        <a:rPr sz="1350" spc="-12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8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by</a:t>
                      </a:r>
                      <a:r>
                        <a:rPr sz="1350" spc="-114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Category</a:t>
                      </a:r>
                      <a:endParaRPr sz="1350" dirty="0">
                        <a:latin typeface="Verdana"/>
                        <a:cs typeface="Verdana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902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350" spc="-1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=SUMIF(B:B,"Grocery",E:E)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T="14732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350" spc="-5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Product</a:t>
                      </a:r>
                      <a:r>
                        <a:rPr sz="1350" spc="-9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Lookup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282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350" spc="-7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XLOOKUP</a:t>
                      </a:r>
                      <a:r>
                        <a:rPr sz="1350" spc="-95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/</a:t>
                      </a:r>
                      <a:r>
                        <a:rPr sz="1350" spc="-9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50" spc="-10" dirty="0">
                          <a:solidFill>
                            <a:srgbClr val="4B4A4A"/>
                          </a:solidFill>
                          <a:latin typeface="Verdana"/>
                          <a:cs typeface="Verdana"/>
                        </a:rPr>
                        <a:t>VLOOKUP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T="12827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890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350" spc="-10" dirty="0">
                          <a:solidFill>
                            <a:srgbClr val="4B4A4A"/>
                          </a:solidFill>
                          <a:latin typeface="Trebuchet MS"/>
                          <a:cs typeface="Trebuchet MS"/>
                        </a:rPr>
                        <a:t>=XLOOKUP(A2,Prod!A:A,Prod!C:C)</a:t>
                      </a:r>
                      <a:endParaRPr sz="1350" dirty="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20100"/>
          </a:xfrm>
          <a:custGeom>
            <a:avLst/>
            <a:gdLst/>
            <a:ahLst/>
            <a:cxnLst/>
            <a:rect l="l" t="t" r="r" b="b"/>
            <a:pathLst>
              <a:path w="11430000" h="8420100">
                <a:moveTo>
                  <a:pt x="11430000" y="0"/>
                </a:moveTo>
                <a:lnTo>
                  <a:pt x="0" y="0"/>
                </a:lnTo>
                <a:lnTo>
                  <a:pt x="0" y="8420100"/>
                </a:lnTo>
                <a:lnTo>
                  <a:pt x="11430000" y="8420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E5F9F2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841984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00075" y="476249"/>
            <a:ext cx="1809750" cy="314325"/>
          </a:xfrm>
          <a:custGeom>
            <a:avLst/>
            <a:gdLst/>
            <a:ahLst/>
            <a:cxnLst/>
            <a:rect l="l" t="t" r="r" b="b"/>
            <a:pathLst>
              <a:path w="1809750" h="314325">
                <a:moveTo>
                  <a:pt x="1713636" y="0"/>
                </a:moveTo>
                <a:lnTo>
                  <a:pt x="96113" y="0"/>
                </a:lnTo>
                <a:lnTo>
                  <a:pt x="89425" y="660"/>
                </a:lnTo>
                <a:lnTo>
                  <a:pt x="51335" y="13589"/>
                </a:lnTo>
                <a:lnTo>
                  <a:pt x="21088" y="40093"/>
                </a:lnTo>
                <a:lnTo>
                  <a:pt x="3294" y="76174"/>
                </a:lnTo>
                <a:lnTo>
                  <a:pt x="0" y="96113"/>
                </a:lnTo>
                <a:lnTo>
                  <a:pt x="0" y="211455"/>
                </a:lnTo>
                <a:lnTo>
                  <a:pt x="0" y="218211"/>
                </a:lnTo>
                <a:lnTo>
                  <a:pt x="10412" y="257060"/>
                </a:lnTo>
                <a:lnTo>
                  <a:pt x="34904" y="288975"/>
                </a:lnTo>
                <a:lnTo>
                  <a:pt x="69745" y="309079"/>
                </a:lnTo>
                <a:lnTo>
                  <a:pt x="96113" y="314325"/>
                </a:lnTo>
                <a:lnTo>
                  <a:pt x="1713636" y="314325"/>
                </a:lnTo>
                <a:lnTo>
                  <a:pt x="1752485" y="303911"/>
                </a:lnTo>
                <a:lnTo>
                  <a:pt x="1784400" y="279412"/>
                </a:lnTo>
                <a:lnTo>
                  <a:pt x="1804504" y="244576"/>
                </a:lnTo>
                <a:lnTo>
                  <a:pt x="1809750" y="218211"/>
                </a:lnTo>
                <a:lnTo>
                  <a:pt x="1809750" y="96113"/>
                </a:lnTo>
                <a:lnTo>
                  <a:pt x="1799336" y="57264"/>
                </a:lnTo>
                <a:lnTo>
                  <a:pt x="1774850" y="25349"/>
                </a:lnTo>
                <a:lnTo>
                  <a:pt x="1740001" y="5245"/>
                </a:lnTo>
                <a:lnTo>
                  <a:pt x="1720329" y="660"/>
                </a:lnTo>
                <a:lnTo>
                  <a:pt x="1713636" y="0"/>
                </a:lnTo>
                <a:close/>
              </a:path>
            </a:pathLst>
          </a:custGeom>
          <a:solidFill>
            <a:srgbClr val="CCF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0215" y="526415"/>
            <a:ext cx="162496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50" dirty="0">
                <a:solidFill>
                  <a:srgbClr val="4B4A4A"/>
                </a:solidFill>
                <a:latin typeface="Verdana"/>
                <a:cs typeface="Verdana"/>
              </a:rPr>
              <a:t>SPRINT</a:t>
            </a:r>
            <a:r>
              <a:rPr sz="10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B4A4A"/>
                </a:solidFill>
                <a:latin typeface="Verdana"/>
                <a:cs typeface="Verdana"/>
              </a:rPr>
              <a:t>2</a:t>
            </a:r>
            <a:r>
              <a:rPr sz="1050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050" spc="-30" dirty="0">
                <a:solidFill>
                  <a:srgbClr val="4B4A4A"/>
                </a:solidFill>
                <a:latin typeface="Verdana"/>
                <a:cs typeface="Verdana"/>
              </a:rPr>
              <a:t>DELIVERABLES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85" dirty="0"/>
              <a:t>What</a:t>
            </a:r>
            <a:r>
              <a:rPr spc="-280" dirty="0"/>
              <a:t> </a:t>
            </a:r>
            <a:r>
              <a:rPr spc="-225" dirty="0"/>
              <a:t>to</a:t>
            </a:r>
            <a:r>
              <a:rPr spc="-275" dirty="0"/>
              <a:t> </a:t>
            </a:r>
            <a:r>
              <a:rPr spc="-170" dirty="0"/>
              <a:t>Submit</a:t>
            </a:r>
            <a:r>
              <a:rPr spc="-280" dirty="0"/>
              <a:t> </a:t>
            </a:r>
            <a:r>
              <a:rPr spc="-225" dirty="0"/>
              <a:t>to</a:t>
            </a:r>
            <a:r>
              <a:rPr spc="-275" dirty="0"/>
              <a:t> </a:t>
            </a:r>
            <a:r>
              <a:rPr spc="-185" dirty="0"/>
              <a:t>Rajesh</a:t>
            </a:r>
          </a:p>
        </p:txBody>
      </p:sp>
      <p:sp>
        <p:nvSpPr>
          <p:cNvPr id="7" name="object 7"/>
          <p:cNvSpPr/>
          <p:nvPr/>
        </p:nvSpPr>
        <p:spPr>
          <a:xfrm>
            <a:off x="600075" y="1933574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006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0075" y="3543300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006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0075" y="5162550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006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0075" y="6772275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006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7375" y="1654175"/>
            <a:ext cx="5950585" cy="612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95" dirty="0">
                <a:solidFill>
                  <a:srgbClr val="4B4A4A"/>
                </a:solidFill>
                <a:latin typeface="Trebuchet MS"/>
                <a:cs typeface="Trebuchet MS"/>
              </a:rPr>
              <a:t>0!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50" b="1" spc="-80" dirty="0">
                <a:solidFill>
                  <a:srgbClr val="4B4A4A"/>
                </a:solidFill>
                <a:latin typeface="Verdana"/>
                <a:cs typeface="Verdana"/>
              </a:rPr>
              <a:t>Updated</a:t>
            </a:r>
            <a:r>
              <a:rPr sz="1650" b="1" spc="-114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70" dirty="0">
                <a:solidFill>
                  <a:srgbClr val="4B4A4A"/>
                </a:solidFill>
                <a:latin typeface="Verdana"/>
                <a:cs typeface="Verdana"/>
              </a:rPr>
              <a:t>Excel</a:t>
            </a:r>
            <a:r>
              <a:rPr sz="1650" b="1" spc="-114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Workbook</a:t>
            </a:r>
            <a:endParaRPr sz="1650">
              <a:latin typeface="Verdana"/>
              <a:cs typeface="Verdana"/>
            </a:endParaRPr>
          </a:p>
          <a:p>
            <a:pPr marL="12700" marR="668020">
              <a:lnSpc>
                <a:spcPct val="134300"/>
              </a:lnSpc>
              <a:spcBef>
                <a:spcPts val="315"/>
              </a:spcBef>
            </a:pPr>
            <a:r>
              <a:rPr sz="1350" spc="-40" dirty="0">
                <a:solidFill>
                  <a:srgbClr val="4B4A4A"/>
                </a:solidFill>
                <a:latin typeface="Verdana"/>
                <a:cs typeface="Verdana"/>
              </a:rPr>
              <a:t>All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formulas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applied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35" dirty="0">
                <a:solidFill>
                  <a:srgbClr val="4B4A4A"/>
                </a:solidFill>
                <a:latin typeface="Verdana"/>
                <a:cs typeface="Verdana"/>
              </a:rPr>
              <a:t>—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Revenue,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Profit,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Discount,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Margin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80" dirty="0">
                <a:solidFill>
                  <a:srgbClr val="4B4A4A"/>
                </a:solidFill>
                <a:latin typeface="Verdana"/>
                <a:cs typeface="Verdana"/>
              </a:rPr>
              <a:t>%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>columns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populated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for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every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order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>row.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50" spc="-25" dirty="0">
                <a:solidFill>
                  <a:srgbClr val="4B4A4A"/>
                </a:solidFill>
                <a:latin typeface="Trebuchet MS"/>
                <a:cs typeface="Trebuchet MS"/>
              </a:rPr>
              <a:t>02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50" b="1" spc="-100" dirty="0">
                <a:solidFill>
                  <a:srgbClr val="4B4A4A"/>
                </a:solidFill>
                <a:latin typeface="Verdana"/>
                <a:cs typeface="Verdana"/>
              </a:rPr>
              <a:t>KPI</a:t>
            </a:r>
            <a:r>
              <a:rPr sz="1650" b="1" spc="-114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80" dirty="0">
                <a:solidFill>
                  <a:srgbClr val="4B4A4A"/>
                </a:solidFill>
                <a:latin typeface="Verdana"/>
                <a:cs typeface="Verdana"/>
              </a:rPr>
              <a:t>Summary</a:t>
            </a:r>
            <a:r>
              <a:rPr sz="1650" b="1" spc="-114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10" dirty="0">
                <a:solidFill>
                  <a:srgbClr val="4B4A4A"/>
                </a:solidFill>
                <a:latin typeface="Verdana"/>
                <a:cs typeface="Verdana"/>
              </a:rPr>
              <a:t>Sheet</a:t>
            </a:r>
            <a:endParaRPr sz="1650">
              <a:latin typeface="Verdana"/>
              <a:cs typeface="Verdana"/>
            </a:endParaRPr>
          </a:p>
          <a:p>
            <a:pPr marL="12700" marR="146685">
              <a:lnSpc>
                <a:spcPct val="134300"/>
              </a:lnSpc>
              <a:spcBef>
                <a:spcPts val="390"/>
              </a:spcBef>
            </a:pPr>
            <a:r>
              <a:rPr sz="1350" spc="-35" dirty="0">
                <a:solidFill>
                  <a:srgbClr val="4B4A4A"/>
                </a:solidFill>
                <a:latin typeface="Verdana"/>
                <a:cs typeface="Verdana"/>
              </a:rPr>
              <a:t>A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dedicated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tab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with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total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Revenue,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Profit,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Margin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305" dirty="0">
                <a:solidFill>
                  <a:srgbClr val="4B4A4A"/>
                </a:solidFill>
                <a:latin typeface="Verdana"/>
                <a:cs typeface="Verdana"/>
              </a:rPr>
              <a:t>%,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Discount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Impact,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and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Quantity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4B4A4A"/>
                </a:solidFill>
                <a:latin typeface="Verdana"/>
                <a:cs typeface="Verdana"/>
              </a:rPr>
              <a:t>Sold.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50" spc="-25" dirty="0">
                <a:solidFill>
                  <a:srgbClr val="4B4A4A"/>
                </a:solidFill>
                <a:latin typeface="Trebuchet MS"/>
                <a:cs typeface="Trebuchet MS"/>
              </a:rPr>
              <a:t>03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spc="-95" dirty="0">
                <a:solidFill>
                  <a:srgbClr val="4B4A4A"/>
                </a:solidFill>
                <a:latin typeface="Verdana"/>
                <a:cs typeface="Verdana"/>
              </a:rPr>
              <a:t>Category</a:t>
            </a:r>
            <a:r>
              <a:rPr sz="1650" b="1" spc="-80" dirty="0">
                <a:solidFill>
                  <a:srgbClr val="4B4A4A"/>
                </a:solidFill>
                <a:latin typeface="Verdana"/>
                <a:cs typeface="Verdana"/>
              </a:rPr>
              <a:t> Performance</a:t>
            </a:r>
            <a:r>
              <a:rPr sz="1650" b="1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20" dirty="0">
                <a:solidFill>
                  <a:srgbClr val="4B4A4A"/>
                </a:solidFill>
                <a:latin typeface="Verdana"/>
                <a:cs typeface="Verdana"/>
              </a:rPr>
              <a:t>View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465"/>
              </a:spcBef>
            </a:pP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Pivot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Table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or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summary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showing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revenue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breakdown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by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product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category</a:t>
            </a:r>
            <a:r>
              <a:rPr sz="1350" spc="-10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—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sorted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4B4A4A"/>
                </a:solidFill>
                <a:latin typeface="Verdana"/>
                <a:cs typeface="Verdana"/>
              </a:rPr>
              <a:t>by</a:t>
            </a:r>
            <a:r>
              <a:rPr sz="1350" spc="-11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4B4A4A"/>
                </a:solidFill>
                <a:latin typeface="Verdana"/>
                <a:cs typeface="Verdana"/>
              </a:rPr>
              <a:t>top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performer.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spc="-25" dirty="0">
                <a:solidFill>
                  <a:srgbClr val="4B4A4A"/>
                </a:solidFill>
                <a:latin typeface="Trebuchet MS"/>
                <a:cs typeface="Trebuchet MS"/>
              </a:rPr>
              <a:t>0h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650" b="1" spc="-65" dirty="0">
                <a:solidFill>
                  <a:srgbClr val="4B4A4A"/>
                </a:solidFill>
                <a:latin typeface="Verdana"/>
                <a:cs typeface="Verdana"/>
              </a:rPr>
              <a:t>Validation</a:t>
            </a:r>
            <a:r>
              <a:rPr sz="1650" b="1" spc="-7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650" b="1" spc="-20" dirty="0">
                <a:solidFill>
                  <a:srgbClr val="4B4A4A"/>
                </a:solidFill>
                <a:latin typeface="Verdana"/>
                <a:cs typeface="Verdana"/>
              </a:rPr>
              <a:t>Check</a:t>
            </a:r>
            <a:endParaRPr sz="1650">
              <a:latin typeface="Verdana"/>
              <a:cs typeface="Verdana"/>
            </a:endParaRPr>
          </a:p>
          <a:p>
            <a:pPr marL="12700" marR="122555">
              <a:lnSpc>
                <a:spcPct val="134300"/>
              </a:lnSpc>
              <a:spcBef>
                <a:spcPts val="385"/>
              </a:spcBef>
            </a:pPr>
            <a:r>
              <a:rPr sz="1350" spc="-50" dirty="0">
                <a:solidFill>
                  <a:srgbClr val="4B4A4A"/>
                </a:solidFill>
                <a:latin typeface="Verdana"/>
                <a:cs typeface="Verdana"/>
              </a:rPr>
              <a:t>Use</a:t>
            </a:r>
            <a:r>
              <a:rPr sz="1350" spc="-10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XLOOKUP/VLOOKUP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4B4A4A"/>
                </a:solidFill>
                <a:latin typeface="Verdana"/>
                <a:cs typeface="Verdana"/>
              </a:rPr>
              <a:t>to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confirm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4B4A4A"/>
                </a:solidFill>
                <a:latin typeface="Verdana"/>
                <a:cs typeface="Verdana"/>
              </a:rPr>
              <a:t>product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4B4A4A"/>
                </a:solidFill>
                <a:latin typeface="Verdana"/>
                <a:cs typeface="Verdana"/>
              </a:rPr>
              <a:t>IDs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and</a:t>
            </a:r>
            <a:r>
              <a:rPr sz="1350" spc="-95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4B4A4A"/>
                </a:solidFill>
                <a:latin typeface="Verdana"/>
                <a:cs typeface="Verdana"/>
              </a:rPr>
              <a:t>categories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match</a:t>
            </a:r>
            <a:r>
              <a:rPr sz="1350" spc="-90" dirty="0">
                <a:solidFill>
                  <a:srgbClr val="4B4A4A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4B4A4A"/>
                </a:solidFill>
                <a:latin typeface="Verdana"/>
                <a:cs typeface="Verdana"/>
              </a:rPr>
              <a:t>the </a:t>
            </a:r>
            <a:r>
              <a:rPr sz="1350" spc="-80" dirty="0">
                <a:solidFill>
                  <a:srgbClr val="4B4A4A"/>
                </a:solidFill>
                <a:latin typeface="Verdana"/>
                <a:cs typeface="Verdana"/>
              </a:rPr>
              <a:t>master </a:t>
            </a:r>
            <a:r>
              <a:rPr sz="1350" spc="-75" dirty="0">
                <a:solidFill>
                  <a:srgbClr val="4B4A4A"/>
                </a:solidFill>
                <a:latin typeface="Verdana"/>
                <a:cs typeface="Verdana"/>
              </a:rPr>
              <a:t>reference </a:t>
            </a:r>
            <a:r>
              <a:rPr sz="1350" spc="-10" dirty="0">
                <a:solidFill>
                  <a:srgbClr val="4B4A4A"/>
                </a:solidFill>
                <a:latin typeface="Verdana"/>
                <a:cs typeface="Verdana"/>
              </a:rPr>
              <a:t>table.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774</Words>
  <Application>Microsoft Office PowerPoint</Application>
  <PresentationFormat>Custom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Cambria</vt:lpstr>
      <vt:lpstr>Lucida Sans Unicode</vt:lpstr>
      <vt:lpstr>Times New Roman</vt:lpstr>
      <vt:lpstr>Trebuchet MS</vt:lpstr>
      <vt:lpstr>Verdana</vt:lpstr>
      <vt:lpstr>Office Theme</vt:lpstr>
      <vt:lpstr>DMART SALES   ANALYTICS </vt:lpstr>
      <vt:lpstr>What We're Building in Sprint 2</vt:lpstr>
      <vt:lpstr>7 Business Requirements (BRD)</vt:lpstr>
      <vt:lpstr>Revenue &amp; Profit Calculations</vt:lpstr>
      <vt:lpstr>Discount &amp; Profit Margin</vt:lpstr>
      <vt:lpstr>Summarising &amp; Validating Data</vt:lpstr>
      <vt:lpstr>Total Sales Summary &amp; Category Performance</vt:lpstr>
      <vt:lpstr>PowerPoint Presentation</vt:lpstr>
      <vt:lpstr>Formula Cheat Sheet</vt:lpstr>
      <vt:lpstr>What to Submit to Rajesh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Chaitali Badhe</cp:lastModifiedBy>
  <cp:revision>4</cp:revision>
  <dcterms:created xsi:type="dcterms:W3CDTF">2026-06-13T15:11:18Z</dcterms:created>
  <dcterms:modified xsi:type="dcterms:W3CDTF">2026-06-16T03:31:45Z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2026-06-13T00:00:00Z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2026-06-13T00:00:00Z</vt:filetime>
  </property>
  <property fmtid="{D5CDD505-2E9C-101B-9397-08002B2CF9AE}" pid="6" name="Producer">
    <vt:lpwstr>pdf-lib (https://github.com/Hopding/pdf-lib)</vt:lpwstr>
  </property>
</Properties>
</file>